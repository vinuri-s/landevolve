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snapToObjects="1">
      <p:cViewPr varScale="1">
        <p:scale>
          <a:sx n="120" d="100"/>
          <a:sy n="120" d="100"/>
        </p:scale>
        <p:origin x="800"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6/23/26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6/23/26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6/23/26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6/23/26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6/23/26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2C4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5212080"/>
            <a:ext cx="13258800" cy="457200"/>
          </a:xfrm>
          <a:prstGeom prst="rect">
            <a:avLst/>
          </a:prstGeom>
          <a:solidFill>
            <a:srgbClr val="2036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57200" y="5577840"/>
            <a:ext cx="13258800" cy="457200"/>
          </a:xfrm>
          <a:prstGeom prst="rect">
            <a:avLst/>
          </a:prstGeom>
          <a:solidFill>
            <a:srgbClr val="6B8E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57200" y="5989320"/>
            <a:ext cx="13258800" cy="914400"/>
          </a:xfrm>
          <a:prstGeom prst="rect">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1097280"/>
            <a:ext cx="10515600" cy="457200"/>
          </a:xfrm>
          <a:prstGeom prst="rect">
            <a:avLst/>
          </a:prstGeom>
          <a:noFill/>
        </p:spPr>
        <p:txBody>
          <a:bodyPr wrap="square" lIns="0" tIns="0" rIns="0" bIns="0" anchor="t">
            <a:spAutoFit/>
          </a:bodyPr>
          <a:lstStyle/>
          <a:p>
            <a:pPr algn="l">
              <a:spcBef>
                <a:spcPts val="0"/>
              </a:spcBef>
              <a:spcAft>
                <a:spcPts val="500"/>
              </a:spcAft>
            </a:pPr>
            <a:r>
              <a:rPr sz="1600" b="1" i="0">
                <a:solidFill>
                  <a:srgbClr val="9CC486"/>
                </a:solidFill>
                <a:latin typeface="Calibri"/>
              </a:rPr>
              <a:t>COMPONENT REFERENCE MANUAL</a:t>
            </a:r>
          </a:p>
        </p:txBody>
      </p:sp>
      <p:sp>
        <p:nvSpPr>
          <p:cNvPr id="7" name="TextBox 6"/>
          <p:cNvSpPr txBox="1"/>
          <p:nvPr/>
        </p:nvSpPr>
        <p:spPr>
          <a:xfrm>
            <a:off x="777240" y="1627632"/>
            <a:ext cx="10607040" cy="1097280"/>
          </a:xfrm>
          <a:prstGeom prst="rect">
            <a:avLst/>
          </a:prstGeom>
          <a:noFill/>
        </p:spPr>
        <p:txBody>
          <a:bodyPr wrap="square" lIns="0" tIns="0" rIns="0" bIns="0" anchor="t">
            <a:spAutoFit/>
          </a:bodyPr>
          <a:lstStyle/>
          <a:p>
            <a:pPr algn="l">
              <a:spcBef>
                <a:spcPts val="0"/>
              </a:spcBef>
              <a:spcAft>
                <a:spcPts val="500"/>
              </a:spcAft>
            </a:pPr>
            <a:r>
              <a:rPr sz="5000" b="1" i="0">
                <a:solidFill>
                  <a:srgbClr val="FFFFFF"/>
                </a:solidFill>
                <a:latin typeface="Calibri"/>
              </a:rPr>
              <a:t>The Physics Inside
LandEvolve</a:t>
            </a:r>
          </a:p>
        </p:txBody>
      </p:sp>
      <p:sp>
        <p:nvSpPr>
          <p:cNvPr id="8" name="TextBox 7"/>
          <p:cNvSpPr txBox="1"/>
          <p:nvPr/>
        </p:nvSpPr>
        <p:spPr>
          <a:xfrm>
            <a:off x="822960" y="3383280"/>
            <a:ext cx="10424160" cy="822960"/>
          </a:xfrm>
          <a:prstGeom prst="rect">
            <a:avLst/>
          </a:prstGeom>
          <a:noFill/>
        </p:spPr>
        <p:txBody>
          <a:bodyPr wrap="square" lIns="0" tIns="0" rIns="0" bIns="0" anchor="t">
            <a:spAutoFit/>
          </a:bodyPr>
          <a:lstStyle/>
          <a:p>
            <a:pPr algn="l">
              <a:spcBef>
                <a:spcPts val="0"/>
              </a:spcBef>
              <a:spcAft>
                <a:spcPts val="500"/>
              </a:spcAft>
            </a:pPr>
            <a:r>
              <a:rPr sz="1800" b="0" i="0">
                <a:solidFill>
                  <a:srgbClr val="E7E3D7"/>
                </a:solidFill>
                <a:latin typeface="Calibri"/>
              </a:rPr>
              <a:t>Built mainly on the Landlab scientific library — with three custom
components added where Landlab's ready-made pieces don't fit.</a:t>
            </a:r>
          </a:p>
        </p:txBody>
      </p:sp>
      <p:sp>
        <p:nvSpPr>
          <p:cNvPr id="9" name="Rounded Rectangle 8"/>
          <p:cNvSpPr/>
          <p:nvPr/>
        </p:nvSpPr>
        <p:spPr>
          <a:xfrm>
            <a:off x="822960" y="4480560"/>
            <a:ext cx="2788920" cy="457200"/>
          </a:xfrm>
          <a:prstGeom prst="roundRect">
            <a:avLst>
              <a:gd name="adj" fmla="val 50000"/>
            </a:avLst>
          </a:prstGeom>
          <a:solidFill>
            <a:srgbClr val="6B8E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2960" y="4498848"/>
            <a:ext cx="2788920" cy="420624"/>
          </a:xfrm>
          <a:prstGeom prst="rect">
            <a:avLst/>
          </a:prstGeom>
          <a:noFill/>
        </p:spPr>
        <p:txBody>
          <a:bodyPr wrap="square" lIns="0" tIns="0" rIns="0" bIns="0" anchor="ctr">
            <a:spAutoFit/>
          </a:bodyPr>
          <a:lstStyle/>
          <a:p>
            <a:pPr algn="ctr">
              <a:spcBef>
                <a:spcPts val="0"/>
              </a:spcBef>
              <a:spcAft>
                <a:spcPts val="500"/>
              </a:spcAft>
            </a:pPr>
            <a:r>
              <a:rPr sz="1200" b="1" i="0">
                <a:solidFill>
                  <a:srgbClr val="FFFFFF"/>
                </a:solidFill>
                <a:latin typeface="Calibri"/>
              </a:rPr>
              <a:t>● 4 LANDLAB WRAPPERS</a:t>
            </a:r>
          </a:p>
        </p:txBody>
      </p:sp>
      <p:sp>
        <p:nvSpPr>
          <p:cNvPr id="11" name="Rounded Rectangle 10"/>
          <p:cNvSpPr/>
          <p:nvPr/>
        </p:nvSpPr>
        <p:spPr>
          <a:xfrm>
            <a:off x="3794760" y="4480560"/>
            <a:ext cx="2788920" cy="457200"/>
          </a:xfrm>
          <a:prstGeom prst="roundRect">
            <a:avLst>
              <a:gd name="adj" fmla="val 50000"/>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794760" y="4498848"/>
            <a:ext cx="2788920" cy="420624"/>
          </a:xfrm>
          <a:prstGeom prst="rect">
            <a:avLst/>
          </a:prstGeom>
          <a:noFill/>
        </p:spPr>
        <p:txBody>
          <a:bodyPr wrap="square" lIns="0" tIns="0" rIns="0" bIns="0" anchor="ctr">
            <a:spAutoFit/>
          </a:bodyPr>
          <a:lstStyle/>
          <a:p>
            <a:pPr algn="ctr">
              <a:spcBef>
                <a:spcPts val="0"/>
              </a:spcBef>
              <a:spcAft>
                <a:spcPts val="500"/>
              </a:spcAft>
            </a:pPr>
            <a:r>
              <a:rPr sz="1200" b="1" i="0">
                <a:solidFill>
                  <a:srgbClr val="FFFFFF"/>
                </a:solidFill>
                <a:latin typeface="Calibri"/>
              </a:rPr>
              <a:t>● 3 CUSTOM COMPONENTS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2E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8229600" cy="365760"/>
          </a:xfrm>
          <a:prstGeom prst="rect">
            <a:avLst/>
          </a:prstGeom>
          <a:noFill/>
        </p:spPr>
        <p:txBody>
          <a:bodyPr wrap="square" lIns="0" tIns="0" rIns="0" bIns="0" anchor="t">
            <a:spAutoFit/>
          </a:bodyPr>
          <a:lstStyle/>
          <a:p>
            <a:pPr algn="l">
              <a:spcBef>
                <a:spcPts val="0"/>
              </a:spcBef>
              <a:spcAft>
                <a:spcPts val="500"/>
              </a:spcAft>
            </a:pPr>
            <a:r>
              <a:rPr sz="1250" b="1" i="0">
                <a:solidFill>
                  <a:srgbClr val="B85042"/>
                </a:solidFill>
                <a:latin typeface="Calibri"/>
              </a:rPr>
              <a:t>THE FOUNDATION</a:t>
            </a:r>
          </a:p>
        </p:txBody>
      </p:sp>
      <p:sp>
        <p:nvSpPr>
          <p:cNvPr id="4" name="TextBox 3"/>
          <p:cNvSpPr txBox="1"/>
          <p:nvPr/>
        </p:nvSpPr>
        <p:spPr>
          <a:xfrm>
            <a:off x="640080" y="676656"/>
            <a:ext cx="8595360" cy="777240"/>
          </a:xfrm>
          <a:prstGeom prst="rect">
            <a:avLst/>
          </a:prstGeom>
          <a:noFill/>
        </p:spPr>
        <p:txBody>
          <a:bodyPr wrap="square" lIns="0" tIns="0" rIns="0" bIns="0" anchor="t">
            <a:spAutoFit/>
          </a:bodyPr>
          <a:lstStyle/>
          <a:p>
            <a:pPr algn="l">
              <a:spcBef>
                <a:spcPts val="0"/>
              </a:spcBef>
              <a:spcAft>
                <a:spcPts val="500"/>
              </a:spcAft>
            </a:pPr>
            <a:r>
              <a:rPr sz="3100" b="1" i="0">
                <a:solidFill>
                  <a:srgbClr val="2C4A3E"/>
                </a:solidFill>
                <a:latin typeface="Calibri"/>
              </a:rPr>
              <a:t>Mostly Landlab, Lightly Customised</a:t>
            </a:r>
          </a:p>
        </p:txBody>
      </p:sp>
      <p:sp>
        <p:nvSpPr>
          <p:cNvPr id="5" name="TextBox 4"/>
          <p:cNvSpPr txBox="1"/>
          <p:nvPr/>
        </p:nvSpPr>
        <p:spPr>
          <a:xfrm>
            <a:off x="640080" y="1417320"/>
            <a:ext cx="10881360" cy="868680"/>
          </a:xfrm>
          <a:prstGeom prst="rect">
            <a:avLst/>
          </a:prstGeom>
          <a:noFill/>
        </p:spPr>
        <p:txBody>
          <a:bodyPr wrap="square" lIns="0" tIns="0" rIns="0" bIns="0" anchor="t">
            <a:spAutoFit/>
          </a:bodyPr>
          <a:lstStyle/>
          <a:p>
            <a:pPr algn="l">
              <a:spcBef>
                <a:spcPts val="0"/>
              </a:spcBef>
              <a:spcAft>
                <a:spcPts val="600"/>
              </a:spcAft>
            </a:pPr>
            <a:r>
              <a:rPr sz="1400" b="0" i="0">
                <a:solidFill>
                  <a:srgbClr val="2B2B2B"/>
                </a:solidFill>
                <a:latin typeface="Calibri"/>
              </a:rPr>
              <a:t>LandEvolve doesn't reinvent the science. The heavy geomorphology runs on Landlab — a peer-reviewed landscape-modelling library (Hobley et al. 2017; Barnhart et al. 2020). The app simply wraps each Landlab process in a thin, app-friendly component.</a:t>
            </a:r>
          </a:p>
          <a:p>
            <a:pPr algn="l">
              <a:spcBef>
                <a:spcPts val="0"/>
              </a:spcBef>
              <a:spcAft>
                <a:spcPts val="600"/>
              </a:spcAft>
            </a:pPr>
            <a:r>
              <a:rPr sz="1400" b="0" i="0">
                <a:solidFill>
                  <a:srgbClr val="2B2B2B"/>
                </a:solidFill>
                <a:latin typeface="Calibri"/>
              </a:rPr>
              <a:t>For three jobs Landlab does ship components — but they don't fit how LandEvolve works, so they were written as custom logic. Each slide names the Landlab component and the reason. (Full citations on the References slide.)</a:t>
            </a:r>
          </a:p>
        </p:txBody>
      </p:sp>
      <p:sp>
        <p:nvSpPr>
          <p:cNvPr id="6" name="Rounded Rectangle 5"/>
          <p:cNvSpPr/>
          <p:nvPr/>
        </p:nvSpPr>
        <p:spPr>
          <a:xfrm>
            <a:off x="640080" y="2834640"/>
            <a:ext cx="5440680" cy="3291840"/>
          </a:xfrm>
          <a:prstGeom prst="roundRect">
            <a:avLst>
              <a:gd name="adj" fmla="val 9000"/>
            </a:avLst>
          </a:prstGeom>
          <a:solidFill>
            <a:srgbClr val="FBF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3035808"/>
            <a:ext cx="4937760" cy="365760"/>
          </a:xfrm>
          <a:prstGeom prst="rect">
            <a:avLst/>
          </a:prstGeom>
          <a:noFill/>
        </p:spPr>
        <p:txBody>
          <a:bodyPr wrap="square" lIns="0" tIns="0" rIns="0" bIns="0" anchor="t">
            <a:spAutoFit/>
          </a:bodyPr>
          <a:lstStyle/>
          <a:p>
            <a:pPr algn="l">
              <a:spcBef>
                <a:spcPts val="0"/>
              </a:spcBef>
              <a:spcAft>
                <a:spcPts val="500"/>
              </a:spcAft>
            </a:pPr>
            <a:r>
              <a:rPr sz="1300" b="1" i="0">
                <a:solidFill>
                  <a:srgbClr val="6B8E5A"/>
                </a:solidFill>
                <a:latin typeface="Calibri"/>
              </a:rPr>
              <a:t>WRAPS A LANDLAB PROCESS</a:t>
            </a:r>
          </a:p>
        </p:txBody>
      </p:sp>
      <p:sp>
        <p:nvSpPr>
          <p:cNvPr id="8" name="Oval 7"/>
          <p:cNvSpPr/>
          <p:nvPr/>
        </p:nvSpPr>
        <p:spPr>
          <a:xfrm>
            <a:off x="914400" y="3520440"/>
            <a:ext cx="384048" cy="384048"/>
          </a:xfrm>
          <a:prstGeom prst="ellipse">
            <a:avLst/>
          </a:prstGeom>
          <a:solidFill>
            <a:srgbClr val="6B8E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4400" y="3520440"/>
            <a:ext cx="384048" cy="384048"/>
          </a:xfrm>
          <a:prstGeom prst="rect">
            <a:avLst/>
          </a:prstGeom>
          <a:noFill/>
        </p:spPr>
        <p:txBody>
          <a:bodyPr wrap="square" lIns="0" tIns="0" rIns="0" bIns="0" anchor="ctr">
            <a:spAutoFit/>
          </a:bodyPr>
          <a:lstStyle/>
          <a:p>
            <a:pPr algn="ctr">
              <a:spcBef>
                <a:spcPts val="0"/>
              </a:spcBef>
              <a:spcAft>
                <a:spcPts val="500"/>
              </a:spcAft>
            </a:pPr>
            <a:r>
              <a:rPr sz="1500" b="1" i="0">
                <a:solidFill>
                  <a:srgbClr val="FFFFFF"/>
                </a:solidFill>
                <a:latin typeface="Calibri"/>
              </a:rPr>
              <a:t>✓</a:t>
            </a:r>
          </a:p>
        </p:txBody>
      </p:sp>
      <p:sp>
        <p:nvSpPr>
          <p:cNvPr id="10" name="TextBox 9"/>
          <p:cNvSpPr txBox="1"/>
          <p:nvPr/>
        </p:nvSpPr>
        <p:spPr>
          <a:xfrm>
            <a:off x="1463040" y="3502152"/>
            <a:ext cx="4480560" cy="365760"/>
          </a:xfrm>
          <a:prstGeom prst="rect">
            <a:avLst/>
          </a:prstGeom>
          <a:noFill/>
        </p:spPr>
        <p:txBody>
          <a:bodyPr wrap="square" lIns="0" tIns="0" rIns="0" bIns="0" anchor="t">
            <a:spAutoFit/>
          </a:bodyPr>
          <a:lstStyle/>
          <a:p>
            <a:pPr algn="l">
              <a:spcBef>
                <a:spcPts val="0"/>
              </a:spcBef>
              <a:spcAft>
                <a:spcPts val="500"/>
              </a:spcAft>
            </a:pPr>
            <a:r>
              <a:rPr sz="1500" b="1" i="0">
                <a:solidFill>
                  <a:srgbClr val="2C4A3E"/>
                </a:solidFill>
                <a:latin typeface="Calibri"/>
              </a:rPr>
              <a:t>Flow Accumulator</a:t>
            </a:r>
          </a:p>
        </p:txBody>
      </p:sp>
      <p:sp>
        <p:nvSpPr>
          <p:cNvPr id="11" name="TextBox 10"/>
          <p:cNvSpPr txBox="1"/>
          <p:nvPr/>
        </p:nvSpPr>
        <p:spPr>
          <a:xfrm>
            <a:off x="1463040" y="3813048"/>
            <a:ext cx="4480560" cy="320040"/>
          </a:xfrm>
          <a:prstGeom prst="rect">
            <a:avLst/>
          </a:prstGeom>
          <a:noFill/>
        </p:spPr>
        <p:txBody>
          <a:bodyPr wrap="square" lIns="0" tIns="0" rIns="0" bIns="0" anchor="t">
            <a:spAutoFit/>
          </a:bodyPr>
          <a:lstStyle/>
          <a:p>
            <a:pPr algn="l">
              <a:spcBef>
                <a:spcPts val="0"/>
              </a:spcBef>
              <a:spcAft>
                <a:spcPts val="500"/>
              </a:spcAft>
            </a:pPr>
            <a:r>
              <a:rPr sz="1200" b="0" i="0">
                <a:solidFill>
                  <a:srgbClr val="6E6A60"/>
                </a:solidFill>
                <a:latin typeface="Calibri"/>
              </a:rPr>
              <a:t>routes water, finds the rivers</a:t>
            </a:r>
          </a:p>
        </p:txBody>
      </p:sp>
      <p:sp>
        <p:nvSpPr>
          <p:cNvPr id="12" name="Oval 11"/>
          <p:cNvSpPr/>
          <p:nvPr/>
        </p:nvSpPr>
        <p:spPr>
          <a:xfrm>
            <a:off x="914400" y="4142232"/>
            <a:ext cx="384048" cy="384048"/>
          </a:xfrm>
          <a:prstGeom prst="ellipse">
            <a:avLst/>
          </a:prstGeom>
          <a:solidFill>
            <a:srgbClr val="6B8E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14400" y="4142232"/>
            <a:ext cx="384048" cy="384048"/>
          </a:xfrm>
          <a:prstGeom prst="rect">
            <a:avLst/>
          </a:prstGeom>
          <a:noFill/>
        </p:spPr>
        <p:txBody>
          <a:bodyPr wrap="square" lIns="0" tIns="0" rIns="0" bIns="0" anchor="ctr">
            <a:spAutoFit/>
          </a:bodyPr>
          <a:lstStyle/>
          <a:p>
            <a:pPr algn="ctr">
              <a:spcBef>
                <a:spcPts val="0"/>
              </a:spcBef>
              <a:spcAft>
                <a:spcPts val="500"/>
              </a:spcAft>
            </a:pPr>
            <a:r>
              <a:rPr sz="1500" b="1" i="0">
                <a:solidFill>
                  <a:srgbClr val="FFFFFF"/>
                </a:solidFill>
                <a:latin typeface="Calibri"/>
              </a:rPr>
              <a:t>✓</a:t>
            </a:r>
          </a:p>
        </p:txBody>
      </p:sp>
      <p:sp>
        <p:nvSpPr>
          <p:cNvPr id="14" name="TextBox 13"/>
          <p:cNvSpPr txBox="1"/>
          <p:nvPr/>
        </p:nvSpPr>
        <p:spPr>
          <a:xfrm>
            <a:off x="1463040" y="4123944"/>
            <a:ext cx="4480560" cy="365760"/>
          </a:xfrm>
          <a:prstGeom prst="rect">
            <a:avLst/>
          </a:prstGeom>
          <a:noFill/>
        </p:spPr>
        <p:txBody>
          <a:bodyPr wrap="square" lIns="0" tIns="0" rIns="0" bIns="0" anchor="t">
            <a:spAutoFit/>
          </a:bodyPr>
          <a:lstStyle/>
          <a:p>
            <a:pPr algn="l">
              <a:spcBef>
                <a:spcPts val="0"/>
              </a:spcBef>
              <a:spcAft>
                <a:spcPts val="500"/>
              </a:spcAft>
            </a:pPr>
            <a:r>
              <a:rPr sz="1500" b="1" i="0">
                <a:solidFill>
                  <a:srgbClr val="2C4A3E"/>
                </a:solidFill>
                <a:latin typeface="Calibri"/>
              </a:rPr>
              <a:t>SPACE Eroder</a:t>
            </a:r>
          </a:p>
        </p:txBody>
      </p:sp>
      <p:sp>
        <p:nvSpPr>
          <p:cNvPr id="15" name="TextBox 14"/>
          <p:cNvSpPr txBox="1"/>
          <p:nvPr/>
        </p:nvSpPr>
        <p:spPr>
          <a:xfrm>
            <a:off x="1463040" y="4434840"/>
            <a:ext cx="4480560" cy="320040"/>
          </a:xfrm>
          <a:prstGeom prst="rect">
            <a:avLst/>
          </a:prstGeom>
          <a:noFill/>
        </p:spPr>
        <p:txBody>
          <a:bodyPr wrap="square" lIns="0" tIns="0" rIns="0" bIns="0" anchor="t">
            <a:spAutoFit/>
          </a:bodyPr>
          <a:lstStyle/>
          <a:p>
            <a:pPr algn="l">
              <a:spcBef>
                <a:spcPts val="0"/>
              </a:spcBef>
              <a:spcAft>
                <a:spcPts val="500"/>
              </a:spcAft>
            </a:pPr>
            <a:r>
              <a:rPr sz="1200" b="0" i="0">
                <a:solidFill>
                  <a:srgbClr val="6E6A60"/>
                </a:solidFill>
                <a:latin typeface="Calibri"/>
              </a:rPr>
              <a:t>Stream Power w/ Alluvium (rivers)</a:t>
            </a:r>
          </a:p>
        </p:txBody>
      </p:sp>
      <p:sp>
        <p:nvSpPr>
          <p:cNvPr id="16" name="Oval 15"/>
          <p:cNvSpPr/>
          <p:nvPr/>
        </p:nvSpPr>
        <p:spPr>
          <a:xfrm>
            <a:off x="914400" y="4764024"/>
            <a:ext cx="384048" cy="384048"/>
          </a:xfrm>
          <a:prstGeom prst="ellipse">
            <a:avLst/>
          </a:prstGeom>
          <a:solidFill>
            <a:srgbClr val="6B8E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14400" y="4764024"/>
            <a:ext cx="384048" cy="384048"/>
          </a:xfrm>
          <a:prstGeom prst="rect">
            <a:avLst/>
          </a:prstGeom>
          <a:noFill/>
        </p:spPr>
        <p:txBody>
          <a:bodyPr wrap="square" lIns="0" tIns="0" rIns="0" bIns="0" anchor="ctr">
            <a:spAutoFit/>
          </a:bodyPr>
          <a:lstStyle/>
          <a:p>
            <a:pPr algn="ctr">
              <a:spcBef>
                <a:spcPts val="0"/>
              </a:spcBef>
              <a:spcAft>
                <a:spcPts val="500"/>
              </a:spcAft>
            </a:pPr>
            <a:r>
              <a:rPr sz="1500" b="1" i="0">
                <a:solidFill>
                  <a:srgbClr val="FFFFFF"/>
                </a:solidFill>
                <a:latin typeface="Calibri"/>
              </a:rPr>
              <a:t>✓</a:t>
            </a:r>
          </a:p>
        </p:txBody>
      </p:sp>
      <p:sp>
        <p:nvSpPr>
          <p:cNvPr id="18" name="TextBox 17"/>
          <p:cNvSpPr txBox="1"/>
          <p:nvPr/>
        </p:nvSpPr>
        <p:spPr>
          <a:xfrm>
            <a:off x="1463040" y="4745736"/>
            <a:ext cx="4480560" cy="365760"/>
          </a:xfrm>
          <a:prstGeom prst="rect">
            <a:avLst/>
          </a:prstGeom>
          <a:noFill/>
        </p:spPr>
        <p:txBody>
          <a:bodyPr wrap="square" lIns="0" tIns="0" rIns="0" bIns="0" anchor="t">
            <a:spAutoFit/>
          </a:bodyPr>
          <a:lstStyle/>
          <a:p>
            <a:pPr algn="l">
              <a:spcBef>
                <a:spcPts val="0"/>
              </a:spcBef>
              <a:spcAft>
                <a:spcPts val="500"/>
              </a:spcAft>
            </a:pPr>
            <a:r>
              <a:rPr sz="1500" b="1" i="0">
                <a:solidFill>
                  <a:srgbClr val="2C4A3E"/>
                </a:solidFill>
                <a:latin typeface="Calibri"/>
              </a:rPr>
              <a:t>Depth-Dependent Diffuser</a:t>
            </a:r>
          </a:p>
        </p:txBody>
      </p:sp>
      <p:sp>
        <p:nvSpPr>
          <p:cNvPr id="19" name="TextBox 18"/>
          <p:cNvSpPr txBox="1"/>
          <p:nvPr/>
        </p:nvSpPr>
        <p:spPr>
          <a:xfrm>
            <a:off x="1463040" y="5056632"/>
            <a:ext cx="4480560" cy="320040"/>
          </a:xfrm>
          <a:prstGeom prst="rect">
            <a:avLst/>
          </a:prstGeom>
          <a:noFill/>
        </p:spPr>
        <p:txBody>
          <a:bodyPr wrap="square" lIns="0" tIns="0" rIns="0" bIns="0" anchor="t">
            <a:spAutoFit/>
          </a:bodyPr>
          <a:lstStyle/>
          <a:p>
            <a:pPr algn="l">
              <a:spcBef>
                <a:spcPts val="0"/>
              </a:spcBef>
              <a:spcAft>
                <a:spcPts val="500"/>
              </a:spcAft>
            </a:pPr>
            <a:r>
              <a:rPr sz="1200" b="0" i="0">
                <a:solidFill>
                  <a:srgbClr val="6E6A60"/>
                </a:solidFill>
                <a:latin typeface="Calibri"/>
              </a:rPr>
              <a:t>hillslope soil creep</a:t>
            </a:r>
          </a:p>
        </p:txBody>
      </p:sp>
      <p:sp>
        <p:nvSpPr>
          <p:cNvPr id="20" name="Oval 19"/>
          <p:cNvSpPr/>
          <p:nvPr/>
        </p:nvSpPr>
        <p:spPr>
          <a:xfrm>
            <a:off x="914400" y="5385816"/>
            <a:ext cx="384048" cy="384048"/>
          </a:xfrm>
          <a:prstGeom prst="ellipse">
            <a:avLst/>
          </a:prstGeom>
          <a:solidFill>
            <a:srgbClr val="6B8E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14400" y="5385816"/>
            <a:ext cx="384048" cy="384048"/>
          </a:xfrm>
          <a:prstGeom prst="rect">
            <a:avLst/>
          </a:prstGeom>
          <a:noFill/>
        </p:spPr>
        <p:txBody>
          <a:bodyPr wrap="square" lIns="0" tIns="0" rIns="0" bIns="0" anchor="ctr">
            <a:spAutoFit/>
          </a:bodyPr>
          <a:lstStyle/>
          <a:p>
            <a:pPr algn="ctr">
              <a:spcBef>
                <a:spcPts val="0"/>
              </a:spcBef>
              <a:spcAft>
                <a:spcPts val="500"/>
              </a:spcAft>
            </a:pPr>
            <a:r>
              <a:rPr sz="1500" b="1" i="0">
                <a:solidFill>
                  <a:srgbClr val="FFFFFF"/>
                </a:solidFill>
                <a:latin typeface="Calibri"/>
              </a:rPr>
              <a:t>✓</a:t>
            </a:r>
          </a:p>
        </p:txBody>
      </p:sp>
      <p:sp>
        <p:nvSpPr>
          <p:cNvPr id="22" name="TextBox 21"/>
          <p:cNvSpPr txBox="1"/>
          <p:nvPr/>
        </p:nvSpPr>
        <p:spPr>
          <a:xfrm>
            <a:off x="1463040" y="5367528"/>
            <a:ext cx="4480560" cy="365760"/>
          </a:xfrm>
          <a:prstGeom prst="rect">
            <a:avLst/>
          </a:prstGeom>
          <a:noFill/>
        </p:spPr>
        <p:txBody>
          <a:bodyPr wrap="square" lIns="0" tIns="0" rIns="0" bIns="0" anchor="t">
            <a:spAutoFit/>
          </a:bodyPr>
          <a:lstStyle/>
          <a:p>
            <a:pPr algn="l">
              <a:spcBef>
                <a:spcPts val="0"/>
              </a:spcBef>
              <a:spcAft>
                <a:spcPts val="500"/>
              </a:spcAft>
            </a:pPr>
            <a:r>
              <a:rPr sz="1500" b="1" i="0">
                <a:solidFill>
                  <a:srgbClr val="2C4A3E"/>
                </a:solidFill>
                <a:latin typeface="Calibri"/>
              </a:rPr>
              <a:t>Litho Layers</a:t>
            </a:r>
          </a:p>
        </p:txBody>
      </p:sp>
      <p:sp>
        <p:nvSpPr>
          <p:cNvPr id="23" name="TextBox 22"/>
          <p:cNvSpPr txBox="1"/>
          <p:nvPr/>
        </p:nvSpPr>
        <p:spPr>
          <a:xfrm>
            <a:off x="1463040" y="5678424"/>
            <a:ext cx="4480560" cy="320040"/>
          </a:xfrm>
          <a:prstGeom prst="rect">
            <a:avLst/>
          </a:prstGeom>
          <a:noFill/>
        </p:spPr>
        <p:txBody>
          <a:bodyPr wrap="square" lIns="0" tIns="0" rIns="0" bIns="0" anchor="t">
            <a:spAutoFit/>
          </a:bodyPr>
          <a:lstStyle/>
          <a:p>
            <a:pPr algn="l">
              <a:spcBef>
                <a:spcPts val="0"/>
              </a:spcBef>
              <a:spcAft>
                <a:spcPts val="500"/>
              </a:spcAft>
            </a:pPr>
            <a:r>
              <a:rPr sz="1200" b="0" i="0">
                <a:solidFill>
                  <a:srgbClr val="6E6A60"/>
                </a:solidFill>
                <a:latin typeface="Calibri"/>
              </a:rPr>
              <a:t>layered rock erodibility</a:t>
            </a:r>
          </a:p>
        </p:txBody>
      </p:sp>
      <p:sp>
        <p:nvSpPr>
          <p:cNvPr id="24" name="Rounded Rectangle 23"/>
          <p:cNvSpPr/>
          <p:nvPr/>
        </p:nvSpPr>
        <p:spPr>
          <a:xfrm>
            <a:off x="6309360" y="2834640"/>
            <a:ext cx="5239512" cy="3291840"/>
          </a:xfrm>
          <a:prstGeom prst="roundRect">
            <a:avLst>
              <a:gd name="adj" fmla="val 9000"/>
            </a:avLst>
          </a:prstGeom>
          <a:solidFill>
            <a:srgbClr val="2C4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583680" y="3035808"/>
            <a:ext cx="4754880" cy="365760"/>
          </a:xfrm>
          <a:prstGeom prst="rect">
            <a:avLst/>
          </a:prstGeom>
          <a:noFill/>
        </p:spPr>
        <p:txBody>
          <a:bodyPr wrap="square" lIns="0" tIns="0" rIns="0" bIns="0" anchor="t">
            <a:spAutoFit/>
          </a:bodyPr>
          <a:lstStyle/>
          <a:p>
            <a:pPr algn="l">
              <a:spcBef>
                <a:spcPts val="0"/>
              </a:spcBef>
              <a:spcAft>
                <a:spcPts val="500"/>
              </a:spcAft>
            </a:pPr>
            <a:r>
              <a:rPr sz="1300" b="1" i="0">
                <a:solidFill>
                  <a:srgbClr val="D9846B"/>
                </a:solidFill>
                <a:latin typeface="Calibri"/>
              </a:rPr>
              <a:t>CUSTOM LOGIC  (LANDLAB'S PIECES DON'T FIT)</a:t>
            </a:r>
          </a:p>
        </p:txBody>
      </p:sp>
      <p:sp>
        <p:nvSpPr>
          <p:cNvPr id="26" name="Oval 25"/>
          <p:cNvSpPr/>
          <p:nvPr/>
        </p:nvSpPr>
        <p:spPr>
          <a:xfrm>
            <a:off x="6583680" y="3611880"/>
            <a:ext cx="384048" cy="384048"/>
          </a:xfrm>
          <a:prstGeom prst="ellipse">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583680" y="3611880"/>
            <a:ext cx="384048" cy="384048"/>
          </a:xfrm>
          <a:prstGeom prst="rect">
            <a:avLst/>
          </a:prstGeom>
          <a:noFill/>
        </p:spPr>
        <p:txBody>
          <a:bodyPr wrap="square" lIns="0" tIns="0" rIns="0" bIns="0" anchor="ctr">
            <a:spAutoFit/>
          </a:bodyPr>
          <a:lstStyle/>
          <a:p>
            <a:pPr algn="ctr">
              <a:spcBef>
                <a:spcPts val="0"/>
              </a:spcBef>
              <a:spcAft>
                <a:spcPts val="500"/>
              </a:spcAft>
            </a:pPr>
            <a:r>
              <a:rPr sz="1800" b="1" i="0">
                <a:solidFill>
                  <a:srgbClr val="FFFFFF"/>
                </a:solidFill>
                <a:latin typeface="Calibri"/>
              </a:rPr>
              <a:t>+</a:t>
            </a:r>
          </a:p>
        </p:txBody>
      </p:sp>
      <p:sp>
        <p:nvSpPr>
          <p:cNvPr id="28" name="TextBox 27"/>
          <p:cNvSpPr txBox="1"/>
          <p:nvPr/>
        </p:nvSpPr>
        <p:spPr>
          <a:xfrm>
            <a:off x="7132320" y="3593592"/>
            <a:ext cx="4297680" cy="365760"/>
          </a:xfrm>
          <a:prstGeom prst="rect">
            <a:avLst/>
          </a:prstGeom>
          <a:noFill/>
        </p:spPr>
        <p:txBody>
          <a:bodyPr wrap="square" lIns="0" tIns="0" rIns="0" bIns="0" anchor="t">
            <a:spAutoFit/>
          </a:bodyPr>
          <a:lstStyle/>
          <a:p>
            <a:pPr algn="l">
              <a:spcBef>
                <a:spcPts val="0"/>
              </a:spcBef>
              <a:spcAft>
                <a:spcPts val="500"/>
              </a:spcAft>
            </a:pPr>
            <a:r>
              <a:rPr sz="1500" b="1" i="0">
                <a:solidFill>
                  <a:srgbClr val="FFFFFF"/>
                </a:solidFill>
                <a:latin typeface="Calibri"/>
              </a:rPr>
              <a:t>Precipitation</a:t>
            </a:r>
          </a:p>
        </p:txBody>
      </p:sp>
      <p:sp>
        <p:nvSpPr>
          <p:cNvPr id="29" name="TextBox 28"/>
          <p:cNvSpPr txBox="1"/>
          <p:nvPr/>
        </p:nvSpPr>
        <p:spPr>
          <a:xfrm>
            <a:off x="7132320" y="3904488"/>
            <a:ext cx="4297680" cy="365760"/>
          </a:xfrm>
          <a:prstGeom prst="rect">
            <a:avLst/>
          </a:prstGeom>
          <a:noFill/>
        </p:spPr>
        <p:txBody>
          <a:bodyPr wrap="square" lIns="0" tIns="0" rIns="0" bIns="0" anchor="t">
            <a:spAutoFit/>
          </a:bodyPr>
          <a:lstStyle/>
          <a:p>
            <a:pPr algn="l">
              <a:spcBef>
                <a:spcPts val="0"/>
              </a:spcBef>
              <a:spcAft>
                <a:spcPts val="500"/>
              </a:spcAft>
            </a:pPr>
            <a:r>
              <a:rPr sz="1150" b="0" i="0">
                <a:solidFill>
                  <a:srgbClr val="9CC486"/>
                </a:solidFill>
                <a:latin typeface="Calibri"/>
              </a:rPr>
              <a:t>Landlab's rain is storm-scale, not long-term</a:t>
            </a:r>
          </a:p>
        </p:txBody>
      </p:sp>
      <p:sp>
        <p:nvSpPr>
          <p:cNvPr id="30" name="Oval 29"/>
          <p:cNvSpPr/>
          <p:nvPr/>
        </p:nvSpPr>
        <p:spPr>
          <a:xfrm>
            <a:off x="6583680" y="4389120"/>
            <a:ext cx="384048" cy="384048"/>
          </a:xfrm>
          <a:prstGeom prst="ellipse">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583680" y="4389120"/>
            <a:ext cx="384048" cy="384048"/>
          </a:xfrm>
          <a:prstGeom prst="rect">
            <a:avLst/>
          </a:prstGeom>
          <a:noFill/>
        </p:spPr>
        <p:txBody>
          <a:bodyPr wrap="square" lIns="0" tIns="0" rIns="0" bIns="0" anchor="ctr">
            <a:spAutoFit/>
          </a:bodyPr>
          <a:lstStyle/>
          <a:p>
            <a:pPr algn="ctr">
              <a:spcBef>
                <a:spcPts val="0"/>
              </a:spcBef>
              <a:spcAft>
                <a:spcPts val="500"/>
              </a:spcAft>
            </a:pPr>
            <a:r>
              <a:rPr sz="1800" b="1" i="0">
                <a:solidFill>
                  <a:srgbClr val="FFFFFF"/>
                </a:solidFill>
                <a:latin typeface="Calibri"/>
              </a:rPr>
              <a:t>+</a:t>
            </a:r>
          </a:p>
        </p:txBody>
      </p:sp>
      <p:sp>
        <p:nvSpPr>
          <p:cNvPr id="32" name="TextBox 31"/>
          <p:cNvSpPr txBox="1"/>
          <p:nvPr/>
        </p:nvSpPr>
        <p:spPr>
          <a:xfrm>
            <a:off x="7132320" y="4370832"/>
            <a:ext cx="4297680" cy="365760"/>
          </a:xfrm>
          <a:prstGeom prst="rect">
            <a:avLst/>
          </a:prstGeom>
          <a:noFill/>
        </p:spPr>
        <p:txBody>
          <a:bodyPr wrap="square" lIns="0" tIns="0" rIns="0" bIns="0" anchor="t">
            <a:spAutoFit/>
          </a:bodyPr>
          <a:lstStyle/>
          <a:p>
            <a:pPr algn="l">
              <a:spcBef>
                <a:spcPts val="0"/>
              </a:spcBef>
              <a:spcAft>
                <a:spcPts val="500"/>
              </a:spcAft>
            </a:pPr>
            <a:r>
              <a:rPr sz="1500" b="1" i="0">
                <a:solidFill>
                  <a:srgbClr val="FFFFFF"/>
                </a:solidFill>
                <a:latin typeface="Calibri"/>
              </a:rPr>
              <a:t>Vegetation</a:t>
            </a:r>
          </a:p>
        </p:txBody>
      </p:sp>
      <p:sp>
        <p:nvSpPr>
          <p:cNvPr id="33" name="TextBox 32"/>
          <p:cNvSpPr txBox="1"/>
          <p:nvPr/>
        </p:nvSpPr>
        <p:spPr>
          <a:xfrm>
            <a:off x="7132320" y="4681728"/>
            <a:ext cx="4297680" cy="365760"/>
          </a:xfrm>
          <a:prstGeom prst="rect">
            <a:avLst/>
          </a:prstGeom>
          <a:noFill/>
        </p:spPr>
        <p:txBody>
          <a:bodyPr wrap="square" lIns="0" tIns="0" rIns="0" bIns="0" anchor="t">
            <a:spAutoFit/>
          </a:bodyPr>
          <a:lstStyle/>
          <a:p>
            <a:pPr algn="l">
              <a:spcBef>
                <a:spcPts val="0"/>
              </a:spcBef>
              <a:spcAft>
                <a:spcPts val="500"/>
              </a:spcAft>
            </a:pPr>
            <a:r>
              <a:rPr sz="1150" b="0" i="0">
                <a:solidFill>
                  <a:srgbClr val="9CC486"/>
                </a:solidFill>
                <a:latin typeface="Calibri"/>
              </a:rPr>
              <a:t>Landlab's veg models biomass, not erosion</a:t>
            </a:r>
          </a:p>
        </p:txBody>
      </p:sp>
      <p:sp>
        <p:nvSpPr>
          <p:cNvPr id="34" name="Oval 33"/>
          <p:cNvSpPr/>
          <p:nvPr/>
        </p:nvSpPr>
        <p:spPr>
          <a:xfrm>
            <a:off x="6583680" y="5166360"/>
            <a:ext cx="384048" cy="384048"/>
          </a:xfrm>
          <a:prstGeom prst="ellipse">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583680" y="5166360"/>
            <a:ext cx="384048" cy="384048"/>
          </a:xfrm>
          <a:prstGeom prst="rect">
            <a:avLst/>
          </a:prstGeom>
          <a:noFill/>
        </p:spPr>
        <p:txBody>
          <a:bodyPr wrap="square" lIns="0" tIns="0" rIns="0" bIns="0" anchor="ctr">
            <a:spAutoFit/>
          </a:bodyPr>
          <a:lstStyle/>
          <a:p>
            <a:pPr algn="ctr">
              <a:spcBef>
                <a:spcPts val="0"/>
              </a:spcBef>
              <a:spcAft>
                <a:spcPts val="500"/>
              </a:spcAft>
            </a:pPr>
            <a:r>
              <a:rPr sz="1800" b="1" i="0">
                <a:solidFill>
                  <a:srgbClr val="FFFFFF"/>
                </a:solidFill>
                <a:latin typeface="Calibri"/>
              </a:rPr>
              <a:t>+</a:t>
            </a:r>
          </a:p>
        </p:txBody>
      </p:sp>
      <p:sp>
        <p:nvSpPr>
          <p:cNvPr id="36" name="TextBox 35"/>
          <p:cNvSpPr txBox="1"/>
          <p:nvPr/>
        </p:nvSpPr>
        <p:spPr>
          <a:xfrm>
            <a:off x="7132320" y="5148072"/>
            <a:ext cx="4297680" cy="365760"/>
          </a:xfrm>
          <a:prstGeom prst="rect">
            <a:avLst/>
          </a:prstGeom>
          <a:noFill/>
        </p:spPr>
        <p:txBody>
          <a:bodyPr wrap="square" lIns="0" tIns="0" rIns="0" bIns="0" anchor="t">
            <a:spAutoFit/>
          </a:bodyPr>
          <a:lstStyle/>
          <a:p>
            <a:pPr algn="l">
              <a:spcBef>
                <a:spcPts val="0"/>
              </a:spcBef>
              <a:spcAft>
                <a:spcPts val="500"/>
              </a:spcAft>
            </a:pPr>
            <a:r>
              <a:rPr sz="1500" b="1" i="0">
                <a:solidFill>
                  <a:srgbClr val="FFFFFF"/>
                </a:solidFill>
                <a:latin typeface="Calibri"/>
              </a:rPr>
              <a:t>Tectonics (Uplift)</a:t>
            </a:r>
          </a:p>
        </p:txBody>
      </p:sp>
      <p:sp>
        <p:nvSpPr>
          <p:cNvPr id="37" name="TextBox 36"/>
          <p:cNvSpPr txBox="1"/>
          <p:nvPr/>
        </p:nvSpPr>
        <p:spPr>
          <a:xfrm>
            <a:off x="7132320" y="5458968"/>
            <a:ext cx="4297680" cy="365760"/>
          </a:xfrm>
          <a:prstGeom prst="rect">
            <a:avLst/>
          </a:prstGeom>
          <a:noFill/>
        </p:spPr>
        <p:txBody>
          <a:bodyPr wrap="square" lIns="0" tIns="0" rIns="0" bIns="0" anchor="t">
            <a:spAutoFit/>
          </a:bodyPr>
          <a:lstStyle/>
          <a:p>
            <a:pPr algn="l">
              <a:spcBef>
                <a:spcPts val="0"/>
              </a:spcBef>
              <a:spcAft>
                <a:spcPts val="500"/>
              </a:spcAft>
            </a:pPr>
            <a:r>
              <a:rPr sz="1150" b="0" i="0">
                <a:solidFill>
                  <a:srgbClr val="9CC486"/>
                </a:solidFill>
                <a:latin typeface="Calibri"/>
              </a:rPr>
              <a:t>Landlab's tectonics model faults, not uplift rate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2E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8229600" cy="365760"/>
          </a:xfrm>
          <a:prstGeom prst="rect">
            <a:avLst/>
          </a:prstGeom>
          <a:noFill/>
        </p:spPr>
        <p:txBody>
          <a:bodyPr wrap="square" lIns="0" tIns="0" rIns="0" bIns="0" anchor="t">
            <a:spAutoFit/>
          </a:bodyPr>
          <a:lstStyle/>
          <a:p>
            <a:pPr algn="l">
              <a:spcBef>
                <a:spcPts val="0"/>
              </a:spcBef>
              <a:spcAft>
                <a:spcPts val="500"/>
              </a:spcAft>
            </a:pPr>
            <a:r>
              <a:rPr sz="1250" b="1" i="0">
                <a:solidFill>
                  <a:srgbClr val="B85042"/>
                </a:solidFill>
                <a:latin typeface="Calibri"/>
              </a:rPr>
              <a:t>READ THIS FIRST</a:t>
            </a:r>
          </a:p>
        </p:txBody>
      </p:sp>
      <p:sp>
        <p:nvSpPr>
          <p:cNvPr id="4" name="TextBox 3"/>
          <p:cNvSpPr txBox="1"/>
          <p:nvPr/>
        </p:nvSpPr>
        <p:spPr>
          <a:xfrm>
            <a:off x="640080" y="676656"/>
            <a:ext cx="10058400" cy="777240"/>
          </a:xfrm>
          <a:prstGeom prst="rect">
            <a:avLst/>
          </a:prstGeom>
          <a:noFill/>
        </p:spPr>
        <p:txBody>
          <a:bodyPr wrap="square" lIns="0" tIns="0" rIns="0" bIns="0" anchor="t">
            <a:spAutoFit/>
          </a:bodyPr>
          <a:lstStyle/>
          <a:p>
            <a:pPr algn="l">
              <a:spcBef>
                <a:spcPts val="0"/>
              </a:spcBef>
              <a:spcAft>
                <a:spcPts val="500"/>
              </a:spcAft>
            </a:pPr>
            <a:r>
              <a:rPr sz="3100" b="1" i="0">
                <a:solidFill>
                  <a:srgbClr val="2C4A3E"/>
                </a:solidFill>
                <a:latin typeface="Calibri"/>
              </a:rPr>
              <a:t>The One Idea Behind It All</a:t>
            </a:r>
          </a:p>
        </p:txBody>
      </p:sp>
      <p:sp>
        <p:nvSpPr>
          <p:cNvPr id="5" name="TextBox 4"/>
          <p:cNvSpPr txBox="1"/>
          <p:nvPr/>
        </p:nvSpPr>
        <p:spPr>
          <a:xfrm>
            <a:off x="640080" y="1554480"/>
            <a:ext cx="5760720" cy="2743200"/>
          </a:xfrm>
          <a:prstGeom prst="rect">
            <a:avLst/>
          </a:prstGeom>
          <a:noFill/>
        </p:spPr>
        <p:txBody>
          <a:bodyPr wrap="square" lIns="0" tIns="0" rIns="0" bIns="0" anchor="t">
            <a:spAutoFit/>
          </a:bodyPr>
          <a:lstStyle/>
          <a:p>
            <a:pPr algn="l">
              <a:spcBef>
                <a:spcPts val="0"/>
              </a:spcBef>
              <a:spcAft>
                <a:spcPts val="400"/>
              </a:spcAft>
            </a:pPr>
            <a:r>
              <a:rPr sz="1600" b="1" i="0">
                <a:solidFill>
                  <a:srgbClr val="2C4A3E"/>
                </a:solidFill>
                <a:latin typeface="Calibri"/>
              </a:rPr>
              <a:t>Almost all erosion comes from one simple idea: stream power.</a:t>
            </a:r>
          </a:p>
          <a:p>
            <a:pPr algn="l">
              <a:spcBef>
                <a:spcPts val="0"/>
              </a:spcBef>
              <a:spcAft>
                <a:spcPts val="400"/>
              </a:spcAft>
            </a:pPr>
            <a:endParaRPr sz="1600" b="1" i="0">
              <a:solidFill>
                <a:srgbClr val="2C4A3E"/>
              </a:solidFill>
              <a:latin typeface="Calibri"/>
            </a:endParaRPr>
          </a:p>
          <a:p>
            <a:pPr algn="l">
              <a:spcBef>
                <a:spcPts val="0"/>
              </a:spcBef>
              <a:spcAft>
                <a:spcPts val="400"/>
              </a:spcAft>
            </a:pPr>
            <a:r>
              <a:rPr sz="1450" b="0" i="0">
                <a:solidFill>
                  <a:srgbClr val="2B2B2B"/>
                </a:solidFill>
                <a:latin typeface="Calibri"/>
              </a:rPr>
              <a:t>A spot erodes faster when more water flows over it and when it is steeper. That's it.</a:t>
            </a:r>
          </a:p>
          <a:p>
            <a:pPr algn="l">
              <a:spcBef>
                <a:spcPts val="0"/>
              </a:spcBef>
              <a:spcAft>
                <a:spcPts val="400"/>
              </a:spcAft>
            </a:pPr>
            <a:endParaRPr sz="1450" b="0" i="0">
              <a:solidFill>
                <a:srgbClr val="2B2B2B"/>
              </a:solidFill>
              <a:latin typeface="Calibri"/>
            </a:endParaRPr>
          </a:p>
          <a:p>
            <a:pPr algn="l">
              <a:spcBef>
                <a:spcPts val="0"/>
              </a:spcBef>
              <a:spcAft>
                <a:spcPts val="400"/>
              </a:spcAft>
            </a:pPr>
            <a:r>
              <a:rPr sz="1400" b="0" i="0">
                <a:solidFill>
                  <a:srgbClr val="2B2B2B"/>
                </a:solidFill>
                <a:latin typeface="Calibri"/>
              </a:rPr>
              <a:t>“How much water” is the drainage area A — the size of the land draining into that spot. “How steep” is the slope S. K is how easily that ground wears down (soft mud vs hard granite).</a:t>
            </a:r>
          </a:p>
          <a:p>
            <a:pPr algn="l">
              <a:spcBef>
                <a:spcPts val="0"/>
              </a:spcBef>
              <a:spcAft>
                <a:spcPts val="400"/>
              </a:spcAft>
            </a:pPr>
            <a:endParaRPr sz="1400" b="0" i="0">
              <a:solidFill>
                <a:srgbClr val="2B2B2B"/>
              </a:solidFill>
              <a:latin typeface="Calibri"/>
            </a:endParaRPr>
          </a:p>
          <a:p>
            <a:pPr algn="l">
              <a:spcBef>
                <a:spcPts val="0"/>
              </a:spcBef>
              <a:spcAft>
                <a:spcPts val="400"/>
              </a:spcAft>
            </a:pPr>
            <a:r>
              <a:rPr sz="1400" b="0" i="0">
                <a:solidFill>
                  <a:srgbClr val="2B2B2B"/>
                </a:solidFill>
                <a:latin typeface="Calibri"/>
              </a:rPr>
              <a:t>Every component either feeds this idea, tunes its K, or pushes against it.</a:t>
            </a:r>
          </a:p>
        </p:txBody>
      </p:sp>
      <p:sp>
        <p:nvSpPr>
          <p:cNvPr id="6" name="Rounded Rectangle 5"/>
          <p:cNvSpPr/>
          <p:nvPr/>
        </p:nvSpPr>
        <p:spPr>
          <a:xfrm>
            <a:off x="6720840" y="1554480"/>
            <a:ext cx="4828032" cy="3246120"/>
          </a:xfrm>
          <a:prstGeom prst="roundRect">
            <a:avLst>
              <a:gd name="adj" fmla="val 7000"/>
            </a:avLst>
          </a:prstGeom>
          <a:solidFill>
            <a:srgbClr val="1B2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995159" y="1755648"/>
            <a:ext cx="4279392" cy="365760"/>
          </a:xfrm>
          <a:prstGeom prst="rect">
            <a:avLst/>
          </a:prstGeom>
          <a:noFill/>
        </p:spPr>
        <p:txBody>
          <a:bodyPr wrap="square" lIns="0" tIns="0" rIns="0" bIns="0" anchor="t">
            <a:spAutoFit/>
          </a:bodyPr>
          <a:lstStyle/>
          <a:p>
            <a:pPr algn="l">
              <a:spcBef>
                <a:spcPts val="0"/>
              </a:spcBef>
              <a:spcAft>
                <a:spcPts val="500"/>
              </a:spcAft>
            </a:pPr>
            <a:r>
              <a:rPr sz="1200" b="1" i="0">
                <a:solidFill>
                  <a:srgbClr val="9CC486"/>
                </a:solidFill>
                <a:latin typeface="Calibri"/>
              </a:rPr>
              <a:t>THE STREAM-POWER IDEA</a:t>
            </a:r>
          </a:p>
        </p:txBody>
      </p:sp>
      <p:sp>
        <p:nvSpPr>
          <p:cNvPr id="8" name="TextBox 7"/>
          <p:cNvSpPr txBox="1"/>
          <p:nvPr/>
        </p:nvSpPr>
        <p:spPr>
          <a:xfrm>
            <a:off x="6995159" y="2121408"/>
            <a:ext cx="4279392" cy="2286000"/>
          </a:xfrm>
          <a:prstGeom prst="rect">
            <a:avLst/>
          </a:prstGeom>
          <a:noFill/>
        </p:spPr>
        <p:txBody>
          <a:bodyPr wrap="square" lIns="0" tIns="0" rIns="0" bIns="0">
            <a:spAutoFit/>
          </a:bodyPr>
          <a:lstStyle/>
          <a:p>
            <a:pPr>
              <a:spcBef>
                <a:spcPts val="0"/>
              </a:spcBef>
              <a:spcAft>
                <a:spcPts val="200"/>
              </a:spcAft>
            </a:pPr>
            <a:r>
              <a:rPr sz="1300" b="1">
                <a:solidFill>
                  <a:srgbClr val="9CC486"/>
                </a:solidFill>
                <a:latin typeface="Calibri"/>
              </a:rPr>
              <a:t>erosion = softness × water × steepness</a:t>
            </a:r>
          </a:p>
          <a:p>
            <a:pPr>
              <a:spcBef>
                <a:spcPts val="0"/>
              </a:spcBef>
              <a:spcAft>
                <a:spcPts val="1200"/>
              </a:spcAft>
            </a:pPr>
            <a:endParaRPr sz="1300" b="1">
              <a:solidFill>
                <a:srgbClr val="9CC486"/>
              </a:solidFill>
              <a:latin typeface="Calibri"/>
            </a:endParaRPr>
          </a:p>
          <a:p>
            <a:pPr>
              <a:spcBef>
                <a:spcPts val="0"/>
              </a:spcBef>
              <a:spcAft>
                <a:spcPts val="400"/>
              </a:spcAft>
            </a:pPr>
            <a:r>
              <a:rPr sz="1400" b="1">
                <a:solidFill>
                  <a:srgbClr val="E9E4D6"/>
                </a:solidFill>
                <a:latin typeface="Courier New"/>
              </a:rPr>
              <a:t>E = K · Aᵐ · Sⁿ</a:t>
            </a:r>
          </a:p>
          <a:p>
            <a:pPr>
              <a:spcBef>
                <a:spcPts val="0"/>
              </a:spcBef>
              <a:spcAft>
                <a:spcPts val="1200"/>
              </a:spcAft>
            </a:pPr>
            <a:r>
              <a:rPr sz="1100" i="1">
                <a:solidFill>
                  <a:srgbClr val="9FB0A0"/>
                </a:solidFill>
                <a:latin typeface="Calibri"/>
              </a:rPr>
              <a:t>the same idea, written as maths</a:t>
            </a:r>
          </a:p>
        </p:txBody>
      </p:sp>
      <p:sp>
        <p:nvSpPr>
          <p:cNvPr id="9" name="TextBox 8"/>
          <p:cNvSpPr txBox="1"/>
          <p:nvPr/>
        </p:nvSpPr>
        <p:spPr>
          <a:xfrm>
            <a:off x="6995159" y="4251960"/>
            <a:ext cx="4279392" cy="457200"/>
          </a:xfrm>
          <a:prstGeom prst="rect">
            <a:avLst/>
          </a:prstGeom>
          <a:noFill/>
        </p:spPr>
        <p:txBody>
          <a:bodyPr wrap="square" lIns="0" tIns="0" rIns="0" bIns="0" anchor="t">
            <a:spAutoFit/>
          </a:bodyPr>
          <a:lstStyle/>
          <a:p>
            <a:pPr algn="l">
              <a:spcBef>
                <a:spcPts val="0"/>
              </a:spcBef>
              <a:spcAft>
                <a:spcPts val="500"/>
              </a:spcAft>
            </a:pPr>
            <a:r>
              <a:rPr sz="1050" b="0" i="0">
                <a:solidFill>
                  <a:srgbClr val="8C9D8E"/>
                </a:solidFill>
                <a:latin typeface="Calibri"/>
              </a:rPr>
              <a:t>KEY:  E erosion rate · K softness (erodibility) · A water (drainage area) · S slope · m, n how strongly water &amp; slope count</a:t>
            </a:r>
          </a:p>
        </p:txBody>
      </p:sp>
      <p:sp>
        <p:nvSpPr>
          <p:cNvPr id="10" name="Rounded Rectangle 9"/>
          <p:cNvSpPr/>
          <p:nvPr/>
        </p:nvSpPr>
        <p:spPr>
          <a:xfrm>
            <a:off x="640080" y="5029200"/>
            <a:ext cx="10908792" cy="1280160"/>
          </a:xfrm>
          <a:prstGeom prst="roundRect">
            <a:avLst>
              <a:gd name="adj" fmla="val 8000"/>
            </a:avLst>
          </a:prstGeom>
          <a:solidFill>
            <a:srgbClr val="2C4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14400" y="5193792"/>
            <a:ext cx="2468880" cy="365760"/>
          </a:xfrm>
          <a:prstGeom prst="rect">
            <a:avLst/>
          </a:prstGeom>
          <a:noFill/>
        </p:spPr>
        <p:txBody>
          <a:bodyPr wrap="square" lIns="0" tIns="0" rIns="0" bIns="0" anchor="t">
            <a:spAutoFit/>
          </a:bodyPr>
          <a:lstStyle/>
          <a:p>
            <a:pPr algn="l">
              <a:spcBef>
                <a:spcPts val="0"/>
              </a:spcBef>
              <a:spcAft>
                <a:spcPts val="500"/>
              </a:spcAft>
            </a:pPr>
            <a:r>
              <a:rPr sz="1350" b="1" i="0">
                <a:solidFill>
                  <a:srgbClr val="9CC486"/>
                </a:solidFill>
                <a:latin typeface="Calibri"/>
              </a:rPr>
              <a:t>RAIN + FLOW</a:t>
            </a:r>
          </a:p>
        </p:txBody>
      </p:sp>
      <p:sp>
        <p:nvSpPr>
          <p:cNvPr id="12" name="TextBox 11"/>
          <p:cNvSpPr txBox="1"/>
          <p:nvPr/>
        </p:nvSpPr>
        <p:spPr>
          <a:xfrm>
            <a:off x="914400" y="5522976"/>
            <a:ext cx="2468880" cy="365760"/>
          </a:xfrm>
          <a:prstGeom prst="rect">
            <a:avLst/>
          </a:prstGeom>
          <a:noFill/>
        </p:spPr>
        <p:txBody>
          <a:bodyPr wrap="square" lIns="0" tIns="0" rIns="0" bIns="0" anchor="t">
            <a:spAutoFit/>
          </a:bodyPr>
          <a:lstStyle/>
          <a:p>
            <a:pPr algn="l">
              <a:spcBef>
                <a:spcPts val="0"/>
              </a:spcBef>
              <a:spcAft>
                <a:spcPts val="500"/>
              </a:spcAft>
            </a:pPr>
            <a:r>
              <a:rPr sz="1250" b="0" i="0">
                <a:solidFill>
                  <a:srgbClr val="DDD9CD"/>
                </a:solidFill>
                <a:latin typeface="Calibri"/>
              </a:rPr>
              <a:t>decide the water</a:t>
            </a:r>
          </a:p>
        </p:txBody>
      </p:sp>
      <p:sp>
        <p:nvSpPr>
          <p:cNvPr id="13" name="TextBox 12"/>
          <p:cNvSpPr txBox="1"/>
          <p:nvPr/>
        </p:nvSpPr>
        <p:spPr>
          <a:xfrm>
            <a:off x="3200400" y="5230368"/>
            <a:ext cx="365760" cy="548640"/>
          </a:xfrm>
          <a:prstGeom prst="rect">
            <a:avLst/>
          </a:prstGeom>
          <a:noFill/>
        </p:spPr>
        <p:txBody>
          <a:bodyPr wrap="square" lIns="0" tIns="0" rIns="0" bIns="0" anchor="t">
            <a:spAutoFit/>
          </a:bodyPr>
          <a:lstStyle/>
          <a:p>
            <a:pPr algn="l">
              <a:spcBef>
                <a:spcPts val="0"/>
              </a:spcBef>
              <a:spcAft>
                <a:spcPts val="500"/>
              </a:spcAft>
            </a:pPr>
            <a:r>
              <a:rPr sz="2000" b="1" i="0">
                <a:solidFill>
                  <a:srgbClr val="6B8E5A"/>
                </a:solidFill>
                <a:latin typeface="Calibri"/>
              </a:rPr>
              <a:t>→</a:t>
            </a:r>
          </a:p>
        </p:txBody>
      </p:sp>
      <p:sp>
        <p:nvSpPr>
          <p:cNvPr id="14" name="TextBox 13"/>
          <p:cNvSpPr txBox="1"/>
          <p:nvPr/>
        </p:nvSpPr>
        <p:spPr>
          <a:xfrm>
            <a:off x="3611880" y="5193792"/>
            <a:ext cx="2468880" cy="365760"/>
          </a:xfrm>
          <a:prstGeom prst="rect">
            <a:avLst/>
          </a:prstGeom>
          <a:noFill/>
        </p:spPr>
        <p:txBody>
          <a:bodyPr wrap="square" lIns="0" tIns="0" rIns="0" bIns="0" anchor="t">
            <a:spAutoFit/>
          </a:bodyPr>
          <a:lstStyle/>
          <a:p>
            <a:pPr algn="l">
              <a:spcBef>
                <a:spcPts val="0"/>
              </a:spcBef>
              <a:spcAft>
                <a:spcPts val="500"/>
              </a:spcAft>
            </a:pPr>
            <a:r>
              <a:rPr sz="1350" b="1" i="0">
                <a:solidFill>
                  <a:srgbClr val="D9846B"/>
                </a:solidFill>
                <a:latin typeface="Calibri"/>
              </a:rPr>
              <a:t>ROCK + PLANTS</a:t>
            </a:r>
          </a:p>
        </p:txBody>
      </p:sp>
      <p:sp>
        <p:nvSpPr>
          <p:cNvPr id="15" name="TextBox 14"/>
          <p:cNvSpPr txBox="1"/>
          <p:nvPr/>
        </p:nvSpPr>
        <p:spPr>
          <a:xfrm>
            <a:off x="3611880" y="5522976"/>
            <a:ext cx="2468880" cy="365760"/>
          </a:xfrm>
          <a:prstGeom prst="rect">
            <a:avLst/>
          </a:prstGeom>
          <a:noFill/>
        </p:spPr>
        <p:txBody>
          <a:bodyPr wrap="square" lIns="0" tIns="0" rIns="0" bIns="0" anchor="t">
            <a:spAutoFit/>
          </a:bodyPr>
          <a:lstStyle/>
          <a:p>
            <a:pPr algn="l">
              <a:spcBef>
                <a:spcPts val="0"/>
              </a:spcBef>
              <a:spcAft>
                <a:spcPts val="500"/>
              </a:spcAft>
            </a:pPr>
            <a:r>
              <a:rPr sz="1250" b="0" i="0">
                <a:solidFill>
                  <a:srgbClr val="DDD9CD"/>
                </a:solidFill>
                <a:latin typeface="Calibri"/>
              </a:rPr>
              <a:t>decide the softness</a:t>
            </a:r>
          </a:p>
        </p:txBody>
      </p:sp>
      <p:sp>
        <p:nvSpPr>
          <p:cNvPr id="16" name="TextBox 15"/>
          <p:cNvSpPr txBox="1"/>
          <p:nvPr/>
        </p:nvSpPr>
        <p:spPr>
          <a:xfrm>
            <a:off x="5897880" y="5230368"/>
            <a:ext cx="365760" cy="548640"/>
          </a:xfrm>
          <a:prstGeom prst="rect">
            <a:avLst/>
          </a:prstGeom>
          <a:noFill/>
        </p:spPr>
        <p:txBody>
          <a:bodyPr wrap="square" lIns="0" tIns="0" rIns="0" bIns="0" anchor="t">
            <a:spAutoFit/>
          </a:bodyPr>
          <a:lstStyle/>
          <a:p>
            <a:pPr algn="l">
              <a:spcBef>
                <a:spcPts val="0"/>
              </a:spcBef>
              <a:spcAft>
                <a:spcPts val="500"/>
              </a:spcAft>
            </a:pPr>
            <a:r>
              <a:rPr sz="2000" b="1" i="0">
                <a:solidFill>
                  <a:srgbClr val="6B8E5A"/>
                </a:solidFill>
                <a:latin typeface="Calibri"/>
              </a:rPr>
              <a:t>→</a:t>
            </a:r>
          </a:p>
        </p:txBody>
      </p:sp>
      <p:sp>
        <p:nvSpPr>
          <p:cNvPr id="17" name="TextBox 16"/>
          <p:cNvSpPr txBox="1"/>
          <p:nvPr/>
        </p:nvSpPr>
        <p:spPr>
          <a:xfrm>
            <a:off x="6309360" y="5193792"/>
            <a:ext cx="2468880" cy="365760"/>
          </a:xfrm>
          <a:prstGeom prst="rect">
            <a:avLst/>
          </a:prstGeom>
          <a:noFill/>
        </p:spPr>
        <p:txBody>
          <a:bodyPr wrap="square" lIns="0" tIns="0" rIns="0" bIns="0" anchor="t">
            <a:spAutoFit/>
          </a:bodyPr>
          <a:lstStyle/>
          <a:p>
            <a:pPr algn="l">
              <a:spcBef>
                <a:spcPts val="0"/>
              </a:spcBef>
              <a:spcAft>
                <a:spcPts val="500"/>
              </a:spcAft>
            </a:pPr>
            <a:r>
              <a:rPr sz="1350" b="1" i="0">
                <a:solidFill>
                  <a:srgbClr val="FFFFFF"/>
                </a:solidFill>
                <a:latin typeface="Calibri"/>
              </a:rPr>
              <a:t>SPACE</a:t>
            </a:r>
          </a:p>
        </p:txBody>
      </p:sp>
      <p:sp>
        <p:nvSpPr>
          <p:cNvPr id="18" name="TextBox 17"/>
          <p:cNvSpPr txBox="1"/>
          <p:nvPr/>
        </p:nvSpPr>
        <p:spPr>
          <a:xfrm>
            <a:off x="6309360" y="5522976"/>
            <a:ext cx="2468880" cy="365760"/>
          </a:xfrm>
          <a:prstGeom prst="rect">
            <a:avLst/>
          </a:prstGeom>
          <a:noFill/>
        </p:spPr>
        <p:txBody>
          <a:bodyPr wrap="square" lIns="0" tIns="0" rIns="0" bIns="0" anchor="t">
            <a:spAutoFit/>
          </a:bodyPr>
          <a:lstStyle/>
          <a:p>
            <a:pPr algn="l">
              <a:spcBef>
                <a:spcPts val="0"/>
              </a:spcBef>
              <a:spcAft>
                <a:spcPts val="500"/>
              </a:spcAft>
            </a:pPr>
            <a:r>
              <a:rPr sz="1250" b="0" i="0">
                <a:solidFill>
                  <a:srgbClr val="DDD9CD"/>
                </a:solidFill>
                <a:latin typeface="Calibri"/>
              </a:rPr>
              <a:t>applies the idea</a:t>
            </a:r>
          </a:p>
        </p:txBody>
      </p:sp>
      <p:sp>
        <p:nvSpPr>
          <p:cNvPr id="19" name="TextBox 18"/>
          <p:cNvSpPr txBox="1"/>
          <p:nvPr/>
        </p:nvSpPr>
        <p:spPr>
          <a:xfrm>
            <a:off x="8595360" y="5230368"/>
            <a:ext cx="365760" cy="548640"/>
          </a:xfrm>
          <a:prstGeom prst="rect">
            <a:avLst/>
          </a:prstGeom>
          <a:noFill/>
        </p:spPr>
        <p:txBody>
          <a:bodyPr wrap="square" lIns="0" tIns="0" rIns="0" bIns="0" anchor="t">
            <a:spAutoFit/>
          </a:bodyPr>
          <a:lstStyle/>
          <a:p>
            <a:pPr algn="l">
              <a:spcBef>
                <a:spcPts val="0"/>
              </a:spcBef>
              <a:spcAft>
                <a:spcPts val="500"/>
              </a:spcAft>
            </a:pPr>
            <a:r>
              <a:rPr sz="2000" b="1" i="0">
                <a:solidFill>
                  <a:srgbClr val="6B8E5A"/>
                </a:solidFill>
                <a:latin typeface="Calibri"/>
              </a:rPr>
              <a:t>→</a:t>
            </a:r>
          </a:p>
        </p:txBody>
      </p:sp>
      <p:sp>
        <p:nvSpPr>
          <p:cNvPr id="20" name="TextBox 19"/>
          <p:cNvSpPr txBox="1"/>
          <p:nvPr/>
        </p:nvSpPr>
        <p:spPr>
          <a:xfrm>
            <a:off x="9006840" y="5193792"/>
            <a:ext cx="2468880" cy="365760"/>
          </a:xfrm>
          <a:prstGeom prst="rect">
            <a:avLst/>
          </a:prstGeom>
          <a:noFill/>
        </p:spPr>
        <p:txBody>
          <a:bodyPr wrap="square" lIns="0" tIns="0" rIns="0" bIns="0" anchor="t">
            <a:spAutoFit/>
          </a:bodyPr>
          <a:lstStyle/>
          <a:p>
            <a:pPr algn="l">
              <a:spcBef>
                <a:spcPts val="0"/>
              </a:spcBef>
              <a:spcAft>
                <a:spcPts val="500"/>
              </a:spcAft>
            </a:pPr>
            <a:r>
              <a:rPr sz="1350" b="1" i="0">
                <a:solidFill>
                  <a:srgbClr val="9CC486"/>
                </a:solidFill>
                <a:latin typeface="Calibri"/>
              </a:rPr>
              <a:t>UPLIFT</a:t>
            </a:r>
          </a:p>
        </p:txBody>
      </p:sp>
      <p:sp>
        <p:nvSpPr>
          <p:cNvPr id="21" name="TextBox 20"/>
          <p:cNvSpPr txBox="1"/>
          <p:nvPr/>
        </p:nvSpPr>
        <p:spPr>
          <a:xfrm>
            <a:off x="9006840" y="5522976"/>
            <a:ext cx="2468880" cy="365760"/>
          </a:xfrm>
          <a:prstGeom prst="rect">
            <a:avLst/>
          </a:prstGeom>
          <a:noFill/>
        </p:spPr>
        <p:txBody>
          <a:bodyPr wrap="square" lIns="0" tIns="0" rIns="0" bIns="0" anchor="t">
            <a:spAutoFit/>
          </a:bodyPr>
          <a:lstStyle/>
          <a:p>
            <a:pPr algn="l">
              <a:spcBef>
                <a:spcPts val="0"/>
              </a:spcBef>
              <a:spcAft>
                <a:spcPts val="500"/>
              </a:spcAft>
            </a:pPr>
            <a:r>
              <a:rPr sz="1250" b="0" i="0">
                <a:solidFill>
                  <a:srgbClr val="DDD9CD"/>
                </a:solidFill>
                <a:latin typeface="Calibri"/>
              </a:rPr>
              <a:t>pushes back up</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2E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8229600" cy="365760"/>
          </a:xfrm>
          <a:prstGeom prst="rect">
            <a:avLst/>
          </a:prstGeom>
          <a:noFill/>
        </p:spPr>
        <p:txBody>
          <a:bodyPr wrap="square" lIns="0" tIns="0" rIns="0" bIns="0" anchor="t">
            <a:spAutoFit/>
          </a:bodyPr>
          <a:lstStyle/>
          <a:p>
            <a:pPr algn="l">
              <a:spcBef>
                <a:spcPts val="0"/>
              </a:spcBef>
              <a:spcAft>
                <a:spcPts val="500"/>
              </a:spcAft>
            </a:pPr>
            <a:r>
              <a:rPr sz="1250" b="1" i="0">
                <a:solidFill>
                  <a:srgbClr val="B85042"/>
                </a:solidFill>
                <a:latin typeface="Calibri"/>
              </a:rPr>
              <a:t>HOW THE DATA FLOWS</a:t>
            </a:r>
          </a:p>
        </p:txBody>
      </p:sp>
      <p:sp>
        <p:nvSpPr>
          <p:cNvPr id="4" name="TextBox 3"/>
          <p:cNvSpPr txBox="1"/>
          <p:nvPr/>
        </p:nvSpPr>
        <p:spPr>
          <a:xfrm>
            <a:off x="640080" y="676656"/>
            <a:ext cx="10515600" cy="777240"/>
          </a:xfrm>
          <a:prstGeom prst="rect">
            <a:avLst/>
          </a:prstGeom>
          <a:noFill/>
        </p:spPr>
        <p:txBody>
          <a:bodyPr wrap="square" lIns="0" tIns="0" rIns="0" bIns="0" anchor="t">
            <a:spAutoFit/>
          </a:bodyPr>
          <a:lstStyle/>
          <a:p>
            <a:pPr algn="l">
              <a:spcBef>
                <a:spcPts val="0"/>
              </a:spcBef>
              <a:spcAft>
                <a:spcPts val="500"/>
              </a:spcAft>
            </a:pPr>
            <a:r>
              <a:rPr sz="3100" b="1" i="0">
                <a:solidFill>
                  <a:srgbClr val="2C4A3E"/>
                </a:solidFill>
                <a:latin typeface="Calibri"/>
              </a:rPr>
              <a:t>From GeoTIFF to a Living Grid</a:t>
            </a:r>
          </a:p>
        </p:txBody>
      </p:sp>
      <p:sp>
        <p:nvSpPr>
          <p:cNvPr id="5" name="TextBox 4"/>
          <p:cNvSpPr txBox="1"/>
          <p:nvPr/>
        </p:nvSpPr>
        <p:spPr>
          <a:xfrm>
            <a:off x="640080" y="1225509"/>
            <a:ext cx="10881360" cy="365760"/>
          </a:xfrm>
          <a:prstGeom prst="rect">
            <a:avLst/>
          </a:prstGeom>
          <a:noFill/>
        </p:spPr>
        <p:txBody>
          <a:bodyPr wrap="square" lIns="0" tIns="0" rIns="0" bIns="0" anchor="t">
            <a:spAutoFit/>
          </a:bodyPr>
          <a:lstStyle/>
          <a:p>
            <a:pPr algn="l">
              <a:spcBef>
                <a:spcPts val="0"/>
              </a:spcBef>
              <a:spcAft>
                <a:spcPts val="500"/>
              </a:spcAft>
            </a:pPr>
            <a:r>
              <a:rPr sz="1400" b="0" i="0" dirty="0">
                <a:solidFill>
                  <a:srgbClr val="6E6A60"/>
                </a:solidFill>
                <a:latin typeface="Calibri"/>
              </a:rPr>
              <a:t>Your input is an elevation map — a </a:t>
            </a:r>
            <a:r>
              <a:rPr sz="1400" b="0" i="0" dirty="0" err="1">
                <a:solidFill>
                  <a:srgbClr val="6E6A60"/>
                </a:solidFill>
                <a:latin typeface="Calibri"/>
              </a:rPr>
              <a:t>GeoTIFF</a:t>
            </a:r>
            <a:r>
              <a:rPr sz="1400" b="0" i="0" dirty="0">
                <a:solidFill>
                  <a:srgbClr val="6E6A60"/>
                </a:solidFill>
                <a:latin typeface="Calibri"/>
              </a:rPr>
              <a:t> file, also called a DEM (Digital Elevation Model). Here's how it becomes a grid the components run on, and how it's saved back.</a:t>
            </a:r>
          </a:p>
        </p:txBody>
      </p:sp>
      <p:sp>
        <p:nvSpPr>
          <p:cNvPr id="6" name="Rounded Rectangle 5"/>
          <p:cNvSpPr/>
          <p:nvPr/>
        </p:nvSpPr>
        <p:spPr>
          <a:xfrm>
            <a:off x="640080" y="1783080"/>
            <a:ext cx="2615184" cy="2057400"/>
          </a:xfrm>
          <a:prstGeom prst="roundRect">
            <a:avLst>
              <a:gd name="adj" fmla="val 9000"/>
            </a:avLst>
          </a:prstGeom>
          <a:solidFill>
            <a:srgbClr val="FBF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877824" y="2002536"/>
            <a:ext cx="512064" cy="512064"/>
          </a:xfrm>
          <a:prstGeom prst="ellipse">
            <a:avLst/>
          </a:prstGeom>
          <a:solidFill>
            <a:srgbClr val="3E6B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77824" y="2002536"/>
            <a:ext cx="512064" cy="512064"/>
          </a:xfrm>
          <a:prstGeom prst="rect">
            <a:avLst/>
          </a:prstGeom>
          <a:noFill/>
        </p:spPr>
        <p:txBody>
          <a:bodyPr wrap="square" lIns="0" tIns="0" rIns="0" bIns="0" anchor="ctr">
            <a:spAutoFit/>
          </a:bodyPr>
          <a:lstStyle/>
          <a:p>
            <a:pPr algn="ctr">
              <a:spcBef>
                <a:spcPts val="0"/>
              </a:spcBef>
              <a:spcAft>
                <a:spcPts val="500"/>
              </a:spcAft>
            </a:pPr>
            <a:r>
              <a:rPr sz="2000" b="1" i="0">
                <a:solidFill>
                  <a:srgbClr val="FFFFFF"/>
                </a:solidFill>
                <a:latin typeface="Calibri"/>
              </a:rPr>
              <a:t>1</a:t>
            </a:r>
          </a:p>
        </p:txBody>
      </p:sp>
      <p:sp>
        <p:nvSpPr>
          <p:cNvPr id="9" name="TextBox 8"/>
          <p:cNvSpPr txBox="1"/>
          <p:nvPr/>
        </p:nvSpPr>
        <p:spPr>
          <a:xfrm>
            <a:off x="877824" y="2624328"/>
            <a:ext cx="2157984" cy="365760"/>
          </a:xfrm>
          <a:prstGeom prst="rect">
            <a:avLst/>
          </a:prstGeom>
          <a:noFill/>
        </p:spPr>
        <p:txBody>
          <a:bodyPr wrap="square" lIns="0" tIns="0" rIns="0" bIns="0" anchor="t">
            <a:spAutoFit/>
          </a:bodyPr>
          <a:lstStyle/>
          <a:p>
            <a:pPr algn="l">
              <a:spcBef>
                <a:spcPts val="0"/>
              </a:spcBef>
              <a:spcAft>
                <a:spcPts val="500"/>
              </a:spcAft>
            </a:pPr>
            <a:r>
              <a:rPr sz="1350" b="1" i="0">
                <a:solidFill>
                  <a:srgbClr val="2C4A3E"/>
                </a:solidFill>
                <a:latin typeface="Calibri"/>
              </a:rPr>
              <a:t>READ THE DEM</a:t>
            </a:r>
          </a:p>
        </p:txBody>
      </p:sp>
      <p:sp>
        <p:nvSpPr>
          <p:cNvPr id="10" name="TextBox 9"/>
          <p:cNvSpPr txBox="1"/>
          <p:nvPr/>
        </p:nvSpPr>
        <p:spPr>
          <a:xfrm>
            <a:off x="877824" y="2971800"/>
            <a:ext cx="2176272" cy="822960"/>
          </a:xfrm>
          <a:prstGeom prst="rect">
            <a:avLst/>
          </a:prstGeom>
          <a:noFill/>
        </p:spPr>
        <p:txBody>
          <a:bodyPr wrap="square" lIns="0" tIns="0" rIns="0" bIns="0" anchor="t">
            <a:spAutoFit/>
          </a:bodyPr>
          <a:lstStyle/>
          <a:p>
            <a:pPr algn="l">
              <a:spcBef>
                <a:spcPts val="0"/>
              </a:spcBef>
              <a:spcAft>
                <a:spcPts val="500"/>
              </a:spcAft>
            </a:pPr>
            <a:r>
              <a:rPr sz="1100" b="0" i="0">
                <a:solidFill>
                  <a:srgbClr val="6E6A60"/>
                </a:solidFill>
                <a:latin typeface="Calibri"/>
              </a:rPr>
              <a:t>rasterio reads the elevation pixels. If the map is in degrees, it's auto-reprojected to metres (UTM) so slopes &amp; areas are physical.</a:t>
            </a:r>
          </a:p>
        </p:txBody>
      </p:sp>
      <p:sp>
        <p:nvSpPr>
          <p:cNvPr id="11" name="TextBox 10"/>
          <p:cNvSpPr txBox="1"/>
          <p:nvPr/>
        </p:nvSpPr>
        <p:spPr>
          <a:xfrm>
            <a:off x="3218687" y="2093976"/>
            <a:ext cx="274320" cy="548640"/>
          </a:xfrm>
          <a:prstGeom prst="rect">
            <a:avLst/>
          </a:prstGeom>
          <a:noFill/>
        </p:spPr>
        <p:txBody>
          <a:bodyPr wrap="square" lIns="0" tIns="0" rIns="0" bIns="0" anchor="t">
            <a:spAutoFit/>
          </a:bodyPr>
          <a:lstStyle/>
          <a:p>
            <a:pPr algn="ctr">
              <a:spcBef>
                <a:spcPts val="0"/>
              </a:spcBef>
              <a:spcAft>
                <a:spcPts val="500"/>
              </a:spcAft>
            </a:pPr>
            <a:r>
              <a:rPr sz="2200" b="1" i="0">
                <a:solidFill>
                  <a:srgbClr val="6B8E5A"/>
                </a:solidFill>
                <a:latin typeface="Calibri"/>
              </a:rPr>
              <a:t>›</a:t>
            </a:r>
          </a:p>
        </p:txBody>
      </p:sp>
      <p:sp>
        <p:nvSpPr>
          <p:cNvPr id="12" name="Rounded Rectangle 11"/>
          <p:cNvSpPr/>
          <p:nvPr/>
        </p:nvSpPr>
        <p:spPr>
          <a:xfrm>
            <a:off x="3419856" y="1783080"/>
            <a:ext cx="2615184" cy="2057400"/>
          </a:xfrm>
          <a:prstGeom prst="roundRect">
            <a:avLst>
              <a:gd name="adj" fmla="val 9000"/>
            </a:avLst>
          </a:prstGeom>
          <a:solidFill>
            <a:srgbClr val="FBF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3657600" y="2002536"/>
            <a:ext cx="512064" cy="512064"/>
          </a:xfrm>
          <a:prstGeom prst="ellipse">
            <a:avLst/>
          </a:prstGeom>
          <a:solidFill>
            <a:srgbClr val="6B8E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657600" y="2002536"/>
            <a:ext cx="512064" cy="512064"/>
          </a:xfrm>
          <a:prstGeom prst="rect">
            <a:avLst/>
          </a:prstGeom>
          <a:noFill/>
        </p:spPr>
        <p:txBody>
          <a:bodyPr wrap="square" lIns="0" tIns="0" rIns="0" bIns="0" anchor="ctr">
            <a:spAutoFit/>
          </a:bodyPr>
          <a:lstStyle/>
          <a:p>
            <a:pPr algn="ctr">
              <a:spcBef>
                <a:spcPts val="0"/>
              </a:spcBef>
              <a:spcAft>
                <a:spcPts val="500"/>
              </a:spcAft>
            </a:pPr>
            <a:r>
              <a:rPr sz="2000" b="1" i="0">
                <a:solidFill>
                  <a:srgbClr val="FFFFFF"/>
                </a:solidFill>
                <a:latin typeface="Calibri"/>
              </a:rPr>
              <a:t>2</a:t>
            </a:r>
          </a:p>
        </p:txBody>
      </p:sp>
      <p:sp>
        <p:nvSpPr>
          <p:cNvPr id="15" name="TextBox 14"/>
          <p:cNvSpPr txBox="1"/>
          <p:nvPr/>
        </p:nvSpPr>
        <p:spPr>
          <a:xfrm>
            <a:off x="3657600" y="2624328"/>
            <a:ext cx="2157984" cy="365760"/>
          </a:xfrm>
          <a:prstGeom prst="rect">
            <a:avLst/>
          </a:prstGeom>
          <a:noFill/>
        </p:spPr>
        <p:txBody>
          <a:bodyPr wrap="square" lIns="0" tIns="0" rIns="0" bIns="0" anchor="t">
            <a:spAutoFit/>
          </a:bodyPr>
          <a:lstStyle/>
          <a:p>
            <a:pPr algn="l">
              <a:spcBef>
                <a:spcPts val="0"/>
              </a:spcBef>
              <a:spcAft>
                <a:spcPts val="500"/>
              </a:spcAft>
            </a:pPr>
            <a:r>
              <a:rPr sz="1350" b="1" i="0">
                <a:solidFill>
                  <a:srgbClr val="2C4A3E"/>
                </a:solidFill>
                <a:latin typeface="Calibri"/>
              </a:rPr>
              <a:t>BUILD THE GRID</a:t>
            </a:r>
          </a:p>
        </p:txBody>
      </p:sp>
      <p:sp>
        <p:nvSpPr>
          <p:cNvPr id="16" name="TextBox 15"/>
          <p:cNvSpPr txBox="1"/>
          <p:nvPr/>
        </p:nvSpPr>
        <p:spPr>
          <a:xfrm>
            <a:off x="3657600" y="2971800"/>
            <a:ext cx="2176272" cy="822960"/>
          </a:xfrm>
          <a:prstGeom prst="rect">
            <a:avLst/>
          </a:prstGeom>
          <a:noFill/>
        </p:spPr>
        <p:txBody>
          <a:bodyPr wrap="square" lIns="0" tIns="0" rIns="0" bIns="0" anchor="t">
            <a:spAutoFit/>
          </a:bodyPr>
          <a:lstStyle/>
          <a:p>
            <a:pPr algn="l">
              <a:spcBef>
                <a:spcPts val="0"/>
              </a:spcBef>
              <a:spcAft>
                <a:spcPts val="500"/>
              </a:spcAft>
            </a:pPr>
            <a:r>
              <a:rPr sz="1100" b="0" i="0">
                <a:solidFill>
                  <a:srgbClr val="6E6A60"/>
                </a:solidFill>
                <a:latin typeface="Calibri"/>
              </a:rPr>
              <a:t>Every pixel becomes a node in a Landlab grid, its height stored in topographic__elevation. Edges are then set as boundaries (see below).</a:t>
            </a:r>
          </a:p>
        </p:txBody>
      </p:sp>
      <p:sp>
        <p:nvSpPr>
          <p:cNvPr id="17" name="TextBox 16"/>
          <p:cNvSpPr txBox="1"/>
          <p:nvPr/>
        </p:nvSpPr>
        <p:spPr>
          <a:xfrm>
            <a:off x="5998464" y="2093976"/>
            <a:ext cx="274320" cy="548640"/>
          </a:xfrm>
          <a:prstGeom prst="rect">
            <a:avLst/>
          </a:prstGeom>
          <a:noFill/>
        </p:spPr>
        <p:txBody>
          <a:bodyPr wrap="square" lIns="0" tIns="0" rIns="0" bIns="0" anchor="t">
            <a:spAutoFit/>
          </a:bodyPr>
          <a:lstStyle/>
          <a:p>
            <a:pPr algn="ctr">
              <a:spcBef>
                <a:spcPts val="0"/>
              </a:spcBef>
              <a:spcAft>
                <a:spcPts val="500"/>
              </a:spcAft>
            </a:pPr>
            <a:r>
              <a:rPr sz="2200" b="1" i="0">
                <a:solidFill>
                  <a:srgbClr val="6B8E5A"/>
                </a:solidFill>
                <a:latin typeface="Calibri"/>
              </a:rPr>
              <a:t>›</a:t>
            </a:r>
          </a:p>
        </p:txBody>
      </p:sp>
      <p:sp>
        <p:nvSpPr>
          <p:cNvPr id="18" name="Rounded Rectangle 17"/>
          <p:cNvSpPr/>
          <p:nvPr/>
        </p:nvSpPr>
        <p:spPr>
          <a:xfrm>
            <a:off x="6199632" y="1783080"/>
            <a:ext cx="2615184" cy="2057400"/>
          </a:xfrm>
          <a:prstGeom prst="roundRect">
            <a:avLst>
              <a:gd name="adj" fmla="val 9000"/>
            </a:avLst>
          </a:prstGeom>
          <a:solidFill>
            <a:srgbClr val="FBF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6437376" y="2002536"/>
            <a:ext cx="512064" cy="512064"/>
          </a:xfrm>
          <a:prstGeom prst="ellipse">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37376" y="2002536"/>
            <a:ext cx="512064" cy="512064"/>
          </a:xfrm>
          <a:prstGeom prst="rect">
            <a:avLst/>
          </a:prstGeom>
          <a:noFill/>
        </p:spPr>
        <p:txBody>
          <a:bodyPr wrap="square" lIns="0" tIns="0" rIns="0" bIns="0" anchor="ctr">
            <a:spAutoFit/>
          </a:bodyPr>
          <a:lstStyle/>
          <a:p>
            <a:pPr algn="ctr">
              <a:spcBef>
                <a:spcPts val="0"/>
              </a:spcBef>
              <a:spcAft>
                <a:spcPts val="500"/>
              </a:spcAft>
            </a:pPr>
            <a:r>
              <a:rPr sz="2000" b="1" i="0">
                <a:solidFill>
                  <a:srgbClr val="FFFFFF"/>
                </a:solidFill>
                <a:latin typeface="Calibri"/>
              </a:rPr>
              <a:t>3</a:t>
            </a:r>
          </a:p>
        </p:txBody>
      </p:sp>
      <p:sp>
        <p:nvSpPr>
          <p:cNvPr id="21" name="TextBox 20"/>
          <p:cNvSpPr txBox="1"/>
          <p:nvPr/>
        </p:nvSpPr>
        <p:spPr>
          <a:xfrm>
            <a:off x="6437376" y="2624328"/>
            <a:ext cx="2157984" cy="365760"/>
          </a:xfrm>
          <a:prstGeom prst="rect">
            <a:avLst/>
          </a:prstGeom>
          <a:noFill/>
        </p:spPr>
        <p:txBody>
          <a:bodyPr wrap="square" lIns="0" tIns="0" rIns="0" bIns="0" anchor="t">
            <a:spAutoFit/>
          </a:bodyPr>
          <a:lstStyle/>
          <a:p>
            <a:pPr algn="l">
              <a:spcBef>
                <a:spcPts val="0"/>
              </a:spcBef>
              <a:spcAft>
                <a:spcPts val="500"/>
              </a:spcAft>
            </a:pPr>
            <a:r>
              <a:rPr sz="1350" b="1" i="0">
                <a:solidFill>
                  <a:srgbClr val="2C4A3E"/>
                </a:solidFill>
                <a:latin typeface="Calibri"/>
              </a:rPr>
              <a:t>RUN THE LOOP</a:t>
            </a:r>
          </a:p>
        </p:txBody>
      </p:sp>
      <p:sp>
        <p:nvSpPr>
          <p:cNvPr id="22" name="TextBox 21"/>
          <p:cNvSpPr txBox="1"/>
          <p:nvPr/>
        </p:nvSpPr>
        <p:spPr>
          <a:xfrm>
            <a:off x="6437376" y="2971800"/>
            <a:ext cx="2176272" cy="822960"/>
          </a:xfrm>
          <a:prstGeom prst="rect">
            <a:avLst/>
          </a:prstGeom>
          <a:noFill/>
        </p:spPr>
        <p:txBody>
          <a:bodyPr wrap="square" lIns="0" tIns="0" rIns="0" bIns="0" anchor="t">
            <a:spAutoFit/>
          </a:bodyPr>
          <a:lstStyle/>
          <a:p>
            <a:pPr algn="l">
              <a:spcBef>
                <a:spcPts val="0"/>
              </a:spcBef>
              <a:spcAft>
                <a:spcPts val="500"/>
              </a:spcAft>
            </a:pPr>
            <a:r>
              <a:rPr sz="1100" b="0" i="0">
                <a:solidFill>
                  <a:srgbClr val="6E6A60"/>
                </a:solidFill>
                <a:latin typeface="Calibri"/>
              </a:rPr>
              <a:t>Each timestep the components read &amp; write shared fields on the SAME grid — updating elevation, soil and drainage in place.</a:t>
            </a:r>
          </a:p>
        </p:txBody>
      </p:sp>
      <p:sp>
        <p:nvSpPr>
          <p:cNvPr id="23" name="TextBox 22"/>
          <p:cNvSpPr txBox="1"/>
          <p:nvPr/>
        </p:nvSpPr>
        <p:spPr>
          <a:xfrm>
            <a:off x="8778240" y="2093976"/>
            <a:ext cx="274320" cy="548640"/>
          </a:xfrm>
          <a:prstGeom prst="rect">
            <a:avLst/>
          </a:prstGeom>
          <a:noFill/>
        </p:spPr>
        <p:txBody>
          <a:bodyPr wrap="square" lIns="0" tIns="0" rIns="0" bIns="0" anchor="t">
            <a:spAutoFit/>
          </a:bodyPr>
          <a:lstStyle/>
          <a:p>
            <a:pPr algn="ctr">
              <a:spcBef>
                <a:spcPts val="0"/>
              </a:spcBef>
              <a:spcAft>
                <a:spcPts val="500"/>
              </a:spcAft>
            </a:pPr>
            <a:r>
              <a:rPr sz="2200" b="1" i="0">
                <a:solidFill>
                  <a:srgbClr val="6B8E5A"/>
                </a:solidFill>
                <a:latin typeface="Calibri"/>
              </a:rPr>
              <a:t>›</a:t>
            </a:r>
          </a:p>
        </p:txBody>
      </p:sp>
      <p:sp>
        <p:nvSpPr>
          <p:cNvPr id="24" name="Rounded Rectangle 23"/>
          <p:cNvSpPr/>
          <p:nvPr/>
        </p:nvSpPr>
        <p:spPr>
          <a:xfrm>
            <a:off x="8979408" y="1783080"/>
            <a:ext cx="2615184" cy="2057400"/>
          </a:xfrm>
          <a:prstGeom prst="roundRect">
            <a:avLst>
              <a:gd name="adj" fmla="val 9000"/>
            </a:avLst>
          </a:prstGeom>
          <a:solidFill>
            <a:srgbClr val="FBF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9217152" y="2002536"/>
            <a:ext cx="512064" cy="512064"/>
          </a:xfrm>
          <a:prstGeom prst="ellipse">
            <a:avLst/>
          </a:prstGeom>
          <a:solidFill>
            <a:srgbClr val="8A6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217152" y="2002536"/>
            <a:ext cx="512064" cy="512064"/>
          </a:xfrm>
          <a:prstGeom prst="rect">
            <a:avLst/>
          </a:prstGeom>
          <a:noFill/>
        </p:spPr>
        <p:txBody>
          <a:bodyPr wrap="square" lIns="0" tIns="0" rIns="0" bIns="0" anchor="ctr">
            <a:spAutoFit/>
          </a:bodyPr>
          <a:lstStyle/>
          <a:p>
            <a:pPr algn="ctr">
              <a:spcBef>
                <a:spcPts val="0"/>
              </a:spcBef>
              <a:spcAft>
                <a:spcPts val="500"/>
              </a:spcAft>
            </a:pPr>
            <a:r>
              <a:rPr sz="2000" b="1" i="0">
                <a:solidFill>
                  <a:srgbClr val="FFFFFF"/>
                </a:solidFill>
                <a:latin typeface="Calibri"/>
              </a:rPr>
              <a:t>4</a:t>
            </a:r>
          </a:p>
        </p:txBody>
      </p:sp>
      <p:sp>
        <p:nvSpPr>
          <p:cNvPr id="27" name="TextBox 26"/>
          <p:cNvSpPr txBox="1"/>
          <p:nvPr/>
        </p:nvSpPr>
        <p:spPr>
          <a:xfrm>
            <a:off x="9217152" y="2624328"/>
            <a:ext cx="2157984" cy="365760"/>
          </a:xfrm>
          <a:prstGeom prst="rect">
            <a:avLst/>
          </a:prstGeom>
          <a:noFill/>
        </p:spPr>
        <p:txBody>
          <a:bodyPr wrap="square" lIns="0" tIns="0" rIns="0" bIns="0" anchor="t">
            <a:spAutoFit/>
          </a:bodyPr>
          <a:lstStyle/>
          <a:p>
            <a:pPr algn="l">
              <a:spcBef>
                <a:spcPts val="0"/>
              </a:spcBef>
              <a:spcAft>
                <a:spcPts val="500"/>
              </a:spcAft>
            </a:pPr>
            <a:r>
              <a:rPr sz="1350" b="1" i="0">
                <a:solidFill>
                  <a:srgbClr val="2C4A3E"/>
                </a:solidFill>
                <a:latin typeface="Calibri"/>
              </a:rPr>
              <a:t>SAVE BACK</a:t>
            </a:r>
          </a:p>
        </p:txBody>
      </p:sp>
      <p:sp>
        <p:nvSpPr>
          <p:cNvPr id="28" name="TextBox 27"/>
          <p:cNvSpPr txBox="1"/>
          <p:nvPr/>
        </p:nvSpPr>
        <p:spPr>
          <a:xfrm>
            <a:off x="9217152" y="2971800"/>
            <a:ext cx="2176272" cy="822960"/>
          </a:xfrm>
          <a:prstGeom prst="rect">
            <a:avLst/>
          </a:prstGeom>
          <a:noFill/>
        </p:spPr>
        <p:txBody>
          <a:bodyPr wrap="square" lIns="0" tIns="0" rIns="0" bIns="0" anchor="t">
            <a:spAutoFit/>
          </a:bodyPr>
          <a:lstStyle/>
          <a:p>
            <a:pPr algn="l">
              <a:spcBef>
                <a:spcPts val="0"/>
              </a:spcBef>
              <a:spcAft>
                <a:spcPts val="500"/>
              </a:spcAft>
            </a:pPr>
            <a:r>
              <a:rPr sz="1100" b="0" i="0">
                <a:solidFill>
                  <a:srgbClr val="6E6A60"/>
                </a:solidFill>
                <a:latin typeface="Calibri"/>
              </a:rPr>
              <a:t>The final grid is written to a GeoTIFF using the saved real-world position, so results line up in QGIS / ArcGIS.</a:t>
            </a:r>
          </a:p>
        </p:txBody>
      </p:sp>
      <p:sp>
        <p:nvSpPr>
          <p:cNvPr id="29" name="Rounded Rectangle 28"/>
          <p:cNvSpPr/>
          <p:nvPr/>
        </p:nvSpPr>
        <p:spPr>
          <a:xfrm>
            <a:off x="640080" y="4114800"/>
            <a:ext cx="5440680" cy="2331720"/>
          </a:xfrm>
          <a:prstGeom prst="roundRect">
            <a:avLst>
              <a:gd name="adj" fmla="val 8000"/>
            </a:avLst>
          </a:prstGeom>
          <a:solidFill>
            <a:srgbClr val="2C4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14400" y="4315968"/>
            <a:ext cx="4937760" cy="365760"/>
          </a:xfrm>
          <a:prstGeom prst="rect">
            <a:avLst/>
          </a:prstGeom>
          <a:noFill/>
        </p:spPr>
        <p:txBody>
          <a:bodyPr wrap="square" lIns="0" tIns="0" rIns="0" bIns="0" anchor="t">
            <a:spAutoFit/>
          </a:bodyPr>
          <a:lstStyle/>
          <a:p>
            <a:pPr algn="l">
              <a:spcBef>
                <a:spcPts val="0"/>
              </a:spcBef>
              <a:spcAft>
                <a:spcPts val="500"/>
              </a:spcAft>
            </a:pPr>
            <a:r>
              <a:rPr sz="1200" b="1" i="0">
                <a:solidFill>
                  <a:srgbClr val="D9846B"/>
                </a:solidFill>
                <a:latin typeface="Calibri"/>
              </a:rPr>
              <a:t>BOUNDARY CONDITIONS — WHERE WATER CAN LEAVE</a:t>
            </a:r>
          </a:p>
        </p:txBody>
      </p:sp>
      <p:sp>
        <p:nvSpPr>
          <p:cNvPr id="31" name="TextBox 30"/>
          <p:cNvSpPr txBox="1"/>
          <p:nvPr/>
        </p:nvSpPr>
        <p:spPr>
          <a:xfrm>
            <a:off x="914400" y="4645152"/>
            <a:ext cx="4937760" cy="1005840"/>
          </a:xfrm>
          <a:prstGeom prst="rect">
            <a:avLst/>
          </a:prstGeom>
          <a:noFill/>
        </p:spPr>
        <p:txBody>
          <a:bodyPr wrap="square" lIns="0" tIns="0" rIns="0" bIns="0" anchor="t">
            <a:spAutoFit/>
          </a:bodyPr>
          <a:lstStyle/>
          <a:p>
            <a:pPr algn="l">
              <a:spcBef>
                <a:spcPts val="0"/>
              </a:spcBef>
              <a:spcAft>
                <a:spcPts val="500"/>
              </a:spcAft>
            </a:pPr>
            <a:r>
              <a:rPr sz="1100" b="0" i="0">
                <a:solidFill>
                  <a:srgbClr val="E7E3D7"/>
                </a:solidFill>
                <a:latin typeface="Calibri"/>
              </a:rPr>
              <a:t>The grid edges decide where water exits. LandEvolve closes every empty (NoData) cell and the whole perimeter, then opens just the single lowest edge cell as the outlet — the catchment's drain and base level. (If several edge cells tie for lowest, it auto-picks the pour point — the largest-drainage edge cell — instead of failing.)</a:t>
            </a:r>
          </a:p>
        </p:txBody>
      </p:sp>
      <p:sp>
        <p:nvSpPr>
          <p:cNvPr id="32" name="Rectangle 31"/>
          <p:cNvSpPr/>
          <p:nvPr/>
        </p:nvSpPr>
        <p:spPr>
          <a:xfrm>
            <a:off x="914400" y="5687568"/>
            <a:ext cx="201168" cy="201168"/>
          </a:xfrm>
          <a:prstGeom prst="rect">
            <a:avLst/>
          </a:prstGeom>
          <a:solidFill>
            <a:srgbClr val="D984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207007" y="5660136"/>
            <a:ext cx="4572000" cy="274320"/>
          </a:xfrm>
          <a:prstGeom prst="rect">
            <a:avLst/>
          </a:prstGeom>
          <a:noFill/>
        </p:spPr>
        <p:txBody>
          <a:bodyPr wrap="square" lIns="0" tIns="0" rIns="0" bIns="0" anchor="t">
            <a:spAutoFit/>
          </a:bodyPr>
          <a:lstStyle/>
          <a:p>
            <a:pPr algn="l">
              <a:spcBef>
                <a:spcPts val="0"/>
              </a:spcBef>
              <a:spcAft>
                <a:spcPts val="500"/>
              </a:spcAft>
            </a:pPr>
            <a:r>
              <a:rPr sz="1100" b="0" i="0">
                <a:solidFill>
                  <a:srgbClr val="DDD9CD"/>
                </a:solidFill>
                <a:latin typeface="Calibri"/>
              </a:rPr>
              <a:t>Closed — NoData cells &amp; perimeter: no flow across</a:t>
            </a:r>
          </a:p>
        </p:txBody>
      </p:sp>
      <p:sp>
        <p:nvSpPr>
          <p:cNvPr id="34" name="Oval 33"/>
          <p:cNvSpPr/>
          <p:nvPr/>
        </p:nvSpPr>
        <p:spPr>
          <a:xfrm>
            <a:off x="914400" y="5998464"/>
            <a:ext cx="201168" cy="201168"/>
          </a:xfrm>
          <a:prstGeom prst="ellipse">
            <a:avLst/>
          </a:prstGeom>
          <a:solidFill>
            <a:srgbClr val="9CC4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207007" y="5971031"/>
            <a:ext cx="4572000" cy="274320"/>
          </a:xfrm>
          <a:prstGeom prst="rect">
            <a:avLst/>
          </a:prstGeom>
          <a:noFill/>
        </p:spPr>
        <p:txBody>
          <a:bodyPr wrap="square" lIns="0" tIns="0" rIns="0" bIns="0" anchor="t">
            <a:spAutoFit/>
          </a:bodyPr>
          <a:lstStyle/>
          <a:p>
            <a:pPr algn="l">
              <a:spcBef>
                <a:spcPts val="0"/>
              </a:spcBef>
              <a:spcAft>
                <a:spcPts val="500"/>
              </a:spcAft>
            </a:pPr>
            <a:r>
              <a:rPr sz="1100" b="0" i="0">
                <a:solidFill>
                  <a:srgbClr val="DDD9CD"/>
                </a:solidFill>
                <a:latin typeface="Calibri"/>
              </a:rPr>
              <a:t>Open outlet — the one lowest edge cell water drains to</a:t>
            </a:r>
          </a:p>
        </p:txBody>
      </p:sp>
      <p:sp>
        <p:nvSpPr>
          <p:cNvPr id="36" name="Rounded Rectangle 35"/>
          <p:cNvSpPr/>
          <p:nvPr/>
        </p:nvSpPr>
        <p:spPr>
          <a:xfrm>
            <a:off x="6309360" y="4114800"/>
            <a:ext cx="5239512" cy="2331720"/>
          </a:xfrm>
          <a:prstGeom prst="roundRect">
            <a:avLst>
              <a:gd name="adj" fmla="val 8000"/>
            </a:avLst>
          </a:prstGeom>
          <a:solidFill>
            <a:srgbClr val="2036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583680" y="4315968"/>
            <a:ext cx="4663440" cy="365760"/>
          </a:xfrm>
          <a:prstGeom prst="rect">
            <a:avLst/>
          </a:prstGeom>
          <a:noFill/>
        </p:spPr>
        <p:txBody>
          <a:bodyPr wrap="square" lIns="0" tIns="0" rIns="0" bIns="0" anchor="t">
            <a:spAutoFit/>
          </a:bodyPr>
          <a:lstStyle/>
          <a:p>
            <a:pPr algn="l">
              <a:spcBef>
                <a:spcPts val="0"/>
              </a:spcBef>
              <a:spcAft>
                <a:spcPts val="500"/>
              </a:spcAft>
            </a:pPr>
            <a:r>
              <a:rPr sz="1200" b="1" i="0">
                <a:solidFill>
                  <a:srgbClr val="9CC486"/>
                </a:solidFill>
                <a:latin typeface="Calibri"/>
              </a:rPr>
              <a:t>THE SHARED GRID FIELDS</a:t>
            </a:r>
          </a:p>
        </p:txBody>
      </p:sp>
      <p:sp>
        <p:nvSpPr>
          <p:cNvPr id="38" name="TextBox 37"/>
          <p:cNvSpPr txBox="1"/>
          <p:nvPr/>
        </p:nvSpPr>
        <p:spPr>
          <a:xfrm>
            <a:off x="6583680" y="4645152"/>
            <a:ext cx="4663440" cy="548640"/>
          </a:xfrm>
          <a:prstGeom prst="rect">
            <a:avLst/>
          </a:prstGeom>
          <a:noFill/>
        </p:spPr>
        <p:txBody>
          <a:bodyPr wrap="square" lIns="0" tIns="0" rIns="0" bIns="0" anchor="t">
            <a:spAutoFit/>
          </a:bodyPr>
          <a:lstStyle/>
          <a:p>
            <a:pPr algn="l">
              <a:spcBef>
                <a:spcPts val="0"/>
              </a:spcBef>
              <a:spcAft>
                <a:spcPts val="500"/>
              </a:spcAft>
            </a:pPr>
            <a:r>
              <a:rPr sz="1150" b="0" i="0">
                <a:solidFill>
                  <a:srgbClr val="DDD9CD"/>
                </a:solidFill>
                <a:latin typeface="Calibri"/>
              </a:rPr>
              <a:t>Components don't call each other — they read &amp; write these named layers on the one grid:</a:t>
            </a:r>
          </a:p>
        </p:txBody>
      </p:sp>
      <p:sp>
        <p:nvSpPr>
          <p:cNvPr id="39" name="Rounded Rectangle 38"/>
          <p:cNvSpPr/>
          <p:nvPr/>
        </p:nvSpPr>
        <p:spPr>
          <a:xfrm>
            <a:off x="6583680" y="5321808"/>
            <a:ext cx="1706270" cy="310896"/>
          </a:xfrm>
          <a:prstGeom prst="roundRect">
            <a:avLst>
              <a:gd name="adj" fmla="val 50000"/>
            </a:avLst>
          </a:prstGeom>
          <a:noFill/>
          <a:ln w="12700">
            <a:solidFill>
              <a:srgbClr val="6B8E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583680" y="5349240"/>
            <a:ext cx="1706270" cy="256032"/>
          </a:xfrm>
          <a:prstGeom prst="rect">
            <a:avLst/>
          </a:prstGeom>
          <a:noFill/>
        </p:spPr>
        <p:txBody>
          <a:bodyPr wrap="square" lIns="0" tIns="0" rIns="0" bIns="0" anchor="ctr">
            <a:spAutoFit/>
          </a:bodyPr>
          <a:lstStyle/>
          <a:p>
            <a:pPr algn="ctr">
              <a:spcBef>
                <a:spcPts val="0"/>
              </a:spcBef>
              <a:spcAft>
                <a:spcPts val="500"/>
              </a:spcAft>
            </a:pPr>
            <a:r>
              <a:rPr sz="950" b="1" i="0">
                <a:solidFill>
                  <a:srgbClr val="E7E3D7"/>
                </a:solidFill>
                <a:latin typeface="Courier New"/>
              </a:rPr>
              <a:t>topographic__elevation</a:t>
            </a:r>
          </a:p>
        </p:txBody>
      </p:sp>
      <p:sp>
        <p:nvSpPr>
          <p:cNvPr id="41" name="Rounded Rectangle 40"/>
          <p:cNvSpPr/>
          <p:nvPr/>
        </p:nvSpPr>
        <p:spPr>
          <a:xfrm>
            <a:off x="8399678" y="5321808"/>
            <a:ext cx="972007" cy="310896"/>
          </a:xfrm>
          <a:prstGeom prst="roundRect">
            <a:avLst>
              <a:gd name="adj" fmla="val 50000"/>
            </a:avLst>
          </a:prstGeom>
          <a:noFill/>
          <a:ln w="12700">
            <a:solidFill>
              <a:srgbClr val="6B8E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8399678" y="5349240"/>
            <a:ext cx="972007" cy="256032"/>
          </a:xfrm>
          <a:prstGeom prst="rect">
            <a:avLst/>
          </a:prstGeom>
          <a:noFill/>
        </p:spPr>
        <p:txBody>
          <a:bodyPr wrap="square" lIns="0" tIns="0" rIns="0" bIns="0" anchor="ctr">
            <a:spAutoFit/>
          </a:bodyPr>
          <a:lstStyle/>
          <a:p>
            <a:pPr algn="ctr">
              <a:spcBef>
                <a:spcPts val="0"/>
              </a:spcBef>
              <a:spcAft>
                <a:spcPts val="500"/>
              </a:spcAft>
            </a:pPr>
            <a:r>
              <a:rPr sz="950" b="1" i="0">
                <a:solidFill>
                  <a:srgbClr val="E7E3D7"/>
                </a:solidFill>
                <a:latin typeface="Courier New"/>
              </a:rPr>
              <a:t>soil__depth</a:t>
            </a:r>
          </a:p>
        </p:txBody>
      </p:sp>
      <p:sp>
        <p:nvSpPr>
          <p:cNvPr id="43" name="Rounded Rectangle 42"/>
          <p:cNvSpPr/>
          <p:nvPr/>
        </p:nvSpPr>
        <p:spPr>
          <a:xfrm>
            <a:off x="9481413" y="5321808"/>
            <a:ext cx="1439265" cy="310896"/>
          </a:xfrm>
          <a:prstGeom prst="roundRect">
            <a:avLst>
              <a:gd name="adj" fmla="val 50000"/>
            </a:avLst>
          </a:prstGeom>
          <a:noFill/>
          <a:ln w="12700">
            <a:solidFill>
              <a:srgbClr val="6B8E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9481413" y="5349240"/>
            <a:ext cx="1439265" cy="256032"/>
          </a:xfrm>
          <a:prstGeom prst="rect">
            <a:avLst/>
          </a:prstGeom>
          <a:noFill/>
        </p:spPr>
        <p:txBody>
          <a:bodyPr wrap="square" lIns="0" tIns="0" rIns="0" bIns="0" anchor="ctr">
            <a:spAutoFit/>
          </a:bodyPr>
          <a:lstStyle/>
          <a:p>
            <a:pPr algn="ctr">
              <a:spcBef>
                <a:spcPts val="0"/>
              </a:spcBef>
              <a:spcAft>
                <a:spcPts val="500"/>
              </a:spcAft>
            </a:pPr>
            <a:r>
              <a:rPr sz="950" b="1" i="0">
                <a:solidFill>
                  <a:srgbClr val="E7E3D7"/>
                </a:solidFill>
                <a:latin typeface="Courier New"/>
              </a:rPr>
              <a:t>bedrock__elevation</a:t>
            </a:r>
          </a:p>
        </p:txBody>
      </p:sp>
      <p:sp>
        <p:nvSpPr>
          <p:cNvPr id="45" name="Rounded Rectangle 44"/>
          <p:cNvSpPr/>
          <p:nvPr/>
        </p:nvSpPr>
        <p:spPr>
          <a:xfrm>
            <a:off x="6583680" y="5705856"/>
            <a:ext cx="1105509" cy="310896"/>
          </a:xfrm>
          <a:prstGeom prst="roundRect">
            <a:avLst>
              <a:gd name="adj" fmla="val 50000"/>
            </a:avLst>
          </a:prstGeom>
          <a:noFill/>
          <a:ln w="12700">
            <a:solidFill>
              <a:srgbClr val="6B8E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6583680" y="5733288"/>
            <a:ext cx="1105509" cy="256032"/>
          </a:xfrm>
          <a:prstGeom prst="rect">
            <a:avLst/>
          </a:prstGeom>
          <a:noFill/>
        </p:spPr>
        <p:txBody>
          <a:bodyPr wrap="square" lIns="0" tIns="0" rIns="0" bIns="0" anchor="ctr">
            <a:spAutoFit/>
          </a:bodyPr>
          <a:lstStyle/>
          <a:p>
            <a:pPr algn="ctr">
              <a:spcBef>
                <a:spcPts val="0"/>
              </a:spcBef>
              <a:spcAft>
                <a:spcPts val="500"/>
              </a:spcAft>
            </a:pPr>
            <a:r>
              <a:rPr sz="950" b="1" i="0">
                <a:solidFill>
                  <a:srgbClr val="E7E3D7"/>
                </a:solidFill>
                <a:latin typeface="Courier New"/>
              </a:rPr>
              <a:t>drainage_area</a:t>
            </a:r>
          </a:p>
        </p:txBody>
      </p:sp>
      <p:sp>
        <p:nvSpPr>
          <p:cNvPr id="47" name="Rounded Rectangle 46"/>
          <p:cNvSpPr/>
          <p:nvPr/>
        </p:nvSpPr>
        <p:spPr>
          <a:xfrm>
            <a:off x="7798917" y="5705856"/>
            <a:ext cx="1839772" cy="310896"/>
          </a:xfrm>
          <a:prstGeom prst="roundRect">
            <a:avLst>
              <a:gd name="adj" fmla="val 50000"/>
            </a:avLst>
          </a:prstGeom>
          <a:noFill/>
          <a:ln w="12700">
            <a:solidFill>
              <a:srgbClr val="6B8E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7798917" y="5733288"/>
            <a:ext cx="1839772" cy="256032"/>
          </a:xfrm>
          <a:prstGeom prst="rect">
            <a:avLst/>
          </a:prstGeom>
          <a:noFill/>
        </p:spPr>
        <p:txBody>
          <a:bodyPr wrap="square" lIns="0" tIns="0" rIns="0" bIns="0" anchor="ctr">
            <a:spAutoFit/>
          </a:bodyPr>
          <a:lstStyle/>
          <a:p>
            <a:pPr algn="ctr">
              <a:spcBef>
                <a:spcPts val="0"/>
              </a:spcBef>
              <a:spcAft>
                <a:spcPts val="500"/>
              </a:spcAft>
            </a:pPr>
            <a:r>
              <a:rPr sz="950" b="1" i="0">
                <a:solidFill>
                  <a:srgbClr val="E7E3D7"/>
                </a:solidFill>
                <a:latin typeface="Courier New"/>
              </a:rPr>
              <a:t>surface_water__discharge</a:t>
            </a:r>
          </a:p>
        </p:txBody>
      </p:sp>
      <p:sp>
        <p:nvSpPr>
          <p:cNvPr id="49" name="Rounded Rectangle 48"/>
          <p:cNvSpPr/>
          <p:nvPr/>
        </p:nvSpPr>
        <p:spPr>
          <a:xfrm>
            <a:off x="9748418" y="5705856"/>
            <a:ext cx="1506016" cy="310896"/>
          </a:xfrm>
          <a:prstGeom prst="roundRect">
            <a:avLst>
              <a:gd name="adj" fmla="val 50000"/>
            </a:avLst>
          </a:prstGeom>
          <a:noFill/>
          <a:ln w="12700">
            <a:solidFill>
              <a:srgbClr val="6B8E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9748418" y="5733288"/>
            <a:ext cx="1506016" cy="256032"/>
          </a:xfrm>
          <a:prstGeom prst="rect">
            <a:avLst/>
          </a:prstGeom>
          <a:noFill/>
        </p:spPr>
        <p:txBody>
          <a:bodyPr wrap="square" lIns="0" tIns="0" rIns="0" bIns="0" anchor="ctr">
            <a:spAutoFit/>
          </a:bodyPr>
          <a:lstStyle/>
          <a:p>
            <a:pPr algn="ctr">
              <a:spcBef>
                <a:spcPts val="0"/>
              </a:spcBef>
              <a:spcAft>
                <a:spcPts val="500"/>
              </a:spcAft>
            </a:pPr>
            <a:r>
              <a:rPr sz="950" b="1" i="0">
                <a:solidFill>
                  <a:srgbClr val="E7E3D7"/>
                </a:solidFill>
                <a:latin typeface="Courier New"/>
              </a:rPr>
              <a:t>water__unit_flux_in</a:t>
            </a:r>
          </a:p>
        </p:txBody>
      </p:sp>
      <p:sp>
        <p:nvSpPr>
          <p:cNvPr id="51" name="Rounded Rectangle 50"/>
          <p:cNvSpPr/>
          <p:nvPr/>
        </p:nvSpPr>
        <p:spPr>
          <a:xfrm>
            <a:off x="6583680" y="6089904"/>
            <a:ext cx="504748" cy="310896"/>
          </a:xfrm>
          <a:prstGeom prst="roundRect">
            <a:avLst>
              <a:gd name="adj" fmla="val 50000"/>
            </a:avLst>
          </a:prstGeom>
          <a:noFill/>
          <a:ln w="12700">
            <a:solidFill>
              <a:srgbClr val="6B8E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6583680" y="6117336"/>
            <a:ext cx="504748" cy="256032"/>
          </a:xfrm>
          <a:prstGeom prst="rect">
            <a:avLst/>
          </a:prstGeom>
          <a:noFill/>
        </p:spPr>
        <p:txBody>
          <a:bodyPr wrap="square" lIns="0" tIns="0" rIns="0" bIns="0" anchor="ctr">
            <a:spAutoFit/>
          </a:bodyPr>
          <a:lstStyle/>
          <a:p>
            <a:pPr algn="ctr">
              <a:spcBef>
                <a:spcPts val="0"/>
              </a:spcBef>
              <a:spcAft>
                <a:spcPts val="500"/>
              </a:spcAft>
            </a:pPr>
            <a:r>
              <a:rPr sz="950" b="1" i="0">
                <a:solidFill>
                  <a:srgbClr val="E7E3D7"/>
                </a:solidFill>
                <a:latin typeface="Courier New"/>
              </a:rPr>
              <a:t>K_sp</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2E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8229600" cy="365760"/>
          </a:xfrm>
          <a:prstGeom prst="rect">
            <a:avLst/>
          </a:prstGeom>
          <a:noFill/>
        </p:spPr>
        <p:txBody>
          <a:bodyPr wrap="square" lIns="0" tIns="0" rIns="0" bIns="0" anchor="t">
            <a:spAutoFit/>
          </a:bodyPr>
          <a:lstStyle/>
          <a:p>
            <a:pPr algn="l">
              <a:spcBef>
                <a:spcPts val="0"/>
              </a:spcBef>
              <a:spcAft>
                <a:spcPts val="500"/>
              </a:spcAft>
            </a:pPr>
            <a:r>
              <a:rPr sz="1250" b="1" i="0">
                <a:solidFill>
                  <a:srgbClr val="B85042"/>
                </a:solidFill>
                <a:latin typeface="Calibri"/>
              </a:rPr>
              <a:t>COMPONENT · FLOW ACCUMULATOR</a:t>
            </a:r>
          </a:p>
        </p:txBody>
      </p:sp>
      <p:sp>
        <p:nvSpPr>
          <p:cNvPr id="4" name="TextBox 3"/>
          <p:cNvSpPr txBox="1"/>
          <p:nvPr/>
        </p:nvSpPr>
        <p:spPr>
          <a:xfrm>
            <a:off x="640080" y="676656"/>
            <a:ext cx="8595360" cy="777240"/>
          </a:xfrm>
          <a:prstGeom prst="rect">
            <a:avLst/>
          </a:prstGeom>
          <a:noFill/>
        </p:spPr>
        <p:txBody>
          <a:bodyPr wrap="square" lIns="0" tIns="0" rIns="0" bIns="0" anchor="t">
            <a:spAutoFit/>
          </a:bodyPr>
          <a:lstStyle/>
          <a:p>
            <a:pPr algn="l">
              <a:spcBef>
                <a:spcPts val="0"/>
              </a:spcBef>
              <a:spcAft>
                <a:spcPts val="500"/>
              </a:spcAft>
            </a:pPr>
            <a:r>
              <a:rPr sz="3100" b="1" i="0">
                <a:solidFill>
                  <a:srgbClr val="2C4A3E"/>
                </a:solidFill>
                <a:latin typeface="Calibri"/>
              </a:rPr>
              <a:t>Flow Accumulator</a:t>
            </a:r>
          </a:p>
        </p:txBody>
      </p:sp>
      <p:sp>
        <p:nvSpPr>
          <p:cNvPr id="5" name="Rounded Rectangle 4"/>
          <p:cNvSpPr/>
          <p:nvPr/>
        </p:nvSpPr>
        <p:spPr>
          <a:xfrm>
            <a:off x="9733788" y="548640"/>
            <a:ext cx="1815084" cy="384048"/>
          </a:xfrm>
          <a:prstGeom prst="roundRect">
            <a:avLst>
              <a:gd name="adj" fmla="val 50000"/>
            </a:avLst>
          </a:prstGeom>
          <a:solidFill>
            <a:srgbClr val="6B8E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733788" y="562356"/>
            <a:ext cx="1815084" cy="365760"/>
          </a:xfrm>
          <a:prstGeom prst="rect">
            <a:avLst/>
          </a:prstGeom>
          <a:noFill/>
        </p:spPr>
        <p:txBody>
          <a:bodyPr wrap="square" lIns="0" tIns="0" rIns="0" bIns="0" anchor="ctr">
            <a:spAutoFit/>
          </a:bodyPr>
          <a:lstStyle/>
          <a:p>
            <a:pPr algn="ctr">
              <a:spcBef>
                <a:spcPts val="0"/>
              </a:spcBef>
              <a:spcAft>
                <a:spcPts val="500"/>
              </a:spcAft>
            </a:pPr>
            <a:r>
              <a:rPr sz="1150" b="1" i="0">
                <a:solidFill>
                  <a:srgbClr val="FFFFFF"/>
                </a:solidFill>
                <a:latin typeface="Calibri"/>
              </a:rPr>
              <a:t>● LANDLAB WRAPPER</a:t>
            </a:r>
          </a:p>
        </p:txBody>
      </p:sp>
      <p:sp>
        <p:nvSpPr>
          <p:cNvPr id="7" name="TextBox 6"/>
          <p:cNvSpPr txBox="1"/>
          <p:nvPr/>
        </p:nvSpPr>
        <p:spPr>
          <a:xfrm>
            <a:off x="640080" y="1417320"/>
            <a:ext cx="5669280" cy="320040"/>
          </a:xfrm>
          <a:prstGeom prst="rect">
            <a:avLst/>
          </a:prstGeom>
          <a:noFill/>
        </p:spPr>
        <p:txBody>
          <a:bodyPr wrap="square" lIns="0" tIns="0" rIns="0" bIns="0" anchor="t">
            <a:spAutoFit/>
          </a:bodyPr>
          <a:lstStyle/>
          <a:p>
            <a:pPr algn="l">
              <a:spcBef>
                <a:spcPts val="0"/>
              </a:spcBef>
              <a:spcAft>
                <a:spcPts val="500"/>
              </a:spcAft>
            </a:pPr>
            <a:r>
              <a:rPr sz="1250" b="1" i="0">
                <a:solidFill>
                  <a:srgbClr val="B85042"/>
                </a:solidFill>
                <a:latin typeface="Calibri"/>
              </a:rPr>
              <a:t>WHAT IT DOES</a:t>
            </a:r>
          </a:p>
        </p:txBody>
      </p:sp>
      <p:sp>
        <p:nvSpPr>
          <p:cNvPr id="8" name="TextBox 7"/>
          <p:cNvSpPr txBox="1"/>
          <p:nvPr/>
        </p:nvSpPr>
        <p:spPr>
          <a:xfrm>
            <a:off x="640080" y="1709928"/>
            <a:ext cx="5669280" cy="2286000"/>
          </a:xfrm>
          <a:prstGeom prst="rect">
            <a:avLst/>
          </a:prstGeom>
          <a:noFill/>
        </p:spPr>
        <p:txBody>
          <a:bodyPr wrap="square" lIns="0" tIns="0" rIns="0" bIns="0" anchor="t">
            <a:spAutoFit/>
          </a:bodyPr>
          <a:lstStyle/>
          <a:p>
            <a:pPr algn="l">
              <a:spcBef>
                <a:spcPts val="0"/>
              </a:spcBef>
              <a:spcAft>
                <a:spcPts val="500"/>
              </a:spcAft>
            </a:pPr>
            <a:r>
              <a:rPr sz="1250" b="0" i="0">
                <a:solidFill>
                  <a:srgbClr val="2B2B2B"/>
                </a:solidFill>
                <a:latin typeface="Calibri"/>
              </a:rPr>
              <a:t>Sends the rain downhill and works out, for every point, how much water flows through it (drainage area and discharge). This is the water SPACE then uses to erode — so nothing erodes without it.</a:t>
            </a:r>
          </a:p>
        </p:txBody>
      </p:sp>
      <p:sp>
        <p:nvSpPr>
          <p:cNvPr id="9" name="TextBox 8"/>
          <p:cNvSpPr txBox="1"/>
          <p:nvPr/>
        </p:nvSpPr>
        <p:spPr>
          <a:xfrm>
            <a:off x="640080" y="2606040"/>
            <a:ext cx="5669280" cy="292608"/>
          </a:xfrm>
          <a:prstGeom prst="rect">
            <a:avLst/>
          </a:prstGeom>
          <a:noFill/>
        </p:spPr>
        <p:txBody>
          <a:bodyPr wrap="square" lIns="0" tIns="0" rIns="0" bIns="0" anchor="t">
            <a:spAutoFit/>
          </a:bodyPr>
          <a:lstStyle/>
          <a:p>
            <a:pPr algn="l">
              <a:spcBef>
                <a:spcPts val="0"/>
              </a:spcBef>
              <a:spcAft>
                <a:spcPts val="500"/>
              </a:spcAft>
            </a:pPr>
            <a:r>
              <a:rPr sz="1250" b="1" i="0">
                <a:solidFill>
                  <a:srgbClr val="3E6B8C"/>
                </a:solidFill>
                <a:latin typeface="Calibri"/>
              </a:rPr>
              <a:t>WHAT YOU CAN DO WITH IT</a:t>
            </a:r>
          </a:p>
        </p:txBody>
      </p:sp>
      <p:sp>
        <p:nvSpPr>
          <p:cNvPr id="10" name="TextBox 9"/>
          <p:cNvSpPr txBox="1"/>
          <p:nvPr/>
        </p:nvSpPr>
        <p:spPr>
          <a:xfrm>
            <a:off x="640080" y="2916936"/>
            <a:ext cx="5669280" cy="1417320"/>
          </a:xfrm>
          <a:prstGeom prst="rect">
            <a:avLst/>
          </a:prstGeom>
          <a:noFill/>
        </p:spPr>
        <p:txBody>
          <a:bodyPr wrap="square" lIns="0" tIns="0" rIns="0" bIns="0">
            <a:spAutoFit/>
          </a:bodyPr>
          <a:lstStyle/>
          <a:p>
            <a:pPr>
              <a:spcBef>
                <a:spcPts val="0"/>
              </a:spcBef>
              <a:spcAft>
                <a:spcPts val="400"/>
              </a:spcAft>
            </a:pPr>
            <a:r>
              <a:rPr sz="1100" b="1">
                <a:solidFill>
                  <a:srgbClr val="3E6B8C"/>
                </a:solidFill>
                <a:latin typeface="Calibri"/>
              </a:rPr>
              <a:t>▸  </a:t>
            </a:r>
            <a:r>
              <a:rPr sz="1150" b="1">
                <a:solidFill>
                  <a:srgbClr val="2C4A3E"/>
                </a:solidFill>
                <a:latin typeface="Calibri"/>
              </a:rPr>
              <a:t>Routing: </a:t>
            </a:r>
            <a:r>
              <a:rPr sz="1150">
                <a:solidFill>
                  <a:srgbClr val="2B2B2B"/>
                </a:solidFill>
                <a:latin typeface="Calibri"/>
              </a:rPr>
              <a:t>pick how water steps downhill — single steepest path, or D8 (any of 8 directions).</a:t>
            </a:r>
          </a:p>
          <a:p>
            <a:pPr>
              <a:spcBef>
                <a:spcPts val="0"/>
              </a:spcBef>
              <a:spcAft>
                <a:spcPts val="400"/>
              </a:spcAft>
            </a:pPr>
            <a:r>
              <a:rPr sz="1100" b="1">
                <a:solidFill>
                  <a:srgbClr val="3E6B8C"/>
                </a:solidFill>
                <a:latin typeface="Calibri"/>
              </a:rPr>
              <a:t>▸  </a:t>
            </a:r>
            <a:r>
              <a:rPr sz="1150" b="1">
                <a:solidFill>
                  <a:srgbClr val="2C4A3E"/>
                </a:solidFill>
                <a:latin typeface="Calibri"/>
              </a:rPr>
              <a:t>Output: </a:t>
            </a:r>
            <a:r>
              <a:rPr sz="1150">
                <a:solidFill>
                  <a:srgbClr val="2B2B2B"/>
                </a:solidFill>
                <a:latin typeface="Calibri"/>
              </a:rPr>
              <a:t>the river/stream network, plus drainage area &amp; discharge on every cell.</a:t>
            </a:r>
          </a:p>
          <a:p>
            <a:pPr>
              <a:spcBef>
                <a:spcPts val="0"/>
              </a:spcBef>
              <a:spcAft>
                <a:spcPts val="400"/>
              </a:spcAft>
            </a:pPr>
            <a:r>
              <a:rPr sz="1100" b="1">
                <a:solidFill>
                  <a:srgbClr val="3E6B8C"/>
                </a:solidFill>
                <a:latin typeface="Calibri"/>
              </a:rPr>
              <a:t>▸  </a:t>
            </a:r>
            <a:r>
              <a:rPr sz="1150" b="1">
                <a:solidFill>
                  <a:srgbClr val="2C4A3E"/>
                </a:solidFill>
                <a:latin typeface="Calibri"/>
              </a:rPr>
              <a:t>Lakes &amp; pits: </a:t>
            </a:r>
            <a:r>
              <a:rPr sz="1150">
                <a:solidFill>
                  <a:srgbClr val="2B2B2B"/>
                </a:solidFill>
                <a:latin typeface="Calibri"/>
              </a:rPr>
              <a:t>water trapped in hollows is automatically rerouted to the outlet.</a:t>
            </a:r>
          </a:p>
        </p:txBody>
      </p:sp>
      <p:sp>
        <p:nvSpPr>
          <p:cNvPr id="11" name="TextBox 10"/>
          <p:cNvSpPr txBox="1"/>
          <p:nvPr/>
        </p:nvSpPr>
        <p:spPr>
          <a:xfrm>
            <a:off x="640080" y="4160520"/>
            <a:ext cx="5669280" cy="320040"/>
          </a:xfrm>
          <a:prstGeom prst="rect">
            <a:avLst/>
          </a:prstGeom>
          <a:noFill/>
        </p:spPr>
        <p:txBody>
          <a:bodyPr wrap="square" lIns="0" tIns="0" rIns="0" bIns="0" anchor="t">
            <a:spAutoFit/>
          </a:bodyPr>
          <a:lstStyle/>
          <a:p>
            <a:pPr algn="l">
              <a:spcBef>
                <a:spcPts val="0"/>
              </a:spcBef>
              <a:spcAft>
                <a:spcPts val="500"/>
              </a:spcAft>
            </a:pPr>
            <a:r>
              <a:rPr sz="1250" b="1" i="0">
                <a:solidFill>
                  <a:srgbClr val="6B8E5A"/>
                </a:solidFill>
                <a:latin typeface="Calibri"/>
              </a:rPr>
              <a:t>HOW IT WORKS</a:t>
            </a:r>
          </a:p>
        </p:txBody>
      </p:sp>
      <p:sp>
        <p:nvSpPr>
          <p:cNvPr id="12" name="TextBox 11"/>
          <p:cNvSpPr txBox="1"/>
          <p:nvPr/>
        </p:nvSpPr>
        <p:spPr>
          <a:xfrm>
            <a:off x="640080" y="4453128"/>
            <a:ext cx="5669280" cy="2743200"/>
          </a:xfrm>
          <a:prstGeom prst="rect">
            <a:avLst/>
          </a:prstGeom>
          <a:noFill/>
        </p:spPr>
        <p:txBody>
          <a:bodyPr wrap="square" lIns="0" tIns="0" rIns="0" bIns="0" anchor="t">
            <a:spAutoFit/>
          </a:bodyPr>
          <a:lstStyle/>
          <a:p>
            <a:pPr algn="l">
              <a:spcBef>
                <a:spcPts val="0"/>
              </a:spcBef>
              <a:spcAft>
                <a:spcPts val="500"/>
              </a:spcAft>
            </a:pPr>
            <a:r>
              <a:rPr sz="1150" b="0" i="0">
                <a:solidFill>
                  <a:srgbClr val="2B2B2B"/>
                </a:solidFill>
                <a:latin typeface="Calibri"/>
              </a:rPr>
              <a:t>Wraps Landlab's FlowAccumulator, then runs LakeMapperBarnes — a priority-flood pass (Barnes et al. 2014) — each step. It fills pits on a scratch surface and reroutes trapped water, so no fake sediment is added; without it flow dead-ends and SPACE dumps a runaway 'deposition' spike.</a:t>
            </a:r>
          </a:p>
        </p:txBody>
      </p:sp>
      <p:sp>
        <p:nvSpPr>
          <p:cNvPr id="13" name="Rounded Rectangle 12"/>
          <p:cNvSpPr/>
          <p:nvPr/>
        </p:nvSpPr>
        <p:spPr>
          <a:xfrm>
            <a:off x="6720840" y="1463040"/>
            <a:ext cx="4828032" cy="3611880"/>
          </a:xfrm>
          <a:prstGeom prst="roundRect">
            <a:avLst>
              <a:gd name="adj" fmla="val 7000"/>
            </a:avLst>
          </a:prstGeom>
          <a:solidFill>
            <a:srgbClr val="1B2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995159" y="1664208"/>
            <a:ext cx="4279392" cy="365760"/>
          </a:xfrm>
          <a:prstGeom prst="rect">
            <a:avLst/>
          </a:prstGeom>
          <a:noFill/>
        </p:spPr>
        <p:txBody>
          <a:bodyPr wrap="square" lIns="0" tIns="0" rIns="0" bIns="0" anchor="t">
            <a:spAutoFit/>
          </a:bodyPr>
          <a:lstStyle/>
          <a:p>
            <a:pPr algn="l">
              <a:spcBef>
                <a:spcPts val="0"/>
              </a:spcBef>
              <a:spcAft>
                <a:spcPts val="500"/>
              </a:spcAft>
            </a:pPr>
            <a:r>
              <a:rPr sz="1200" b="1" i="0">
                <a:solidFill>
                  <a:srgbClr val="9CC486"/>
                </a:solidFill>
                <a:latin typeface="Calibri"/>
              </a:rPr>
              <a:t>WHAT IT WORKS OUT</a:t>
            </a:r>
          </a:p>
        </p:txBody>
      </p:sp>
      <p:sp>
        <p:nvSpPr>
          <p:cNvPr id="15" name="TextBox 14"/>
          <p:cNvSpPr txBox="1"/>
          <p:nvPr/>
        </p:nvSpPr>
        <p:spPr>
          <a:xfrm>
            <a:off x="6995159" y="2029968"/>
            <a:ext cx="4279392" cy="2651760"/>
          </a:xfrm>
          <a:prstGeom prst="rect">
            <a:avLst/>
          </a:prstGeom>
          <a:noFill/>
        </p:spPr>
        <p:txBody>
          <a:bodyPr wrap="square" lIns="0" tIns="0" rIns="0" bIns="0">
            <a:spAutoFit/>
          </a:bodyPr>
          <a:lstStyle/>
          <a:p>
            <a:pPr>
              <a:spcBef>
                <a:spcPts val="0"/>
              </a:spcBef>
              <a:spcAft>
                <a:spcPts val="200"/>
              </a:spcAft>
            </a:pPr>
            <a:r>
              <a:rPr sz="1300" b="1">
                <a:solidFill>
                  <a:srgbClr val="9CC486"/>
                </a:solidFill>
                <a:latin typeface="Calibri"/>
              </a:rPr>
              <a:t>water gathered = all the rain flowing in from uphill</a:t>
            </a:r>
          </a:p>
          <a:p>
            <a:pPr>
              <a:spcBef>
                <a:spcPts val="0"/>
              </a:spcBef>
              <a:spcAft>
                <a:spcPts val="1200"/>
              </a:spcAft>
            </a:pPr>
            <a:endParaRPr sz="1300" b="1">
              <a:solidFill>
                <a:srgbClr val="9CC486"/>
              </a:solidFill>
              <a:latin typeface="Calibri"/>
            </a:endParaRPr>
          </a:p>
          <a:p>
            <a:pPr>
              <a:spcBef>
                <a:spcPts val="0"/>
              </a:spcBef>
              <a:spcAft>
                <a:spcPts val="400"/>
              </a:spcAft>
            </a:pPr>
            <a:r>
              <a:rPr sz="1400" b="1">
                <a:solidFill>
                  <a:srgbClr val="E9E4D6"/>
                </a:solidFill>
                <a:latin typeface="Courier New"/>
              </a:rPr>
              <a:t>A = Σ (upstream cell areas)</a:t>
            </a:r>
          </a:p>
          <a:p>
            <a:pPr>
              <a:spcBef>
                <a:spcPts val="0"/>
              </a:spcBef>
              <a:spcAft>
                <a:spcPts val="1200"/>
              </a:spcAft>
            </a:pPr>
            <a:r>
              <a:rPr sz="1100" i="1">
                <a:solidFill>
                  <a:srgbClr val="9FB0A0"/>
                </a:solidFill>
                <a:latin typeface="Calibri"/>
              </a:rPr>
              <a:t>the drainage area feeding each point</a:t>
            </a:r>
          </a:p>
          <a:p>
            <a:pPr>
              <a:spcBef>
                <a:spcPts val="0"/>
              </a:spcBef>
              <a:spcAft>
                <a:spcPts val="400"/>
              </a:spcAft>
            </a:pPr>
            <a:r>
              <a:rPr sz="1400" b="1">
                <a:solidFill>
                  <a:srgbClr val="E9E4D6"/>
                </a:solidFill>
                <a:latin typeface="Courier New"/>
              </a:rPr>
              <a:t>Q = Σ (R × cell area)</a:t>
            </a:r>
          </a:p>
          <a:p>
            <a:pPr>
              <a:spcBef>
                <a:spcPts val="0"/>
              </a:spcBef>
              <a:spcAft>
                <a:spcPts val="1200"/>
              </a:spcAft>
            </a:pPr>
            <a:r>
              <a:rPr sz="1100" i="1">
                <a:solidFill>
                  <a:srgbClr val="9FB0A0"/>
                </a:solidFill>
                <a:latin typeface="Calibri"/>
              </a:rPr>
              <a:t>the water discharge passing through</a:t>
            </a:r>
          </a:p>
        </p:txBody>
      </p:sp>
      <p:sp>
        <p:nvSpPr>
          <p:cNvPr id="16" name="TextBox 15"/>
          <p:cNvSpPr txBox="1"/>
          <p:nvPr/>
        </p:nvSpPr>
        <p:spPr>
          <a:xfrm>
            <a:off x="6995159" y="4526280"/>
            <a:ext cx="4279392" cy="457200"/>
          </a:xfrm>
          <a:prstGeom prst="rect">
            <a:avLst/>
          </a:prstGeom>
          <a:noFill/>
        </p:spPr>
        <p:txBody>
          <a:bodyPr wrap="square" lIns="0" tIns="0" rIns="0" bIns="0" anchor="t">
            <a:spAutoFit/>
          </a:bodyPr>
          <a:lstStyle/>
          <a:p>
            <a:pPr algn="l">
              <a:spcBef>
                <a:spcPts val="0"/>
              </a:spcBef>
              <a:spcAft>
                <a:spcPts val="500"/>
              </a:spcAft>
            </a:pPr>
            <a:r>
              <a:rPr sz="1050" b="0" i="0">
                <a:solidFill>
                  <a:srgbClr val="8C9D8E"/>
                </a:solidFill>
                <a:latin typeface="Calibri"/>
              </a:rPr>
              <a:t>KEY:  A drainage area · Q discharge · R rain/runoff · Σ means “add up”</a:t>
            </a:r>
          </a:p>
        </p:txBody>
      </p:sp>
      <p:sp>
        <p:nvSpPr>
          <p:cNvPr id="17" name="Rounded Rectangle 16"/>
          <p:cNvSpPr/>
          <p:nvPr/>
        </p:nvSpPr>
        <p:spPr>
          <a:xfrm>
            <a:off x="640080" y="5468112"/>
            <a:ext cx="10908792" cy="1243584"/>
          </a:xfrm>
          <a:prstGeom prst="roundRect">
            <a:avLst>
              <a:gd name="adj" fmla="val 7000"/>
            </a:avLst>
          </a:prstGeom>
          <a:solidFill>
            <a:srgbClr val="FBF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089904" y="5632704"/>
            <a:ext cx="10972" cy="914400"/>
          </a:xfrm>
          <a:prstGeom prst="rect">
            <a:avLst/>
          </a:prstGeom>
          <a:solidFill>
            <a:srgbClr val="E0D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14400" y="5614416"/>
            <a:ext cx="5029200" cy="274320"/>
          </a:xfrm>
          <a:prstGeom prst="rect">
            <a:avLst/>
          </a:prstGeom>
          <a:noFill/>
        </p:spPr>
        <p:txBody>
          <a:bodyPr wrap="square" lIns="0" tIns="0" rIns="0" bIns="0" anchor="t">
            <a:spAutoFit/>
          </a:bodyPr>
          <a:lstStyle/>
          <a:p>
            <a:pPr algn="l">
              <a:spcBef>
                <a:spcPts val="0"/>
              </a:spcBef>
              <a:spcAft>
                <a:spcPts val="500"/>
              </a:spcAft>
            </a:pPr>
            <a:r>
              <a:rPr sz="1150" b="1" i="0">
                <a:solidFill>
                  <a:srgbClr val="B85042"/>
                </a:solidFill>
                <a:latin typeface="Calibri"/>
              </a:rPr>
              <a:t>⚙  YOU SET FOR YOUR SITE</a:t>
            </a:r>
          </a:p>
        </p:txBody>
      </p:sp>
      <p:sp>
        <p:nvSpPr>
          <p:cNvPr id="20" name="TextBox 19"/>
          <p:cNvSpPr txBox="1"/>
          <p:nvPr/>
        </p:nvSpPr>
        <p:spPr>
          <a:xfrm>
            <a:off x="914400" y="5925312"/>
            <a:ext cx="5029200" cy="914400"/>
          </a:xfrm>
          <a:prstGeom prst="rect">
            <a:avLst/>
          </a:prstGeom>
          <a:noFill/>
        </p:spPr>
        <p:txBody>
          <a:bodyPr wrap="square" lIns="0" tIns="0" rIns="0" bIns="0">
            <a:spAutoFit/>
          </a:bodyPr>
          <a:lstStyle/>
          <a:p>
            <a:pPr>
              <a:spcBef>
                <a:spcPts val="0"/>
              </a:spcBef>
              <a:spcAft>
                <a:spcPts val="300"/>
              </a:spcAft>
            </a:pPr>
            <a:r>
              <a:rPr sz="1100" b="1">
                <a:solidFill>
                  <a:srgbClr val="2C4A3E"/>
                </a:solidFill>
                <a:latin typeface="Courier New"/>
              </a:rPr>
              <a:t>flow_director</a:t>
            </a:r>
            <a:r>
              <a:rPr sz="1100">
                <a:solidFill>
                  <a:srgbClr val="6E6A60"/>
                </a:solidFill>
                <a:latin typeface="Calibri"/>
              </a:rPr>
              <a:t>  choose routing — Steepest or D8</a:t>
            </a:r>
          </a:p>
        </p:txBody>
      </p:sp>
      <p:sp>
        <p:nvSpPr>
          <p:cNvPr id="21" name="TextBox 20"/>
          <p:cNvSpPr txBox="1"/>
          <p:nvPr/>
        </p:nvSpPr>
        <p:spPr>
          <a:xfrm>
            <a:off x="6355080" y="5614416"/>
            <a:ext cx="5212080" cy="274320"/>
          </a:xfrm>
          <a:prstGeom prst="rect">
            <a:avLst/>
          </a:prstGeom>
          <a:noFill/>
        </p:spPr>
        <p:txBody>
          <a:bodyPr wrap="square" lIns="0" tIns="0" rIns="0" bIns="0" anchor="t">
            <a:spAutoFit/>
          </a:bodyPr>
          <a:lstStyle/>
          <a:p>
            <a:pPr algn="l">
              <a:spcBef>
                <a:spcPts val="0"/>
              </a:spcBef>
              <a:spcAft>
                <a:spcPts val="500"/>
              </a:spcAft>
            </a:pPr>
            <a:r>
              <a:rPr sz="1150" b="1" i="0">
                <a:solidFill>
                  <a:srgbClr val="6B8E5A"/>
                </a:solidFill>
                <a:latin typeface="Calibri"/>
              </a:rPr>
              <a:t>✓  USUALLY LEFT AT DEFAULT</a:t>
            </a:r>
          </a:p>
        </p:txBody>
      </p:sp>
      <p:sp>
        <p:nvSpPr>
          <p:cNvPr id="22" name="TextBox 21"/>
          <p:cNvSpPr txBox="1"/>
          <p:nvPr/>
        </p:nvSpPr>
        <p:spPr>
          <a:xfrm>
            <a:off x="6355080" y="5925312"/>
            <a:ext cx="5029200" cy="914400"/>
          </a:xfrm>
          <a:prstGeom prst="rect">
            <a:avLst/>
          </a:prstGeom>
          <a:noFill/>
        </p:spPr>
        <p:txBody>
          <a:bodyPr wrap="square" lIns="0" tIns="0" rIns="0" bIns="0">
            <a:spAutoFit/>
          </a:bodyPr>
          <a:lstStyle/>
          <a:p>
            <a:pPr>
              <a:spcBef>
                <a:spcPts val="0"/>
              </a:spcBef>
              <a:spcAft>
                <a:spcPts val="300"/>
              </a:spcAft>
            </a:pPr>
            <a:r>
              <a:rPr sz="1100" b="1">
                <a:solidFill>
                  <a:srgbClr val="2C4A3E"/>
                </a:solidFill>
                <a:latin typeface="Courier New"/>
              </a:rPr>
              <a:t>runoff_rate</a:t>
            </a:r>
            <a:r>
              <a:rPr sz="1100">
                <a:solidFill>
                  <a:srgbClr val="6E6A60"/>
                </a:solidFill>
                <a:latin typeface="Calibri"/>
              </a:rPr>
              <a:t>  default 1.0; dropped when Precipitation or Vegetation is on</a:t>
            </a:r>
          </a:p>
          <a:p>
            <a:pPr>
              <a:spcBef>
                <a:spcPts val="0"/>
              </a:spcBef>
              <a:spcAft>
                <a:spcPts val="300"/>
              </a:spcAft>
            </a:pPr>
            <a:r>
              <a:rPr sz="1100" b="1">
                <a:solidFill>
                  <a:srgbClr val="2C4A3E"/>
                </a:solidFill>
                <a:latin typeface="Courier New"/>
              </a:rPr>
              <a:t>LakeMapperBarnes</a:t>
            </a:r>
            <a:r>
              <a:rPr sz="1100">
                <a:solidFill>
                  <a:srgbClr val="6E6A60"/>
                </a:solidFill>
                <a:latin typeface="Calibri"/>
              </a:rPr>
              <a:t>  pit-fill, auto-configured</a:t>
            </a:r>
          </a:p>
          <a:p>
            <a:pPr>
              <a:spcBef>
                <a:spcPts val="0"/>
              </a:spcBef>
              <a:spcAft>
                <a:spcPts val="300"/>
              </a:spcAft>
            </a:pPr>
            <a:r>
              <a:rPr sz="1100" b="1">
                <a:solidFill>
                  <a:srgbClr val="2C4A3E"/>
                </a:solidFill>
                <a:latin typeface="Courier New"/>
              </a:rPr>
              <a:t>depression handling</a:t>
            </a:r>
            <a:r>
              <a:rPr sz="1100">
                <a:solidFill>
                  <a:srgbClr val="6E6A60"/>
                </a:solidFill>
                <a:latin typeface="Calibri"/>
              </a:rPr>
              <a:t>  automatic</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2E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8229600" cy="365760"/>
          </a:xfrm>
          <a:prstGeom prst="rect">
            <a:avLst/>
          </a:prstGeom>
          <a:noFill/>
        </p:spPr>
        <p:txBody>
          <a:bodyPr wrap="square" lIns="0" tIns="0" rIns="0" bIns="0" anchor="t">
            <a:spAutoFit/>
          </a:bodyPr>
          <a:lstStyle/>
          <a:p>
            <a:pPr algn="l">
              <a:spcBef>
                <a:spcPts val="0"/>
              </a:spcBef>
              <a:spcAft>
                <a:spcPts val="500"/>
              </a:spcAft>
            </a:pPr>
            <a:r>
              <a:rPr sz="1250" b="1" i="0">
                <a:solidFill>
                  <a:srgbClr val="B85042"/>
                </a:solidFill>
                <a:latin typeface="Calibri"/>
              </a:rPr>
              <a:t>COMPONENT · SPACE ERODER</a:t>
            </a:r>
          </a:p>
        </p:txBody>
      </p:sp>
      <p:sp>
        <p:nvSpPr>
          <p:cNvPr id="4" name="TextBox 3"/>
          <p:cNvSpPr txBox="1"/>
          <p:nvPr/>
        </p:nvSpPr>
        <p:spPr>
          <a:xfrm>
            <a:off x="640080" y="676656"/>
            <a:ext cx="8595360" cy="777240"/>
          </a:xfrm>
          <a:prstGeom prst="rect">
            <a:avLst/>
          </a:prstGeom>
          <a:noFill/>
        </p:spPr>
        <p:txBody>
          <a:bodyPr wrap="square" lIns="0" tIns="0" rIns="0" bIns="0" anchor="t">
            <a:spAutoFit/>
          </a:bodyPr>
          <a:lstStyle/>
          <a:p>
            <a:pPr algn="l">
              <a:spcBef>
                <a:spcPts val="0"/>
              </a:spcBef>
              <a:spcAft>
                <a:spcPts val="500"/>
              </a:spcAft>
            </a:pPr>
            <a:r>
              <a:rPr sz="3100" b="1" i="0">
                <a:solidFill>
                  <a:srgbClr val="2C4A3E"/>
                </a:solidFill>
                <a:latin typeface="Calibri"/>
              </a:rPr>
              <a:t>SPACE Eroder</a:t>
            </a:r>
          </a:p>
        </p:txBody>
      </p:sp>
      <p:sp>
        <p:nvSpPr>
          <p:cNvPr id="5" name="Rounded Rectangle 4"/>
          <p:cNvSpPr/>
          <p:nvPr/>
        </p:nvSpPr>
        <p:spPr>
          <a:xfrm>
            <a:off x="9733788" y="548640"/>
            <a:ext cx="1815084" cy="384048"/>
          </a:xfrm>
          <a:prstGeom prst="roundRect">
            <a:avLst>
              <a:gd name="adj" fmla="val 50000"/>
            </a:avLst>
          </a:prstGeom>
          <a:solidFill>
            <a:srgbClr val="6B8E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733788" y="562356"/>
            <a:ext cx="1815084" cy="365760"/>
          </a:xfrm>
          <a:prstGeom prst="rect">
            <a:avLst/>
          </a:prstGeom>
          <a:noFill/>
        </p:spPr>
        <p:txBody>
          <a:bodyPr wrap="square" lIns="0" tIns="0" rIns="0" bIns="0" anchor="ctr">
            <a:spAutoFit/>
          </a:bodyPr>
          <a:lstStyle/>
          <a:p>
            <a:pPr algn="ctr">
              <a:spcBef>
                <a:spcPts val="0"/>
              </a:spcBef>
              <a:spcAft>
                <a:spcPts val="500"/>
              </a:spcAft>
            </a:pPr>
            <a:r>
              <a:rPr sz="1150" b="1" i="0">
                <a:solidFill>
                  <a:srgbClr val="FFFFFF"/>
                </a:solidFill>
                <a:latin typeface="Calibri"/>
              </a:rPr>
              <a:t>● LANDLAB WRAPPER</a:t>
            </a:r>
          </a:p>
        </p:txBody>
      </p:sp>
      <p:sp>
        <p:nvSpPr>
          <p:cNvPr id="7" name="TextBox 6"/>
          <p:cNvSpPr txBox="1"/>
          <p:nvPr/>
        </p:nvSpPr>
        <p:spPr>
          <a:xfrm>
            <a:off x="640080" y="1417320"/>
            <a:ext cx="5669280" cy="320040"/>
          </a:xfrm>
          <a:prstGeom prst="rect">
            <a:avLst/>
          </a:prstGeom>
          <a:noFill/>
        </p:spPr>
        <p:txBody>
          <a:bodyPr wrap="square" lIns="0" tIns="0" rIns="0" bIns="0" anchor="t">
            <a:spAutoFit/>
          </a:bodyPr>
          <a:lstStyle/>
          <a:p>
            <a:pPr algn="l">
              <a:spcBef>
                <a:spcPts val="0"/>
              </a:spcBef>
              <a:spcAft>
                <a:spcPts val="500"/>
              </a:spcAft>
            </a:pPr>
            <a:r>
              <a:rPr sz="1250" b="1" i="0">
                <a:solidFill>
                  <a:srgbClr val="B85042"/>
                </a:solidFill>
                <a:latin typeface="Calibri"/>
              </a:rPr>
              <a:t>WHAT IT DOES</a:t>
            </a:r>
          </a:p>
        </p:txBody>
      </p:sp>
      <p:sp>
        <p:nvSpPr>
          <p:cNvPr id="8" name="TextBox 7"/>
          <p:cNvSpPr txBox="1"/>
          <p:nvPr/>
        </p:nvSpPr>
        <p:spPr>
          <a:xfrm>
            <a:off x="640080" y="1709928"/>
            <a:ext cx="5669280" cy="2286000"/>
          </a:xfrm>
          <a:prstGeom prst="rect">
            <a:avLst/>
          </a:prstGeom>
          <a:noFill/>
        </p:spPr>
        <p:txBody>
          <a:bodyPr wrap="square" lIns="0" tIns="0" rIns="0" bIns="0" anchor="t">
            <a:spAutoFit/>
          </a:bodyPr>
          <a:lstStyle/>
          <a:p>
            <a:pPr algn="l">
              <a:spcBef>
                <a:spcPts val="0"/>
              </a:spcBef>
              <a:spcAft>
                <a:spcPts val="500"/>
              </a:spcAft>
            </a:pPr>
            <a:r>
              <a:rPr sz="1200" b="0" i="0">
                <a:solidFill>
                  <a:srgbClr val="2B2B2B"/>
                </a:solidFill>
                <a:latin typeface="Calibri"/>
              </a:rPr>
              <a:t>The river engine. SPACE stands for Stream Power with Alluvium Conservation and Entrainment. Using the water (from Flow Accumulator) and the slope, it carves bedrock, picks up loose sediment where flow is strong, and drops it where flow slows — while keeping track of the soil layer sitting on the bedrock.</a:t>
            </a:r>
          </a:p>
        </p:txBody>
      </p:sp>
      <p:sp>
        <p:nvSpPr>
          <p:cNvPr id="9" name="TextBox 8"/>
          <p:cNvSpPr txBox="1"/>
          <p:nvPr/>
        </p:nvSpPr>
        <p:spPr>
          <a:xfrm>
            <a:off x="640080" y="2971800"/>
            <a:ext cx="5669280" cy="292608"/>
          </a:xfrm>
          <a:prstGeom prst="rect">
            <a:avLst/>
          </a:prstGeom>
          <a:noFill/>
        </p:spPr>
        <p:txBody>
          <a:bodyPr wrap="square" lIns="0" tIns="0" rIns="0" bIns="0" anchor="t">
            <a:spAutoFit/>
          </a:bodyPr>
          <a:lstStyle/>
          <a:p>
            <a:pPr algn="l">
              <a:spcBef>
                <a:spcPts val="0"/>
              </a:spcBef>
              <a:spcAft>
                <a:spcPts val="500"/>
              </a:spcAft>
            </a:pPr>
            <a:r>
              <a:rPr sz="1250" b="1" i="0">
                <a:solidFill>
                  <a:srgbClr val="3E6B8C"/>
                </a:solidFill>
                <a:latin typeface="Calibri"/>
              </a:rPr>
              <a:t>WHAT YOU CAN DO WITH IT</a:t>
            </a:r>
          </a:p>
        </p:txBody>
      </p:sp>
      <p:sp>
        <p:nvSpPr>
          <p:cNvPr id="10" name="TextBox 9"/>
          <p:cNvSpPr txBox="1"/>
          <p:nvPr/>
        </p:nvSpPr>
        <p:spPr>
          <a:xfrm>
            <a:off x="640080" y="3282696"/>
            <a:ext cx="5669280" cy="1417320"/>
          </a:xfrm>
          <a:prstGeom prst="rect">
            <a:avLst/>
          </a:prstGeom>
          <a:noFill/>
        </p:spPr>
        <p:txBody>
          <a:bodyPr wrap="square" lIns="0" tIns="0" rIns="0" bIns="0">
            <a:spAutoFit/>
          </a:bodyPr>
          <a:lstStyle/>
          <a:p>
            <a:pPr>
              <a:spcBef>
                <a:spcPts val="0"/>
              </a:spcBef>
              <a:spcAft>
                <a:spcPts val="400"/>
              </a:spcAft>
            </a:pPr>
            <a:r>
              <a:rPr sz="1100" b="1">
                <a:solidFill>
                  <a:srgbClr val="3E6B8C"/>
                </a:solidFill>
                <a:latin typeface="Calibri"/>
              </a:rPr>
              <a:t>▸  </a:t>
            </a:r>
            <a:r>
              <a:rPr sz="1150" b="1">
                <a:solidFill>
                  <a:srgbClr val="2C4A3E"/>
                </a:solidFill>
                <a:latin typeface="Calibri"/>
              </a:rPr>
              <a:t>Two eroders: </a:t>
            </a:r>
            <a:r>
              <a:rPr sz="1150">
                <a:solidFill>
                  <a:srgbClr val="2B2B2B"/>
                </a:solidFill>
                <a:latin typeface="Calibri"/>
              </a:rPr>
              <a:t>standard Space, or SpaceLargeScaleEroder (tougher for big grids).</a:t>
            </a:r>
          </a:p>
          <a:p>
            <a:pPr>
              <a:spcBef>
                <a:spcPts val="0"/>
              </a:spcBef>
              <a:spcAft>
                <a:spcPts val="400"/>
              </a:spcAft>
            </a:pPr>
            <a:r>
              <a:rPr sz="1100" b="1">
                <a:solidFill>
                  <a:srgbClr val="3E6B8C"/>
                </a:solidFill>
                <a:latin typeface="Calibri"/>
              </a:rPr>
              <a:t>▸  </a:t>
            </a:r>
            <a:r>
              <a:rPr sz="1150" b="1">
                <a:solidFill>
                  <a:srgbClr val="2C4A3E"/>
                </a:solidFill>
                <a:latin typeface="Calibri"/>
              </a:rPr>
              <a:t>Bare-rock rivers: </a:t>
            </a:r>
            <a:r>
              <a:rPr sz="1150">
                <a:solidFill>
                  <a:srgbClr val="2B2B2B"/>
                </a:solidFill>
                <a:latin typeface="Calibri"/>
              </a:rPr>
              <a:t>thin soil → water cuts into bedrock.</a:t>
            </a:r>
          </a:p>
          <a:p>
            <a:pPr>
              <a:spcBef>
                <a:spcPts val="0"/>
              </a:spcBef>
              <a:spcAft>
                <a:spcPts val="400"/>
              </a:spcAft>
            </a:pPr>
            <a:r>
              <a:rPr sz="1100" b="1">
                <a:solidFill>
                  <a:srgbClr val="3E6B8C"/>
                </a:solidFill>
                <a:latin typeface="Calibri"/>
              </a:rPr>
              <a:t>▸  </a:t>
            </a:r>
            <a:r>
              <a:rPr sz="1150" b="1">
                <a:solidFill>
                  <a:srgbClr val="2C4A3E"/>
                </a:solidFill>
                <a:latin typeface="Calibri"/>
              </a:rPr>
              <a:t>Sediment-bed rivers: </a:t>
            </a:r>
            <a:r>
              <a:rPr sz="1150">
                <a:solidFill>
                  <a:srgbClr val="2B2B2B"/>
                </a:solidFill>
                <a:latin typeface="Calibri"/>
              </a:rPr>
              <a:t>thick soil → channels build up &amp; rework alluvium.</a:t>
            </a:r>
          </a:p>
        </p:txBody>
      </p:sp>
      <p:sp>
        <p:nvSpPr>
          <p:cNvPr id="11" name="TextBox 10"/>
          <p:cNvSpPr txBox="1"/>
          <p:nvPr/>
        </p:nvSpPr>
        <p:spPr>
          <a:xfrm>
            <a:off x="640080" y="4526280"/>
            <a:ext cx="5669280" cy="320040"/>
          </a:xfrm>
          <a:prstGeom prst="rect">
            <a:avLst/>
          </a:prstGeom>
          <a:noFill/>
        </p:spPr>
        <p:txBody>
          <a:bodyPr wrap="square" lIns="0" tIns="0" rIns="0" bIns="0" anchor="t">
            <a:spAutoFit/>
          </a:bodyPr>
          <a:lstStyle/>
          <a:p>
            <a:pPr algn="l">
              <a:spcBef>
                <a:spcPts val="0"/>
              </a:spcBef>
              <a:spcAft>
                <a:spcPts val="500"/>
              </a:spcAft>
            </a:pPr>
            <a:r>
              <a:rPr sz="1250" b="1" i="0">
                <a:solidFill>
                  <a:srgbClr val="6B8E5A"/>
                </a:solidFill>
                <a:latin typeface="Calibri"/>
              </a:rPr>
              <a:t>HOW IT WORKS</a:t>
            </a:r>
          </a:p>
        </p:txBody>
      </p:sp>
      <p:sp>
        <p:nvSpPr>
          <p:cNvPr id="12" name="TextBox 11"/>
          <p:cNvSpPr txBox="1"/>
          <p:nvPr/>
        </p:nvSpPr>
        <p:spPr>
          <a:xfrm>
            <a:off x="640080" y="4818888"/>
            <a:ext cx="5669280" cy="2743200"/>
          </a:xfrm>
          <a:prstGeom prst="rect">
            <a:avLst/>
          </a:prstGeom>
          <a:noFill/>
        </p:spPr>
        <p:txBody>
          <a:bodyPr wrap="square" lIns="0" tIns="0" rIns="0" bIns="0" anchor="t">
            <a:spAutoFit/>
          </a:bodyPr>
          <a:lstStyle/>
          <a:p>
            <a:pPr algn="l">
              <a:spcBef>
                <a:spcPts val="0"/>
              </a:spcBef>
              <a:spcAft>
                <a:spcPts val="500"/>
              </a:spcAft>
            </a:pPr>
            <a:r>
              <a:rPr sz="1100" b="0" i="0">
                <a:solidFill>
                  <a:srgbClr val="2B2B2B"/>
                </a:solidFill>
                <a:latin typeface="Calibri"/>
              </a:rPr>
              <a:t>Wraps Landlab's SPACE eroder (Shobe et al. 2017). Each step the app feeds in the right softness K (from rock type + plants); thick soil shields the bedrock, so bare ground wears its rock but covered ground doesn't.</a:t>
            </a:r>
          </a:p>
        </p:txBody>
      </p:sp>
      <p:sp>
        <p:nvSpPr>
          <p:cNvPr id="13" name="Rounded Rectangle 12"/>
          <p:cNvSpPr/>
          <p:nvPr/>
        </p:nvSpPr>
        <p:spPr>
          <a:xfrm>
            <a:off x="6720840" y="1417320"/>
            <a:ext cx="4828032" cy="3611880"/>
          </a:xfrm>
          <a:prstGeom prst="roundRect">
            <a:avLst>
              <a:gd name="adj" fmla="val 7000"/>
            </a:avLst>
          </a:prstGeom>
          <a:solidFill>
            <a:srgbClr val="1B2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995159" y="1618488"/>
            <a:ext cx="4279392" cy="365760"/>
          </a:xfrm>
          <a:prstGeom prst="rect">
            <a:avLst/>
          </a:prstGeom>
          <a:noFill/>
        </p:spPr>
        <p:txBody>
          <a:bodyPr wrap="square" lIns="0" tIns="0" rIns="0" bIns="0" anchor="t">
            <a:spAutoFit/>
          </a:bodyPr>
          <a:lstStyle/>
          <a:p>
            <a:pPr algn="l">
              <a:spcBef>
                <a:spcPts val="0"/>
              </a:spcBef>
              <a:spcAft>
                <a:spcPts val="500"/>
              </a:spcAft>
            </a:pPr>
            <a:r>
              <a:rPr sz="1200" b="1" i="0">
                <a:solidFill>
                  <a:srgbClr val="9CC486"/>
                </a:solidFill>
                <a:latin typeface="Calibri"/>
              </a:rPr>
              <a:t>SPACE IN PLAIN WORDS + MATHS</a:t>
            </a:r>
          </a:p>
        </p:txBody>
      </p:sp>
      <p:sp>
        <p:nvSpPr>
          <p:cNvPr id="15" name="TextBox 14"/>
          <p:cNvSpPr txBox="1"/>
          <p:nvPr/>
        </p:nvSpPr>
        <p:spPr>
          <a:xfrm>
            <a:off x="6995159" y="1984248"/>
            <a:ext cx="4279392" cy="2651760"/>
          </a:xfrm>
          <a:prstGeom prst="rect">
            <a:avLst/>
          </a:prstGeom>
          <a:noFill/>
        </p:spPr>
        <p:txBody>
          <a:bodyPr wrap="square" lIns="0" tIns="0" rIns="0" bIns="0">
            <a:spAutoFit/>
          </a:bodyPr>
          <a:lstStyle/>
          <a:p>
            <a:pPr>
              <a:spcBef>
                <a:spcPts val="0"/>
              </a:spcBef>
              <a:spcAft>
                <a:spcPts val="200"/>
              </a:spcAft>
            </a:pPr>
            <a:r>
              <a:rPr sz="1300" b="1">
                <a:solidFill>
                  <a:srgbClr val="9CC486"/>
                </a:solidFill>
                <a:latin typeface="Calibri"/>
              </a:rPr>
              <a:t>scoop up soil = strong flow (less if soil is deep)</a:t>
            </a:r>
          </a:p>
          <a:p>
            <a:pPr>
              <a:spcBef>
                <a:spcPts val="0"/>
              </a:spcBef>
              <a:spcAft>
                <a:spcPts val="400"/>
              </a:spcAft>
            </a:pPr>
            <a:r>
              <a:rPr sz="1400" b="1">
                <a:solidFill>
                  <a:srgbClr val="E9E4D6"/>
                </a:solidFill>
                <a:latin typeface="Courier New"/>
              </a:rPr>
              <a:t>Eₛ = K_sed · Qᵐ · Sⁿ · (1 − e^(−H/H*))</a:t>
            </a:r>
          </a:p>
          <a:p>
            <a:pPr>
              <a:spcBef>
                <a:spcPts val="0"/>
              </a:spcBef>
              <a:spcAft>
                <a:spcPts val="200"/>
              </a:spcAft>
            </a:pPr>
            <a:r>
              <a:rPr sz="1300" b="1">
                <a:solidFill>
                  <a:srgbClr val="9CC486"/>
                </a:solidFill>
                <a:latin typeface="Calibri"/>
              </a:rPr>
              <a:t>carve rock = strong flow (only where soil is thin)</a:t>
            </a:r>
          </a:p>
          <a:p>
            <a:pPr>
              <a:spcBef>
                <a:spcPts val="0"/>
              </a:spcBef>
              <a:spcAft>
                <a:spcPts val="400"/>
              </a:spcAft>
            </a:pPr>
            <a:r>
              <a:rPr sz="1400" b="1">
                <a:solidFill>
                  <a:srgbClr val="E9E4D6"/>
                </a:solidFill>
                <a:latin typeface="Courier New"/>
              </a:rPr>
              <a:t>E_r = K_br · Qᵐ · Sⁿ · e^(−H/H*)</a:t>
            </a:r>
          </a:p>
          <a:p>
            <a:pPr>
              <a:spcBef>
                <a:spcPts val="0"/>
              </a:spcBef>
              <a:spcAft>
                <a:spcPts val="200"/>
              </a:spcAft>
            </a:pPr>
            <a:r>
              <a:rPr sz="1300" b="1">
                <a:solidFill>
                  <a:srgbClr val="9CC486"/>
                </a:solidFill>
                <a:latin typeface="Calibri"/>
              </a:rPr>
              <a:t>soil change = what's dropped − what's scooped</a:t>
            </a:r>
          </a:p>
          <a:p>
            <a:pPr>
              <a:spcBef>
                <a:spcPts val="0"/>
              </a:spcBef>
              <a:spcAft>
                <a:spcPts val="400"/>
              </a:spcAft>
            </a:pPr>
            <a:r>
              <a:rPr sz="1400" b="1">
                <a:solidFill>
                  <a:srgbClr val="E9E4D6"/>
                </a:solidFill>
                <a:latin typeface="Courier New"/>
              </a:rPr>
              <a:t>∂H/∂t = D/(1−φ) − Eₛ</a:t>
            </a:r>
          </a:p>
        </p:txBody>
      </p:sp>
      <p:sp>
        <p:nvSpPr>
          <p:cNvPr id="16" name="TextBox 15"/>
          <p:cNvSpPr txBox="1"/>
          <p:nvPr/>
        </p:nvSpPr>
        <p:spPr>
          <a:xfrm>
            <a:off x="6995159" y="4480560"/>
            <a:ext cx="4279392" cy="457200"/>
          </a:xfrm>
          <a:prstGeom prst="rect">
            <a:avLst/>
          </a:prstGeom>
          <a:noFill/>
        </p:spPr>
        <p:txBody>
          <a:bodyPr wrap="square" lIns="0" tIns="0" rIns="0" bIns="0" anchor="t">
            <a:spAutoFit/>
          </a:bodyPr>
          <a:lstStyle/>
          <a:p>
            <a:pPr algn="l">
              <a:spcBef>
                <a:spcPts val="0"/>
              </a:spcBef>
              <a:spcAft>
                <a:spcPts val="500"/>
              </a:spcAft>
            </a:pPr>
            <a:r>
              <a:rPr sz="1050" b="0" i="0">
                <a:solidFill>
                  <a:srgbClr val="8C9D8E"/>
                </a:solidFill>
                <a:latin typeface="Calibri"/>
              </a:rPr>
              <a:t>KEY:  Eₛ soil scooped · E_r rock carved · K softness · Q water · S slope · m,n strength of water &amp; slope · H soil depth · H* shield scale · D deposited · φ pore space</a:t>
            </a:r>
          </a:p>
        </p:txBody>
      </p:sp>
      <p:sp>
        <p:nvSpPr>
          <p:cNvPr id="17" name="Rounded Rectangle 16"/>
          <p:cNvSpPr/>
          <p:nvPr/>
        </p:nvSpPr>
        <p:spPr>
          <a:xfrm>
            <a:off x="640080" y="5468112"/>
            <a:ext cx="10908792" cy="1243584"/>
          </a:xfrm>
          <a:prstGeom prst="roundRect">
            <a:avLst>
              <a:gd name="adj" fmla="val 7000"/>
            </a:avLst>
          </a:prstGeom>
          <a:solidFill>
            <a:srgbClr val="FBF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089904" y="5632704"/>
            <a:ext cx="10972" cy="914400"/>
          </a:xfrm>
          <a:prstGeom prst="rect">
            <a:avLst/>
          </a:prstGeom>
          <a:solidFill>
            <a:srgbClr val="E0D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14400" y="5614416"/>
            <a:ext cx="5029200" cy="274320"/>
          </a:xfrm>
          <a:prstGeom prst="rect">
            <a:avLst/>
          </a:prstGeom>
          <a:noFill/>
        </p:spPr>
        <p:txBody>
          <a:bodyPr wrap="square" lIns="0" tIns="0" rIns="0" bIns="0" anchor="t">
            <a:spAutoFit/>
          </a:bodyPr>
          <a:lstStyle/>
          <a:p>
            <a:pPr algn="l">
              <a:spcBef>
                <a:spcPts val="0"/>
              </a:spcBef>
              <a:spcAft>
                <a:spcPts val="500"/>
              </a:spcAft>
            </a:pPr>
            <a:r>
              <a:rPr sz="1150" b="1" i="0">
                <a:solidFill>
                  <a:srgbClr val="B85042"/>
                </a:solidFill>
                <a:latin typeface="Calibri"/>
              </a:rPr>
              <a:t>⚙  YOU SET FOR YOUR SITE</a:t>
            </a:r>
          </a:p>
        </p:txBody>
      </p:sp>
      <p:sp>
        <p:nvSpPr>
          <p:cNvPr id="20" name="TextBox 19"/>
          <p:cNvSpPr txBox="1"/>
          <p:nvPr/>
        </p:nvSpPr>
        <p:spPr>
          <a:xfrm>
            <a:off x="914400" y="5925312"/>
            <a:ext cx="5029200" cy="914400"/>
          </a:xfrm>
          <a:prstGeom prst="rect">
            <a:avLst/>
          </a:prstGeom>
          <a:noFill/>
        </p:spPr>
        <p:txBody>
          <a:bodyPr wrap="square" lIns="0" tIns="0" rIns="0" bIns="0">
            <a:spAutoFit/>
          </a:bodyPr>
          <a:lstStyle/>
          <a:p>
            <a:pPr>
              <a:spcBef>
                <a:spcPts val="0"/>
              </a:spcBef>
              <a:spcAft>
                <a:spcPts val="300"/>
              </a:spcAft>
            </a:pPr>
            <a:r>
              <a:rPr sz="1100" b="1">
                <a:solidFill>
                  <a:srgbClr val="2C4A3E"/>
                </a:solidFill>
                <a:latin typeface="Courier New"/>
              </a:rPr>
              <a:t>K_br, K_sed</a:t>
            </a:r>
            <a:r>
              <a:rPr sz="1100">
                <a:solidFill>
                  <a:srgbClr val="6E6A60"/>
                </a:solidFill>
                <a:latin typeface="Calibri"/>
              </a:rPr>
              <a:t>  bedrock &amp; sediment softness (your rock)</a:t>
            </a:r>
          </a:p>
          <a:p>
            <a:pPr>
              <a:spcBef>
                <a:spcPts val="0"/>
              </a:spcBef>
              <a:spcAft>
                <a:spcPts val="300"/>
              </a:spcAft>
            </a:pPr>
            <a:r>
              <a:rPr sz="1100" b="1">
                <a:solidFill>
                  <a:srgbClr val="2C4A3E"/>
                </a:solidFill>
                <a:latin typeface="Courier New"/>
              </a:rPr>
              <a:t>v_s</a:t>
            </a:r>
            <a:r>
              <a:rPr sz="1100">
                <a:solidFill>
                  <a:srgbClr val="6E6A60"/>
                </a:solidFill>
                <a:latin typeface="Calibri"/>
              </a:rPr>
              <a:t>  settling velocity — controls deposition</a:t>
            </a:r>
          </a:p>
          <a:p>
            <a:pPr>
              <a:spcBef>
                <a:spcPts val="0"/>
              </a:spcBef>
              <a:spcAft>
                <a:spcPts val="300"/>
              </a:spcAft>
            </a:pPr>
            <a:r>
              <a:rPr sz="1100" b="1">
                <a:solidFill>
                  <a:srgbClr val="2C4A3E"/>
                </a:solidFill>
                <a:latin typeface="Courier New"/>
              </a:rPr>
              <a:t>soil_depth</a:t>
            </a:r>
            <a:r>
              <a:rPr sz="1100">
                <a:solidFill>
                  <a:srgbClr val="6E6A60"/>
                </a:solidFill>
                <a:latin typeface="Calibri"/>
              </a:rPr>
              <a:t>  starting soil thickness over bedrock</a:t>
            </a:r>
          </a:p>
        </p:txBody>
      </p:sp>
      <p:sp>
        <p:nvSpPr>
          <p:cNvPr id="21" name="TextBox 20"/>
          <p:cNvSpPr txBox="1"/>
          <p:nvPr/>
        </p:nvSpPr>
        <p:spPr>
          <a:xfrm>
            <a:off x="6355080" y="5614416"/>
            <a:ext cx="5212080" cy="274320"/>
          </a:xfrm>
          <a:prstGeom prst="rect">
            <a:avLst/>
          </a:prstGeom>
          <a:noFill/>
        </p:spPr>
        <p:txBody>
          <a:bodyPr wrap="square" lIns="0" tIns="0" rIns="0" bIns="0" anchor="t">
            <a:spAutoFit/>
          </a:bodyPr>
          <a:lstStyle/>
          <a:p>
            <a:pPr algn="l">
              <a:spcBef>
                <a:spcPts val="0"/>
              </a:spcBef>
              <a:spcAft>
                <a:spcPts val="500"/>
              </a:spcAft>
            </a:pPr>
            <a:r>
              <a:rPr sz="1150" b="1" i="0">
                <a:solidFill>
                  <a:srgbClr val="6B8E5A"/>
                </a:solidFill>
                <a:latin typeface="Calibri"/>
              </a:rPr>
              <a:t>✓  STANDARD VALUES  —  used across studies</a:t>
            </a:r>
          </a:p>
        </p:txBody>
      </p:sp>
      <p:sp>
        <p:nvSpPr>
          <p:cNvPr id="22" name="TextBox 21"/>
          <p:cNvSpPr txBox="1"/>
          <p:nvPr/>
        </p:nvSpPr>
        <p:spPr>
          <a:xfrm>
            <a:off x="6355080" y="5925312"/>
            <a:ext cx="5029200" cy="914400"/>
          </a:xfrm>
          <a:prstGeom prst="rect">
            <a:avLst/>
          </a:prstGeom>
          <a:noFill/>
        </p:spPr>
        <p:txBody>
          <a:bodyPr wrap="square" lIns="0" tIns="0" rIns="0" bIns="0">
            <a:spAutoFit/>
          </a:bodyPr>
          <a:lstStyle/>
          <a:p>
            <a:pPr>
              <a:spcBef>
                <a:spcPts val="0"/>
              </a:spcBef>
              <a:spcAft>
                <a:spcPts val="300"/>
              </a:spcAft>
            </a:pPr>
            <a:r>
              <a:rPr sz="1100" b="1">
                <a:solidFill>
                  <a:srgbClr val="2C4A3E"/>
                </a:solidFill>
                <a:latin typeface="Courier New"/>
              </a:rPr>
              <a:t>m_sp, n_sp</a:t>
            </a:r>
            <a:r>
              <a:rPr sz="1100">
                <a:solidFill>
                  <a:srgbClr val="6E6A60"/>
                </a:solidFill>
                <a:latin typeface="Calibri"/>
              </a:rPr>
              <a:t>  = 0.5, 1.0  (Whipple &amp; Tucker 1999)</a:t>
            </a:r>
          </a:p>
          <a:p>
            <a:pPr>
              <a:spcBef>
                <a:spcPts val="0"/>
              </a:spcBef>
              <a:spcAft>
                <a:spcPts val="300"/>
              </a:spcAft>
            </a:pPr>
            <a:r>
              <a:rPr sz="1100" b="1">
                <a:solidFill>
                  <a:srgbClr val="2C4A3E"/>
                </a:solidFill>
                <a:latin typeface="Courier New"/>
              </a:rPr>
              <a:t>H_star</a:t>
            </a:r>
            <a:r>
              <a:rPr sz="1100">
                <a:solidFill>
                  <a:srgbClr val="6E6A60"/>
                </a:solidFill>
                <a:latin typeface="Calibri"/>
              </a:rPr>
              <a:t>  shield depth ~0.1–0.5 m  (Shobe+ 2017)</a:t>
            </a:r>
          </a:p>
          <a:p>
            <a:pPr>
              <a:spcBef>
                <a:spcPts val="0"/>
              </a:spcBef>
              <a:spcAft>
                <a:spcPts val="300"/>
              </a:spcAft>
            </a:pPr>
            <a:r>
              <a:rPr sz="1100" b="1">
                <a:solidFill>
                  <a:srgbClr val="2C4A3E"/>
                </a:solidFill>
                <a:latin typeface="Courier New"/>
              </a:rPr>
              <a:t>phi</a:t>
            </a:r>
            <a:r>
              <a:rPr sz="1100">
                <a:solidFill>
                  <a:srgbClr val="6E6A60"/>
                </a:solidFill>
                <a:latin typeface="Calibri"/>
              </a:rPr>
              <a:t>  porosity ≈ 0.3  (Shobe+ 2017)</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2E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8229600" cy="365760"/>
          </a:xfrm>
          <a:prstGeom prst="rect">
            <a:avLst/>
          </a:prstGeom>
          <a:noFill/>
        </p:spPr>
        <p:txBody>
          <a:bodyPr wrap="square" lIns="0" tIns="0" rIns="0" bIns="0" anchor="t">
            <a:spAutoFit/>
          </a:bodyPr>
          <a:lstStyle/>
          <a:p>
            <a:pPr algn="l">
              <a:spcBef>
                <a:spcPts val="0"/>
              </a:spcBef>
              <a:spcAft>
                <a:spcPts val="500"/>
              </a:spcAft>
            </a:pPr>
            <a:r>
              <a:rPr sz="1250" b="1" i="0">
                <a:solidFill>
                  <a:srgbClr val="B85042"/>
                </a:solidFill>
                <a:latin typeface="Calibri"/>
              </a:rPr>
              <a:t>COMPONENT · HILLSLOPE DIFFUSER</a:t>
            </a:r>
          </a:p>
        </p:txBody>
      </p:sp>
      <p:sp>
        <p:nvSpPr>
          <p:cNvPr id="4" name="TextBox 3"/>
          <p:cNvSpPr txBox="1"/>
          <p:nvPr/>
        </p:nvSpPr>
        <p:spPr>
          <a:xfrm>
            <a:off x="640080" y="676656"/>
            <a:ext cx="8595360" cy="777240"/>
          </a:xfrm>
          <a:prstGeom prst="rect">
            <a:avLst/>
          </a:prstGeom>
          <a:noFill/>
        </p:spPr>
        <p:txBody>
          <a:bodyPr wrap="square" lIns="0" tIns="0" rIns="0" bIns="0" anchor="t">
            <a:spAutoFit/>
          </a:bodyPr>
          <a:lstStyle/>
          <a:p>
            <a:pPr algn="l">
              <a:spcBef>
                <a:spcPts val="0"/>
              </a:spcBef>
              <a:spcAft>
                <a:spcPts val="500"/>
              </a:spcAft>
            </a:pPr>
            <a:r>
              <a:rPr sz="3100" b="1" i="0">
                <a:solidFill>
                  <a:srgbClr val="2C4A3E"/>
                </a:solidFill>
                <a:latin typeface="Calibri"/>
              </a:rPr>
              <a:t>Depth-Dependent Diffuser</a:t>
            </a:r>
          </a:p>
        </p:txBody>
      </p:sp>
      <p:sp>
        <p:nvSpPr>
          <p:cNvPr id="5" name="Rounded Rectangle 4"/>
          <p:cNvSpPr/>
          <p:nvPr/>
        </p:nvSpPr>
        <p:spPr>
          <a:xfrm>
            <a:off x="9733788" y="548640"/>
            <a:ext cx="1815084" cy="384048"/>
          </a:xfrm>
          <a:prstGeom prst="roundRect">
            <a:avLst>
              <a:gd name="adj" fmla="val 50000"/>
            </a:avLst>
          </a:prstGeom>
          <a:solidFill>
            <a:srgbClr val="6B8E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733788" y="562356"/>
            <a:ext cx="1815084" cy="365760"/>
          </a:xfrm>
          <a:prstGeom prst="rect">
            <a:avLst/>
          </a:prstGeom>
          <a:noFill/>
        </p:spPr>
        <p:txBody>
          <a:bodyPr wrap="square" lIns="0" tIns="0" rIns="0" bIns="0" anchor="ctr">
            <a:spAutoFit/>
          </a:bodyPr>
          <a:lstStyle/>
          <a:p>
            <a:pPr algn="ctr">
              <a:spcBef>
                <a:spcPts val="0"/>
              </a:spcBef>
              <a:spcAft>
                <a:spcPts val="500"/>
              </a:spcAft>
            </a:pPr>
            <a:r>
              <a:rPr sz="1150" b="1" i="0">
                <a:solidFill>
                  <a:srgbClr val="FFFFFF"/>
                </a:solidFill>
                <a:latin typeface="Calibri"/>
              </a:rPr>
              <a:t>● LANDLAB WRAPPER</a:t>
            </a:r>
          </a:p>
        </p:txBody>
      </p:sp>
      <p:sp>
        <p:nvSpPr>
          <p:cNvPr id="7" name="TextBox 6"/>
          <p:cNvSpPr txBox="1"/>
          <p:nvPr/>
        </p:nvSpPr>
        <p:spPr>
          <a:xfrm>
            <a:off x="640080" y="1417320"/>
            <a:ext cx="5669280" cy="320040"/>
          </a:xfrm>
          <a:prstGeom prst="rect">
            <a:avLst/>
          </a:prstGeom>
          <a:noFill/>
        </p:spPr>
        <p:txBody>
          <a:bodyPr wrap="square" lIns="0" tIns="0" rIns="0" bIns="0" anchor="t">
            <a:spAutoFit/>
          </a:bodyPr>
          <a:lstStyle/>
          <a:p>
            <a:pPr algn="l">
              <a:spcBef>
                <a:spcPts val="0"/>
              </a:spcBef>
              <a:spcAft>
                <a:spcPts val="500"/>
              </a:spcAft>
            </a:pPr>
            <a:r>
              <a:rPr sz="1250" b="1" i="0">
                <a:solidFill>
                  <a:srgbClr val="B85042"/>
                </a:solidFill>
                <a:latin typeface="Calibri"/>
              </a:rPr>
              <a:t>WHAT IT DOES</a:t>
            </a:r>
          </a:p>
        </p:txBody>
      </p:sp>
      <p:sp>
        <p:nvSpPr>
          <p:cNvPr id="8" name="TextBox 7"/>
          <p:cNvSpPr txBox="1"/>
          <p:nvPr/>
        </p:nvSpPr>
        <p:spPr>
          <a:xfrm>
            <a:off x="640080" y="1709928"/>
            <a:ext cx="5669280" cy="2286000"/>
          </a:xfrm>
          <a:prstGeom prst="rect">
            <a:avLst/>
          </a:prstGeom>
          <a:noFill/>
        </p:spPr>
        <p:txBody>
          <a:bodyPr wrap="square" lIns="0" tIns="0" rIns="0" bIns="0" anchor="t">
            <a:spAutoFit/>
          </a:bodyPr>
          <a:lstStyle/>
          <a:p>
            <a:pPr algn="l">
              <a:spcBef>
                <a:spcPts val="0"/>
              </a:spcBef>
              <a:spcAft>
                <a:spcPts val="500"/>
              </a:spcAft>
            </a:pPr>
            <a:r>
              <a:rPr sz="1250" b="0" i="0">
                <a:solidFill>
                  <a:srgbClr val="2B2B2B"/>
                </a:solidFill>
                <a:latin typeface="Calibri"/>
              </a:rPr>
              <a:t>Moves soil slowly downhill on slopes — the gentle creep that rounds off sharp ridges and fills in hollows, even where there are no rivers. It changes the land surface on hillslopes; SPACE handles the channels.</a:t>
            </a:r>
          </a:p>
        </p:txBody>
      </p:sp>
      <p:sp>
        <p:nvSpPr>
          <p:cNvPr id="9" name="TextBox 8"/>
          <p:cNvSpPr txBox="1"/>
          <p:nvPr/>
        </p:nvSpPr>
        <p:spPr>
          <a:xfrm>
            <a:off x="640080" y="2606040"/>
            <a:ext cx="5669280" cy="292608"/>
          </a:xfrm>
          <a:prstGeom prst="rect">
            <a:avLst/>
          </a:prstGeom>
          <a:noFill/>
        </p:spPr>
        <p:txBody>
          <a:bodyPr wrap="square" lIns="0" tIns="0" rIns="0" bIns="0" anchor="t">
            <a:spAutoFit/>
          </a:bodyPr>
          <a:lstStyle/>
          <a:p>
            <a:pPr algn="l">
              <a:spcBef>
                <a:spcPts val="0"/>
              </a:spcBef>
              <a:spcAft>
                <a:spcPts val="500"/>
              </a:spcAft>
            </a:pPr>
            <a:r>
              <a:rPr sz="1250" b="1" i="0">
                <a:solidFill>
                  <a:srgbClr val="3E6B8C"/>
                </a:solidFill>
                <a:latin typeface="Calibri"/>
              </a:rPr>
              <a:t>WHAT YOU CAN DO WITH IT</a:t>
            </a:r>
          </a:p>
        </p:txBody>
      </p:sp>
      <p:sp>
        <p:nvSpPr>
          <p:cNvPr id="10" name="TextBox 9"/>
          <p:cNvSpPr txBox="1"/>
          <p:nvPr/>
        </p:nvSpPr>
        <p:spPr>
          <a:xfrm>
            <a:off x="640080" y="2916936"/>
            <a:ext cx="5669280" cy="1417320"/>
          </a:xfrm>
          <a:prstGeom prst="rect">
            <a:avLst/>
          </a:prstGeom>
          <a:noFill/>
        </p:spPr>
        <p:txBody>
          <a:bodyPr wrap="square" lIns="0" tIns="0" rIns="0" bIns="0">
            <a:spAutoFit/>
          </a:bodyPr>
          <a:lstStyle/>
          <a:p>
            <a:pPr>
              <a:spcBef>
                <a:spcPts val="0"/>
              </a:spcBef>
              <a:spcAft>
                <a:spcPts val="400"/>
              </a:spcAft>
            </a:pPr>
            <a:r>
              <a:rPr sz="1100" b="1">
                <a:solidFill>
                  <a:srgbClr val="3E6B8C"/>
                </a:solidFill>
                <a:latin typeface="Calibri"/>
              </a:rPr>
              <a:t>▸  </a:t>
            </a:r>
            <a:r>
              <a:rPr sz="1150" b="1">
                <a:solidFill>
                  <a:srgbClr val="2C4A3E"/>
                </a:solidFill>
                <a:latin typeface="Calibri"/>
              </a:rPr>
              <a:t>Rounds off </a:t>
            </a:r>
            <a:r>
              <a:rPr sz="1150">
                <a:solidFill>
                  <a:srgbClr val="2B2B2B"/>
                </a:solidFill>
                <a:latin typeface="Calibri"/>
              </a:rPr>
              <a:t>sharp ridges into smooth, soil-mantled hillslopes.</a:t>
            </a:r>
          </a:p>
          <a:p>
            <a:pPr>
              <a:spcBef>
                <a:spcPts val="0"/>
              </a:spcBef>
              <a:spcAft>
                <a:spcPts val="400"/>
              </a:spcAft>
            </a:pPr>
            <a:r>
              <a:rPr sz="1100" b="1">
                <a:solidFill>
                  <a:srgbClr val="3E6B8C"/>
                </a:solidFill>
                <a:latin typeface="Calibri"/>
              </a:rPr>
              <a:t>▸  </a:t>
            </a:r>
            <a:r>
              <a:rPr sz="1150" b="1">
                <a:solidFill>
                  <a:srgbClr val="2C4A3E"/>
                </a:solidFill>
                <a:latin typeface="Calibri"/>
              </a:rPr>
              <a:t>Fills in </a:t>
            </a:r>
            <a:r>
              <a:rPr sz="1150">
                <a:solidFill>
                  <a:srgbClr val="2B2B2B"/>
                </a:solidFill>
                <a:latin typeface="Calibri"/>
              </a:rPr>
              <a:t>hollows as soil creeps down and collects.</a:t>
            </a:r>
          </a:p>
          <a:p>
            <a:pPr>
              <a:spcBef>
                <a:spcPts val="0"/>
              </a:spcBef>
              <a:spcAft>
                <a:spcPts val="400"/>
              </a:spcAft>
            </a:pPr>
            <a:r>
              <a:rPr sz="1100" b="1">
                <a:solidFill>
                  <a:srgbClr val="3E6B8C"/>
                </a:solidFill>
                <a:latin typeface="Calibri"/>
              </a:rPr>
              <a:t>▸  </a:t>
            </a:r>
            <a:r>
              <a:rPr sz="1150" b="1">
                <a:solidFill>
                  <a:srgbClr val="2C4A3E"/>
                </a:solidFill>
                <a:latin typeface="Calibri"/>
              </a:rPr>
              <a:t>Softens </a:t>
            </a:r>
            <a:r>
              <a:rPr sz="1150">
                <a:solidFill>
                  <a:srgbClr val="2B2B2B"/>
                </a:solidFill>
                <a:latin typeface="Calibri"/>
              </a:rPr>
              <a:t>steep scarps &amp; terraces over time.</a:t>
            </a:r>
          </a:p>
        </p:txBody>
      </p:sp>
      <p:sp>
        <p:nvSpPr>
          <p:cNvPr id="11" name="TextBox 10"/>
          <p:cNvSpPr txBox="1"/>
          <p:nvPr/>
        </p:nvSpPr>
        <p:spPr>
          <a:xfrm>
            <a:off x="640080" y="4160520"/>
            <a:ext cx="5669280" cy="320040"/>
          </a:xfrm>
          <a:prstGeom prst="rect">
            <a:avLst/>
          </a:prstGeom>
          <a:noFill/>
        </p:spPr>
        <p:txBody>
          <a:bodyPr wrap="square" lIns="0" tIns="0" rIns="0" bIns="0" anchor="t">
            <a:spAutoFit/>
          </a:bodyPr>
          <a:lstStyle/>
          <a:p>
            <a:pPr algn="l">
              <a:spcBef>
                <a:spcPts val="0"/>
              </a:spcBef>
              <a:spcAft>
                <a:spcPts val="500"/>
              </a:spcAft>
            </a:pPr>
            <a:r>
              <a:rPr sz="1250" b="1" i="0">
                <a:solidFill>
                  <a:srgbClr val="6B8E5A"/>
                </a:solidFill>
                <a:latin typeface="Calibri"/>
              </a:rPr>
              <a:t>HOW IT WORKS</a:t>
            </a:r>
          </a:p>
        </p:txBody>
      </p:sp>
      <p:sp>
        <p:nvSpPr>
          <p:cNvPr id="12" name="TextBox 11"/>
          <p:cNvSpPr txBox="1"/>
          <p:nvPr/>
        </p:nvSpPr>
        <p:spPr>
          <a:xfrm>
            <a:off x="640080" y="4453128"/>
            <a:ext cx="5669280" cy="2743200"/>
          </a:xfrm>
          <a:prstGeom prst="rect">
            <a:avLst/>
          </a:prstGeom>
          <a:noFill/>
        </p:spPr>
        <p:txBody>
          <a:bodyPr wrap="square" lIns="0" tIns="0" rIns="0" bIns="0" anchor="t">
            <a:spAutoFit/>
          </a:bodyPr>
          <a:lstStyle/>
          <a:p>
            <a:pPr algn="l">
              <a:spcBef>
                <a:spcPts val="0"/>
              </a:spcBef>
              <a:spcAft>
                <a:spcPts val="500"/>
              </a:spcAft>
            </a:pPr>
            <a:r>
              <a:rPr sz="1150" b="0" i="0">
                <a:solidFill>
                  <a:srgbClr val="2B2B2B"/>
                </a:solidFill>
                <a:latin typeface="Calibri"/>
              </a:rPr>
              <a:t>Wraps Landlab's DepthDependentDiffuser (Johnstone &amp; Hilley 2015). Soil drifts faster on steeper slopes, but only where there's soil to move — bare bedrock doesn't 'flow'. Landlab's diffuser has no stability check of its own (explicit diffusion needs dt ≤ cell²/(4·K)); this wrapper auto-substeps internally so results stay correct at any dt or grid resolution you pick.</a:t>
            </a:r>
          </a:p>
        </p:txBody>
      </p:sp>
      <p:sp>
        <p:nvSpPr>
          <p:cNvPr id="13" name="Rounded Rectangle 12"/>
          <p:cNvSpPr/>
          <p:nvPr/>
        </p:nvSpPr>
        <p:spPr>
          <a:xfrm>
            <a:off x="6720840" y="1463040"/>
            <a:ext cx="4828032" cy="3611880"/>
          </a:xfrm>
          <a:prstGeom prst="roundRect">
            <a:avLst>
              <a:gd name="adj" fmla="val 7000"/>
            </a:avLst>
          </a:prstGeom>
          <a:solidFill>
            <a:srgbClr val="1B2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995159" y="1664208"/>
            <a:ext cx="4279392" cy="365760"/>
          </a:xfrm>
          <a:prstGeom prst="rect">
            <a:avLst/>
          </a:prstGeom>
          <a:noFill/>
        </p:spPr>
        <p:txBody>
          <a:bodyPr wrap="square" lIns="0" tIns="0" rIns="0" bIns="0" anchor="t">
            <a:spAutoFit/>
          </a:bodyPr>
          <a:lstStyle/>
          <a:p>
            <a:pPr algn="l">
              <a:spcBef>
                <a:spcPts val="0"/>
              </a:spcBef>
              <a:spcAft>
                <a:spcPts val="500"/>
              </a:spcAft>
            </a:pPr>
            <a:r>
              <a:rPr sz="1200" b="1" i="0">
                <a:solidFill>
                  <a:srgbClr val="9CC486"/>
                </a:solidFill>
                <a:latin typeface="Calibri"/>
              </a:rPr>
              <a:t>SOIL CREEP, IN PLAIN WORDS + MATHS</a:t>
            </a:r>
          </a:p>
        </p:txBody>
      </p:sp>
      <p:sp>
        <p:nvSpPr>
          <p:cNvPr id="15" name="TextBox 14"/>
          <p:cNvSpPr txBox="1"/>
          <p:nvPr/>
        </p:nvSpPr>
        <p:spPr>
          <a:xfrm>
            <a:off x="6995159" y="2029968"/>
            <a:ext cx="4279392" cy="2651760"/>
          </a:xfrm>
          <a:prstGeom prst="rect">
            <a:avLst/>
          </a:prstGeom>
          <a:noFill/>
        </p:spPr>
        <p:txBody>
          <a:bodyPr wrap="square" lIns="0" tIns="0" rIns="0" bIns="0">
            <a:spAutoFit/>
          </a:bodyPr>
          <a:lstStyle/>
          <a:p>
            <a:pPr>
              <a:spcBef>
                <a:spcPts val="0"/>
              </a:spcBef>
              <a:spcAft>
                <a:spcPts val="200"/>
              </a:spcAft>
            </a:pPr>
            <a:r>
              <a:rPr sz="1300" b="1">
                <a:solidFill>
                  <a:srgbClr val="9CC486"/>
                </a:solidFill>
                <a:latin typeface="Calibri"/>
              </a:rPr>
              <a:t>soil creep = steepness × (more where soil is deep)</a:t>
            </a:r>
          </a:p>
          <a:p>
            <a:pPr>
              <a:spcBef>
                <a:spcPts val="0"/>
              </a:spcBef>
              <a:spcAft>
                <a:spcPts val="1200"/>
              </a:spcAft>
            </a:pPr>
            <a:endParaRPr sz="1300" b="1">
              <a:solidFill>
                <a:srgbClr val="9CC486"/>
              </a:solidFill>
              <a:latin typeface="Calibri"/>
            </a:endParaRPr>
          </a:p>
          <a:p>
            <a:pPr>
              <a:spcBef>
                <a:spcPts val="0"/>
              </a:spcBef>
              <a:spcAft>
                <a:spcPts val="400"/>
              </a:spcAft>
            </a:pPr>
            <a:r>
              <a:rPr sz="1400" b="1">
                <a:solidFill>
                  <a:srgbClr val="E9E4D6"/>
                </a:solidFill>
                <a:latin typeface="Courier New"/>
              </a:rPr>
              <a:t>q_s = −K · ∇z · (1 − e^(−H/H*))</a:t>
            </a:r>
          </a:p>
          <a:p>
            <a:pPr>
              <a:spcBef>
                <a:spcPts val="0"/>
              </a:spcBef>
              <a:spcAft>
                <a:spcPts val="1200"/>
              </a:spcAft>
            </a:pPr>
            <a:r>
              <a:rPr sz="1100" i="1">
                <a:solidFill>
                  <a:srgbClr val="9FB0A0"/>
                </a:solidFill>
                <a:latin typeface="Calibri"/>
              </a:rPr>
              <a:t>how much soil drifts downhill</a:t>
            </a:r>
          </a:p>
          <a:p>
            <a:pPr>
              <a:spcBef>
                <a:spcPts val="0"/>
              </a:spcBef>
              <a:spcAft>
                <a:spcPts val="400"/>
              </a:spcAft>
            </a:pPr>
            <a:r>
              <a:rPr sz="1400" b="1">
                <a:solidFill>
                  <a:srgbClr val="E9E4D6"/>
                </a:solidFill>
                <a:latin typeface="Courier New"/>
              </a:rPr>
              <a:t>∂z/∂t = −∇·q_s</a:t>
            </a:r>
          </a:p>
          <a:p>
            <a:pPr>
              <a:spcBef>
                <a:spcPts val="0"/>
              </a:spcBef>
              <a:spcAft>
                <a:spcPts val="1200"/>
              </a:spcAft>
            </a:pPr>
            <a:r>
              <a:rPr sz="1100" i="1">
                <a:solidFill>
                  <a:srgbClr val="9FB0A0"/>
                </a:solidFill>
                <a:latin typeface="Calibri"/>
              </a:rPr>
              <a:t>ground rises/falls as soil arrives or leaves</a:t>
            </a:r>
          </a:p>
        </p:txBody>
      </p:sp>
      <p:sp>
        <p:nvSpPr>
          <p:cNvPr id="16" name="TextBox 15"/>
          <p:cNvSpPr txBox="1"/>
          <p:nvPr/>
        </p:nvSpPr>
        <p:spPr>
          <a:xfrm>
            <a:off x="6995159" y="4526280"/>
            <a:ext cx="4279392" cy="457200"/>
          </a:xfrm>
          <a:prstGeom prst="rect">
            <a:avLst/>
          </a:prstGeom>
          <a:noFill/>
        </p:spPr>
        <p:txBody>
          <a:bodyPr wrap="square" lIns="0" tIns="0" rIns="0" bIns="0" anchor="t">
            <a:spAutoFit/>
          </a:bodyPr>
          <a:lstStyle/>
          <a:p>
            <a:pPr algn="l">
              <a:spcBef>
                <a:spcPts val="0"/>
              </a:spcBef>
              <a:spcAft>
                <a:spcPts val="500"/>
              </a:spcAft>
            </a:pPr>
            <a:r>
              <a:rPr sz="1050" b="0" i="0">
                <a:solidFill>
                  <a:srgbClr val="8C9D8E"/>
                </a:solidFill>
                <a:latin typeface="Calibri"/>
              </a:rPr>
              <a:t>KEY:  q_s soil moved · K creep rate · ∇z slope (∇ = change over distance) · H soil depth · H* decay depth</a:t>
            </a:r>
          </a:p>
        </p:txBody>
      </p:sp>
      <p:sp>
        <p:nvSpPr>
          <p:cNvPr id="17" name="Rounded Rectangle 16"/>
          <p:cNvSpPr/>
          <p:nvPr/>
        </p:nvSpPr>
        <p:spPr>
          <a:xfrm>
            <a:off x="640080" y="5468112"/>
            <a:ext cx="10908792" cy="1243584"/>
          </a:xfrm>
          <a:prstGeom prst="roundRect">
            <a:avLst>
              <a:gd name="adj" fmla="val 7000"/>
            </a:avLst>
          </a:prstGeom>
          <a:solidFill>
            <a:srgbClr val="FBF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089904" y="5632704"/>
            <a:ext cx="10972" cy="914400"/>
          </a:xfrm>
          <a:prstGeom prst="rect">
            <a:avLst/>
          </a:prstGeom>
          <a:solidFill>
            <a:srgbClr val="E0D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14400" y="5614416"/>
            <a:ext cx="5029200" cy="274320"/>
          </a:xfrm>
          <a:prstGeom prst="rect">
            <a:avLst/>
          </a:prstGeom>
          <a:noFill/>
        </p:spPr>
        <p:txBody>
          <a:bodyPr wrap="square" lIns="0" tIns="0" rIns="0" bIns="0" anchor="t">
            <a:spAutoFit/>
          </a:bodyPr>
          <a:lstStyle/>
          <a:p>
            <a:pPr algn="l">
              <a:spcBef>
                <a:spcPts val="0"/>
              </a:spcBef>
              <a:spcAft>
                <a:spcPts val="500"/>
              </a:spcAft>
            </a:pPr>
            <a:r>
              <a:rPr sz="1150" b="1" i="0">
                <a:solidFill>
                  <a:srgbClr val="B85042"/>
                </a:solidFill>
                <a:latin typeface="Calibri"/>
              </a:rPr>
              <a:t>⚙  YOU SET FOR YOUR SITE</a:t>
            </a:r>
          </a:p>
        </p:txBody>
      </p:sp>
      <p:sp>
        <p:nvSpPr>
          <p:cNvPr id="20" name="TextBox 19"/>
          <p:cNvSpPr txBox="1"/>
          <p:nvPr/>
        </p:nvSpPr>
        <p:spPr>
          <a:xfrm>
            <a:off x="914400" y="5925312"/>
            <a:ext cx="5029200" cy="914400"/>
          </a:xfrm>
          <a:prstGeom prst="rect">
            <a:avLst/>
          </a:prstGeom>
          <a:noFill/>
        </p:spPr>
        <p:txBody>
          <a:bodyPr wrap="square" lIns="0" tIns="0" rIns="0" bIns="0">
            <a:spAutoFit/>
          </a:bodyPr>
          <a:lstStyle/>
          <a:p>
            <a:pPr>
              <a:spcBef>
                <a:spcPts val="0"/>
              </a:spcBef>
              <a:spcAft>
                <a:spcPts val="300"/>
              </a:spcAft>
            </a:pPr>
            <a:r>
              <a:rPr sz="1100" b="1">
                <a:solidFill>
                  <a:srgbClr val="2C4A3E"/>
                </a:solidFill>
                <a:latin typeface="Courier New"/>
              </a:rPr>
              <a:t>linear_diffusivity</a:t>
            </a:r>
            <a:r>
              <a:rPr sz="1100">
                <a:solidFill>
                  <a:srgbClr val="6E6A60"/>
                </a:solidFill>
                <a:latin typeface="Calibri"/>
              </a:rPr>
              <a:t>  hillslope creep rate — your soil &amp; climate</a:t>
            </a:r>
          </a:p>
        </p:txBody>
      </p:sp>
      <p:sp>
        <p:nvSpPr>
          <p:cNvPr id="21" name="TextBox 20"/>
          <p:cNvSpPr txBox="1"/>
          <p:nvPr/>
        </p:nvSpPr>
        <p:spPr>
          <a:xfrm>
            <a:off x="6355080" y="5614416"/>
            <a:ext cx="5212080" cy="274320"/>
          </a:xfrm>
          <a:prstGeom prst="rect">
            <a:avLst/>
          </a:prstGeom>
          <a:noFill/>
        </p:spPr>
        <p:txBody>
          <a:bodyPr wrap="square" lIns="0" tIns="0" rIns="0" bIns="0" anchor="t">
            <a:spAutoFit/>
          </a:bodyPr>
          <a:lstStyle/>
          <a:p>
            <a:pPr algn="l">
              <a:spcBef>
                <a:spcPts val="0"/>
              </a:spcBef>
              <a:spcAft>
                <a:spcPts val="500"/>
              </a:spcAft>
            </a:pPr>
            <a:r>
              <a:rPr sz="1150" b="1" i="0">
                <a:solidFill>
                  <a:srgbClr val="6B8E5A"/>
                </a:solidFill>
                <a:latin typeface="Calibri"/>
              </a:rPr>
              <a:t>✓  USUALLY LEFT AT DEFAULT</a:t>
            </a:r>
          </a:p>
        </p:txBody>
      </p:sp>
      <p:sp>
        <p:nvSpPr>
          <p:cNvPr id="22" name="TextBox 21"/>
          <p:cNvSpPr txBox="1"/>
          <p:nvPr/>
        </p:nvSpPr>
        <p:spPr>
          <a:xfrm>
            <a:off x="6355080" y="5925312"/>
            <a:ext cx="5029200" cy="914400"/>
          </a:xfrm>
          <a:prstGeom prst="rect">
            <a:avLst/>
          </a:prstGeom>
          <a:noFill/>
        </p:spPr>
        <p:txBody>
          <a:bodyPr wrap="square" lIns="0" tIns="0" rIns="0" bIns="0">
            <a:spAutoFit/>
          </a:bodyPr>
          <a:lstStyle/>
          <a:p>
            <a:pPr>
              <a:spcBef>
                <a:spcPts val="0"/>
              </a:spcBef>
              <a:spcAft>
                <a:spcPts val="300"/>
              </a:spcAft>
            </a:pPr>
            <a:r>
              <a:rPr sz="1100" b="1">
                <a:solidFill>
                  <a:srgbClr val="2C4A3E"/>
                </a:solidFill>
                <a:latin typeface="Courier New"/>
              </a:rPr>
              <a:t>decay depth</a:t>
            </a:r>
            <a:r>
              <a:rPr sz="1100">
                <a:solidFill>
                  <a:srgbClr val="6E6A60"/>
                </a:solidFill>
                <a:latin typeface="Calibri"/>
              </a:rPr>
              <a:t>  ≈ 0.5 m  (typical default)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2E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8229600" cy="365760"/>
          </a:xfrm>
          <a:prstGeom prst="rect">
            <a:avLst/>
          </a:prstGeom>
          <a:noFill/>
        </p:spPr>
        <p:txBody>
          <a:bodyPr wrap="square" lIns="0" tIns="0" rIns="0" bIns="0" anchor="t">
            <a:spAutoFit/>
          </a:bodyPr>
          <a:lstStyle/>
          <a:p>
            <a:pPr algn="l">
              <a:spcBef>
                <a:spcPts val="0"/>
              </a:spcBef>
              <a:spcAft>
                <a:spcPts val="500"/>
              </a:spcAft>
            </a:pPr>
            <a:r>
              <a:rPr sz="1250" b="1" i="0">
                <a:solidFill>
                  <a:srgbClr val="B85042"/>
                </a:solidFill>
                <a:latin typeface="Calibri"/>
              </a:rPr>
              <a:t>COMPONENT · LITHOLOGY</a:t>
            </a:r>
          </a:p>
        </p:txBody>
      </p:sp>
      <p:sp>
        <p:nvSpPr>
          <p:cNvPr id="4" name="TextBox 3"/>
          <p:cNvSpPr txBox="1"/>
          <p:nvPr/>
        </p:nvSpPr>
        <p:spPr>
          <a:xfrm>
            <a:off x="640080" y="676656"/>
            <a:ext cx="8595360" cy="777240"/>
          </a:xfrm>
          <a:prstGeom prst="rect">
            <a:avLst/>
          </a:prstGeom>
          <a:noFill/>
        </p:spPr>
        <p:txBody>
          <a:bodyPr wrap="square" lIns="0" tIns="0" rIns="0" bIns="0" anchor="t">
            <a:spAutoFit/>
          </a:bodyPr>
          <a:lstStyle/>
          <a:p>
            <a:pPr algn="l">
              <a:spcBef>
                <a:spcPts val="0"/>
              </a:spcBef>
              <a:spcAft>
                <a:spcPts val="500"/>
              </a:spcAft>
            </a:pPr>
            <a:r>
              <a:rPr sz="3100" b="1" i="0">
                <a:solidFill>
                  <a:srgbClr val="2C4A3E"/>
                </a:solidFill>
                <a:latin typeface="Calibri"/>
              </a:rPr>
              <a:t>Litho Layers</a:t>
            </a:r>
          </a:p>
        </p:txBody>
      </p:sp>
      <p:sp>
        <p:nvSpPr>
          <p:cNvPr id="5" name="Rounded Rectangle 4"/>
          <p:cNvSpPr/>
          <p:nvPr/>
        </p:nvSpPr>
        <p:spPr>
          <a:xfrm>
            <a:off x="9733788" y="548640"/>
            <a:ext cx="1815084" cy="384048"/>
          </a:xfrm>
          <a:prstGeom prst="roundRect">
            <a:avLst>
              <a:gd name="adj" fmla="val 50000"/>
            </a:avLst>
          </a:prstGeom>
          <a:solidFill>
            <a:srgbClr val="6B8E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733788" y="562356"/>
            <a:ext cx="1815084" cy="365760"/>
          </a:xfrm>
          <a:prstGeom prst="rect">
            <a:avLst/>
          </a:prstGeom>
          <a:noFill/>
        </p:spPr>
        <p:txBody>
          <a:bodyPr wrap="square" lIns="0" tIns="0" rIns="0" bIns="0" anchor="ctr">
            <a:spAutoFit/>
          </a:bodyPr>
          <a:lstStyle/>
          <a:p>
            <a:pPr algn="ctr">
              <a:spcBef>
                <a:spcPts val="0"/>
              </a:spcBef>
              <a:spcAft>
                <a:spcPts val="500"/>
              </a:spcAft>
            </a:pPr>
            <a:r>
              <a:rPr sz="1150" b="1" i="0">
                <a:solidFill>
                  <a:srgbClr val="FFFFFF"/>
                </a:solidFill>
                <a:latin typeface="Calibri"/>
              </a:rPr>
              <a:t>● LANDLAB WRAPPER</a:t>
            </a:r>
          </a:p>
        </p:txBody>
      </p:sp>
      <p:sp>
        <p:nvSpPr>
          <p:cNvPr id="7" name="TextBox 6"/>
          <p:cNvSpPr txBox="1"/>
          <p:nvPr/>
        </p:nvSpPr>
        <p:spPr>
          <a:xfrm>
            <a:off x="640080" y="1417320"/>
            <a:ext cx="5669280" cy="320040"/>
          </a:xfrm>
          <a:prstGeom prst="rect">
            <a:avLst/>
          </a:prstGeom>
          <a:noFill/>
        </p:spPr>
        <p:txBody>
          <a:bodyPr wrap="square" lIns="0" tIns="0" rIns="0" bIns="0" anchor="t">
            <a:spAutoFit/>
          </a:bodyPr>
          <a:lstStyle/>
          <a:p>
            <a:pPr algn="l">
              <a:spcBef>
                <a:spcPts val="0"/>
              </a:spcBef>
              <a:spcAft>
                <a:spcPts val="500"/>
              </a:spcAft>
            </a:pPr>
            <a:r>
              <a:rPr sz="1250" b="1" i="0">
                <a:solidFill>
                  <a:srgbClr val="B85042"/>
                </a:solidFill>
                <a:latin typeface="Calibri"/>
              </a:rPr>
              <a:t>WHAT IT DOES</a:t>
            </a:r>
          </a:p>
        </p:txBody>
      </p:sp>
      <p:sp>
        <p:nvSpPr>
          <p:cNvPr id="8" name="TextBox 7"/>
          <p:cNvSpPr txBox="1"/>
          <p:nvPr/>
        </p:nvSpPr>
        <p:spPr>
          <a:xfrm>
            <a:off x="640080" y="1709928"/>
            <a:ext cx="5669280" cy="2286000"/>
          </a:xfrm>
          <a:prstGeom prst="rect">
            <a:avLst/>
          </a:prstGeom>
          <a:noFill/>
        </p:spPr>
        <p:txBody>
          <a:bodyPr wrap="square" lIns="0" tIns="0" rIns="0" bIns="0" anchor="t">
            <a:spAutoFit/>
          </a:bodyPr>
          <a:lstStyle/>
          <a:p>
            <a:pPr algn="l">
              <a:spcBef>
                <a:spcPts val="0"/>
              </a:spcBef>
              <a:spcAft>
                <a:spcPts val="500"/>
              </a:spcAft>
            </a:pPr>
            <a:r>
              <a:rPr sz="1250" b="0" i="0">
                <a:solidFill>
                  <a:srgbClr val="2B2B2B"/>
                </a:solidFill>
                <a:latin typeface="Calibri"/>
              </a:rPr>
              <a:t>Sets how hard the rock is at the surface — the softness K that SPACE erodes with — and updates it as erosion digs down and exposes deeper layers. This is how different rock types erode at different rates.</a:t>
            </a:r>
          </a:p>
        </p:txBody>
      </p:sp>
      <p:sp>
        <p:nvSpPr>
          <p:cNvPr id="9" name="TextBox 8"/>
          <p:cNvSpPr txBox="1"/>
          <p:nvPr/>
        </p:nvSpPr>
        <p:spPr>
          <a:xfrm>
            <a:off x="640080" y="2606040"/>
            <a:ext cx="5669280" cy="292608"/>
          </a:xfrm>
          <a:prstGeom prst="rect">
            <a:avLst/>
          </a:prstGeom>
          <a:noFill/>
        </p:spPr>
        <p:txBody>
          <a:bodyPr wrap="square" lIns="0" tIns="0" rIns="0" bIns="0" anchor="t">
            <a:spAutoFit/>
          </a:bodyPr>
          <a:lstStyle/>
          <a:p>
            <a:pPr algn="l">
              <a:spcBef>
                <a:spcPts val="0"/>
              </a:spcBef>
              <a:spcAft>
                <a:spcPts val="500"/>
              </a:spcAft>
            </a:pPr>
            <a:r>
              <a:rPr sz="1250" b="1" i="0">
                <a:solidFill>
                  <a:srgbClr val="3E6B8C"/>
                </a:solidFill>
                <a:latin typeface="Calibri"/>
              </a:rPr>
              <a:t>WHAT YOU CAN DO WITH IT</a:t>
            </a:r>
          </a:p>
        </p:txBody>
      </p:sp>
      <p:sp>
        <p:nvSpPr>
          <p:cNvPr id="10" name="TextBox 9"/>
          <p:cNvSpPr txBox="1"/>
          <p:nvPr/>
        </p:nvSpPr>
        <p:spPr>
          <a:xfrm>
            <a:off x="640080" y="2916936"/>
            <a:ext cx="5669280" cy="1417320"/>
          </a:xfrm>
          <a:prstGeom prst="rect">
            <a:avLst/>
          </a:prstGeom>
          <a:noFill/>
        </p:spPr>
        <p:txBody>
          <a:bodyPr wrap="square" lIns="0" tIns="0" rIns="0" bIns="0">
            <a:spAutoFit/>
          </a:bodyPr>
          <a:lstStyle/>
          <a:p>
            <a:pPr>
              <a:spcBef>
                <a:spcPts val="0"/>
              </a:spcBef>
              <a:spcAft>
                <a:spcPts val="400"/>
              </a:spcAft>
            </a:pPr>
            <a:r>
              <a:rPr sz="1100" b="1">
                <a:solidFill>
                  <a:srgbClr val="3E6B8C"/>
                </a:solidFill>
                <a:latin typeface="Calibri"/>
              </a:rPr>
              <a:t>▸  </a:t>
            </a:r>
            <a:r>
              <a:rPr sz="1150" b="1">
                <a:solidFill>
                  <a:srgbClr val="2C4A3E"/>
                </a:solidFill>
                <a:latin typeface="Calibri"/>
              </a:rPr>
              <a:t>You build </a:t>
            </a:r>
            <a:r>
              <a:rPr sz="1150">
                <a:solidFill>
                  <a:srgbClr val="2B2B2B"/>
                </a:solidFill>
                <a:latin typeface="Calibri"/>
              </a:rPr>
              <a:t>the rock stack: each layer's depth, type, and softness.</a:t>
            </a:r>
          </a:p>
          <a:p>
            <a:pPr>
              <a:spcBef>
                <a:spcPts val="0"/>
              </a:spcBef>
              <a:spcAft>
                <a:spcPts val="400"/>
              </a:spcAft>
            </a:pPr>
            <a:r>
              <a:rPr sz="1100" b="1">
                <a:solidFill>
                  <a:srgbClr val="3E6B8C"/>
                </a:solidFill>
                <a:latin typeface="Calibri"/>
              </a:rPr>
              <a:t>▸  </a:t>
            </a:r>
            <a:r>
              <a:rPr sz="1150" b="1">
                <a:solidFill>
                  <a:srgbClr val="2C4A3E"/>
                </a:solidFill>
                <a:latin typeface="Calibri"/>
              </a:rPr>
              <a:t>Hard over soft: </a:t>
            </a:r>
            <a:r>
              <a:rPr sz="1150">
                <a:solidFill>
                  <a:srgbClr val="2B2B2B"/>
                </a:solidFill>
                <a:latin typeface="Calibri"/>
              </a:rPr>
              <a:t>a tough cap-rock makes cliffs &amp; plateaus.</a:t>
            </a:r>
          </a:p>
          <a:p>
            <a:pPr>
              <a:spcBef>
                <a:spcPts val="0"/>
              </a:spcBef>
              <a:spcAft>
                <a:spcPts val="400"/>
              </a:spcAft>
            </a:pPr>
            <a:r>
              <a:rPr sz="1100" b="1">
                <a:solidFill>
                  <a:srgbClr val="3E6B8C"/>
                </a:solidFill>
                <a:latin typeface="Calibri"/>
              </a:rPr>
              <a:t>▸  </a:t>
            </a:r>
            <a:r>
              <a:rPr sz="1150" b="1">
                <a:solidFill>
                  <a:srgbClr val="2C4A3E"/>
                </a:solidFill>
                <a:latin typeface="Calibri"/>
              </a:rPr>
              <a:t>Layered: </a:t>
            </a:r>
            <a:r>
              <a:rPr sz="1150">
                <a:solidFill>
                  <a:srgbClr val="2B2B2B"/>
                </a:solidFill>
                <a:latin typeface="Calibri"/>
              </a:rPr>
              <a:t>alternating hard/soft beds erode unevenly as they're bared.</a:t>
            </a:r>
          </a:p>
        </p:txBody>
      </p:sp>
      <p:sp>
        <p:nvSpPr>
          <p:cNvPr id="11" name="TextBox 10"/>
          <p:cNvSpPr txBox="1"/>
          <p:nvPr/>
        </p:nvSpPr>
        <p:spPr>
          <a:xfrm>
            <a:off x="640080" y="4160520"/>
            <a:ext cx="5669280" cy="320040"/>
          </a:xfrm>
          <a:prstGeom prst="rect">
            <a:avLst/>
          </a:prstGeom>
          <a:noFill/>
        </p:spPr>
        <p:txBody>
          <a:bodyPr wrap="square" lIns="0" tIns="0" rIns="0" bIns="0" anchor="t">
            <a:spAutoFit/>
          </a:bodyPr>
          <a:lstStyle/>
          <a:p>
            <a:pPr algn="l">
              <a:spcBef>
                <a:spcPts val="0"/>
              </a:spcBef>
              <a:spcAft>
                <a:spcPts val="500"/>
              </a:spcAft>
            </a:pPr>
            <a:r>
              <a:rPr sz="1250" b="1" i="0">
                <a:solidFill>
                  <a:srgbClr val="6B8E5A"/>
                </a:solidFill>
                <a:latin typeface="Calibri"/>
              </a:rPr>
              <a:t>HOW IT WORKS</a:t>
            </a:r>
          </a:p>
        </p:txBody>
      </p:sp>
      <p:sp>
        <p:nvSpPr>
          <p:cNvPr id="12" name="TextBox 11"/>
          <p:cNvSpPr txBox="1"/>
          <p:nvPr/>
        </p:nvSpPr>
        <p:spPr>
          <a:xfrm>
            <a:off x="640080" y="4453128"/>
            <a:ext cx="5669280" cy="2743200"/>
          </a:xfrm>
          <a:prstGeom prst="rect">
            <a:avLst/>
          </a:prstGeom>
          <a:noFill/>
        </p:spPr>
        <p:txBody>
          <a:bodyPr wrap="square" lIns="0" tIns="0" rIns="0" bIns="0" anchor="t">
            <a:spAutoFit/>
          </a:bodyPr>
          <a:lstStyle/>
          <a:p>
            <a:pPr algn="l">
              <a:spcBef>
                <a:spcPts val="0"/>
              </a:spcBef>
              <a:spcAft>
                <a:spcPts val="500"/>
              </a:spcAft>
            </a:pPr>
            <a:r>
              <a:rPr sz="1150" b="0" i="0">
                <a:solidFill>
                  <a:srgbClr val="2B2B2B"/>
                </a:solidFill>
                <a:latin typeface="Calibri"/>
              </a:rPr>
              <a:t>Wraps Landlab's Lithology submodule (Barnhart et al. 2018). Every step it refreshes the surface softness K to whatever rock is currently exposed, so SPACE always erodes the correct material.</a:t>
            </a:r>
          </a:p>
        </p:txBody>
      </p:sp>
      <p:sp>
        <p:nvSpPr>
          <p:cNvPr id="13" name="Rounded Rectangle 12"/>
          <p:cNvSpPr/>
          <p:nvPr/>
        </p:nvSpPr>
        <p:spPr>
          <a:xfrm>
            <a:off x="6720840" y="1463040"/>
            <a:ext cx="4828032" cy="3611880"/>
          </a:xfrm>
          <a:prstGeom prst="roundRect">
            <a:avLst>
              <a:gd name="adj" fmla="val 7000"/>
            </a:avLst>
          </a:prstGeom>
          <a:solidFill>
            <a:srgbClr val="1B2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995159" y="1664208"/>
            <a:ext cx="4279392" cy="365760"/>
          </a:xfrm>
          <a:prstGeom prst="rect">
            <a:avLst/>
          </a:prstGeom>
          <a:noFill/>
        </p:spPr>
        <p:txBody>
          <a:bodyPr wrap="square" lIns="0" tIns="0" rIns="0" bIns="0" anchor="t">
            <a:spAutoFit/>
          </a:bodyPr>
          <a:lstStyle/>
          <a:p>
            <a:pPr algn="l">
              <a:spcBef>
                <a:spcPts val="0"/>
              </a:spcBef>
              <a:spcAft>
                <a:spcPts val="500"/>
              </a:spcAft>
            </a:pPr>
            <a:r>
              <a:rPr sz="1200" b="1" i="0">
                <a:solidFill>
                  <a:srgbClr val="9CC486"/>
                </a:solidFill>
                <a:latin typeface="Calibri"/>
              </a:rPr>
              <a:t>WHAT IT TRACKS</a:t>
            </a:r>
          </a:p>
        </p:txBody>
      </p:sp>
      <p:sp>
        <p:nvSpPr>
          <p:cNvPr id="15" name="TextBox 14"/>
          <p:cNvSpPr txBox="1"/>
          <p:nvPr/>
        </p:nvSpPr>
        <p:spPr>
          <a:xfrm>
            <a:off x="6995159" y="2029968"/>
            <a:ext cx="4279392" cy="2651760"/>
          </a:xfrm>
          <a:prstGeom prst="rect">
            <a:avLst/>
          </a:prstGeom>
          <a:noFill/>
        </p:spPr>
        <p:txBody>
          <a:bodyPr wrap="square" lIns="0" tIns="0" rIns="0" bIns="0">
            <a:spAutoFit/>
          </a:bodyPr>
          <a:lstStyle/>
          <a:p>
            <a:pPr>
              <a:spcBef>
                <a:spcPts val="0"/>
              </a:spcBef>
              <a:spcAft>
                <a:spcPts val="200"/>
              </a:spcAft>
            </a:pPr>
            <a:r>
              <a:rPr sz="1300" b="1">
                <a:solidFill>
                  <a:srgbClr val="9CC486"/>
                </a:solidFill>
                <a:latin typeface="Calibri"/>
              </a:rPr>
              <a:t>surface softness = softness of the rock now exposed</a:t>
            </a:r>
          </a:p>
          <a:p>
            <a:pPr>
              <a:spcBef>
                <a:spcPts val="0"/>
              </a:spcBef>
              <a:spcAft>
                <a:spcPts val="1200"/>
              </a:spcAft>
            </a:pPr>
            <a:endParaRPr sz="1300" b="1">
              <a:solidFill>
                <a:srgbClr val="9CC486"/>
              </a:solidFill>
              <a:latin typeface="Calibri"/>
            </a:endParaRPr>
          </a:p>
          <a:p>
            <a:pPr>
              <a:spcBef>
                <a:spcPts val="0"/>
              </a:spcBef>
              <a:spcAft>
                <a:spcPts val="400"/>
              </a:spcAft>
            </a:pPr>
            <a:r>
              <a:rPr sz="1400" b="1">
                <a:solidFill>
                  <a:srgbClr val="E9E4D6"/>
                </a:solidFill>
                <a:latin typeface="Courier New"/>
              </a:rPr>
              <a:t>layers:  z0s = [10, 30, …] m</a:t>
            </a:r>
          </a:p>
          <a:p>
            <a:pPr>
              <a:spcBef>
                <a:spcPts val="0"/>
              </a:spcBef>
              <a:spcAft>
                <a:spcPts val="400"/>
              </a:spcAft>
            </a:pPr>
            <a:r>
              <a:rPr sz="1400" b="1">
                <a:solidFill>
                  <a:srgbClr val="E9E4D6"/>
                </a:solidFill>
                <a:latin typeface="Courier New"/>
              </a:rPr>
              <a:t>ids = [rock₁, rock₂, …]</a:t>
            </a:r>
          </a:p>
          <a:p>
            <a:pPr>
              <a:spcBef>
                <a:spcPts val="0"/>
              </a:spcBef>
              <a:spcAft>
                <a:spcPts val="400"/>
              </a:spcAft>
            </a:pPr>
            <a:r>
              <a:rPr sz="1400" b="1">
                <a:solidFill>
                  <a:srgbClr val="E9E4D6"/>
                </a:solidFill>
                <a:latin typeface="Courier New"/>
              </a:rPr>
              <a:t>K(node) = softness[ exposed rock ]</a:t>
            </a:r>
          </a:p>
          <a:p>
            <a:pPr>
              <a:spcBef>
                <a:spcPts val="0"/>
              </a:spcBef>
              <a:spcAft>
                <a:spcPts val="1200"/>
              </a:spcAft>
            </a:pPr>
            <a:r>
              <a:rPr sz="1100" i="1">
                <a:solidFill>
                  <a:srgbClr val="9FB0A0"/>
                </a:solidFill>
                <a:latin typeface="Calibri"/>
              </a:rPr>
              <a:t>refreshed every step → feeds SPACE</a:t>
            </a:r>
          </a:p>
        </p:txBody>
      </p:sp>
      <p:sp>
        <p:nvSpPr>
          <p:cNvPr id="16" name="TextBox 15"/>
          <p:cNvSpPr txBox="1"/>
          <p:nvPr/>
        </p:nvSpPr>
        <p:spPr>
          <a:xfrm>
            <a:off x="6995159" y="4526280"/>
            <a:ext cx="4279392" cy="457200"/>
          </a:xfrm>
          <a:prstGeom prst="rect">
            <a:avLst/>
          </a:prstGeom>
          <a:noFill/>
        </p:spPr>
        <p:txBody>
          <a:bodyPr wrap="square" lIns="0" tIns="0" rIns="0" bIns="0" anchor="t">
            <a:spAutoFit/>
          </a:bodyPr>
          <a:lstStyle/>
          <a:p>
            <a:pPr algn="l">
              <a:spcBef>
                <a:spcPts val="0"/>
              </a:spcBef>
              <a:spcAft>
                <a:spcPts val="500"/>
              </a:spcAft>
            </a:pPr>
            <a:r>
              <a:rPr sz="1050" b="0" i="0">
                <a:solidFill>
                  <a:srgbClr val="8C9D8E"/>
                </a:solidFill>
                <a:latin typeface="Calibri"/>
              </a:rPr>
              <a:t>KEY:  z0s layer base depths (m) · ids rock-type IDs · K surface softness (erodibility)</a:t>
            </a:r>
          </a:p>
        </p:txBody>
      </p:sp>
      <p:sp>
        <p:nvSpPr>
          <p:cNvPr id="17" name="Rounded Rectangle 16"/>
          <p:cNvSpPr/>
          <p:nvPr/>
        </p:nvSpPr>
        <p:spPr>
          <a:xfrm>
            <a:off x="640080" y="5468112"/>
            <a:ext cx="10908792" cy="1243584"/>
          </a:xfrm>
          <a:prstGeom prst="roundRect">
            <a:avLst>
              <a:gd name="adj" fmla="val 7000"/>
            </a:avLst>
          </a:prstGeom>
          <a:solidFill>
            <a:srgbClr val="FBF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089904" y="5632704"/>
            <a:ext cx="10972" cy="914400"/>
          </a:xfrm>
          <a:prstGeom prst="rect">
            <a:avLst/>
          </a:prstGeom>
          <a:solidFill>
            <a:srgbClr val="E0D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14400" y="5614416"/>
            <a:ext cx="5029200" cy="274320"/>
          </a:xfrm>
          <a:prstGeom prst="rect">
            <a:avLst/>
          </a:prstGeom>
          <a:noFill/>
        </p:spPr>
        <p:txBody>
          <a:bodyPr wrap="square" lIns="0" tIns="0" rIns="0" bIns="0" anchor="t">
            <a:spAutoFit/>
          </a:bodyPr>
          <a:lstStyle/>
          <a:p>
            <a:pPr algn="l">
              <a:spcBef>
                <a:spcPts val="0"/>
              </a:spcBef>
              <a:spcAft>
                <a:spcPts val="500"/>
              </a:spcAft>
            </a:pPr>
            <a:r>
              <a:rPr sz="1150" b="1" i="0">
                <a:solidFill>
                  <a:srgbClr val="B85042"/>
                </a:solidFill>
                <a:latin typeface="Calibri"/>
              </a:rPr>
              <a:t>⚙  YOU SET FOR YOUR SITE</a:t>
            </a:r>
          </a:p>
        </p:txBody>
      </p:sp>
      <p:sp>
        <p:nvSpPr>
          <p:cNvPr id="20" name="TextBox 19"/>
          <p:cNvSpPr txBox="1"/>
          <p:nvPr/>
        </p:nvSpPr>
        <p:spPr>
          <a:xfrm>
            <a:off x="914400" y="5925312"/>
            <a:ext cx="5029200" cy="914400"/>
          </a:xfrm>
          <a:prstGeom prst="rect">
            <a:avLst/>
          </a:prstGeom>
          <a:noFill/>
        </p:spPr>
        <p:txBody>
          <a:bodyPr wrap="square" lIns="0" tIns="0" rIns="0" bIns="0">
            <a:spAutoFit/>
          </a:bodyPr>
          <a:lstStyle/>
          <a:p>
            <a:pPr>
              <a:spcBef>
                <a:spcPts val="0"/>
              </a:spcBef>
              <a:spcAft>
                <a:spcPts val="300"/>
              </a:spcAft>
            </a:pPr>
            <a:r>
              <a:rPr sz="1100" b="1">
                <a:solidFill>
                  <a:srgbClr val="2C4A3E"/>
                </a:solidFill>
                <a:latin typeface="Courier New"/>
              </a:rPr>
              <a:t>z0s, ids</a:t>
            </a:r>
            <a:r>
              <a:rPr sz="1100">
                <a:solidFill>
                  <a:srgbClr val="6E6A60"/>
                </a:solidFill>
                <a:latin typeface="Calibri"/>
              </a:rPr>
              <a:t>  layer depths &amp; rock types — from geology</a:t>
            </a:r>
          </a:p>
          <a:p>
            <a:pPr>
              <a:spcBef>
                <a:spcPts val="0"/>
              </a:spcBef>
              <a:spcAft>
                <a:spcPts val="300"/>
              </a:spcAft>
            </a:pPr>
            <a:r>
              <a:rPr sz="1100" b="1">
                <a:solidFill>
                  <a:srgbClr val="2C4A3E"/>
                </a:solidFill>
                <a:latin typeface="Courier New"/>
              </a:rPr>
              <a:t>attrs {K_sp}</a:t>
            </a:r>
            <a:r>
              <a:rPr sz="1100">
                <a:solidFill>
                  <a:srgbClr val="6E6A60"/>
                </a:solidFill>
                <a:latin typeface="Calibri"/>
              </a:rPr>
              <a:t>  softness per rock — from lithology data</a:t>
            </a:r>
          </a:p>
        </p:txBody>
      </p:sp>
      <p:sp>
        <p:nvSpPr>
          <p:cNvPr id="21" name="TextBox 20"/>
          <p:cNvSpPr txBox="1"/>
          <p:nvPr/>
        </p:nvSpPr>
        <p:spPr>
          <a:xfrm>
            <a:off x="6355080" y="5614416"/>
            <a:ext cx="5212080" cy="274320"/>
          </a:xfrm>
          <a:prstGeom prst="rect">
            <a:avLst/>
          </a:prstGeom>
          <a:noFill/>
        </p:spPr>
        <p:txBody>
          <a:bodyPr wrap="square" lIns="0" tIns="0" rIns="0" bIns="0" anchor="t">
            <a:spAutoFit/>
          </a:bodyPr>
          <a:lstStyle/>
          <a:p>
            <a:pPr algn="l">
              <a:spcBef>
                <a:spcPts val="0"/>
              </a:spcBef>
              <a:spcAft>
                <a:spcPts val="500"/>
              </a:spcAft>
            </a:pPr>
            <a:r>
              <a:rPr sz="1150" b="1" i="0">
                <a:solidFill>
                  <a:srgbClr val="6B8E5A"/>
                </a:solidFill>
                <a:latin typeface="Calibri"/>
              </a:rPr>
              <a:t>✓  USUALLY LEFT AT DEFAULT</a:t>
            </a:r>
          </a:p>
        </p:txBody>
      </p:sp>
      <p:sp>
        <p:nvSpPr>
          <p:cNvPr id="22" name="TextBox 21"/>
          <p:cNvSpPr txBox="1"/>
          <p:nvPr/>
        </p:nvSpPr>
        <p:spPr>
          <a:xfrm>
            <a:off x="6355080" y="5925312"/>
            <a:ext cx="5029200" cy="914400"/>
          </a:xfrm>
          <a:prstGeom prst="rect">
            <a:avLst/>
          </a:prstGeom>
          <a:noFill/>
        </p:spPr>
        <p:txBody>
          <a:bodyPr wrap="square" lIns="0" tIns="0" rIns="0" bIns="0">
            <a:spAutoFit/>
          </a:bodyPr>
          <a:lstStyle/>
          <a:p>
            <a:pPr>
              <a:spcBef>
                <a:spcPts val="0"/>
              </a:spcBef>
              <a:spcAft>
                <a:spcPts val="300"/>
              </a:spcAft>
            </a:pPr>
            <a:r>
              <a:rPr sz="1100" b="1">
                <a:solidFill>
                  <a:srgbClr val="2C4A3E"/>
                </a:solidFill>
                <a:latin typeface="Courier New"/>
              </a:rPr>
              <a:t>layer_type</a:t>
            </a:r>
            <a:r>
              <a:rPr sz="1100">
                <a:solidFill>
                  <a:srgbClr val="6E6A60"/>
                </a:solidFill>
                <a:latin typeface="Calibri"/>
              </a:rPr>
              <a:t>  = MaterialLayers (fixed)</a:t>
            </a:r>
          </a:p>
          <a:p>
            <a:pPr>
              <a:spcBef>
                <a:spcPts val="0"/>
              </a:spcBef>
              <a:spcAft>
                <a:spcPts val="300"/>
              </a:spcAft>
            </a:pPr>
            <a:r>
              <a:rPr sz="1100" b="1">
                <a:solidFill>
                  <a:srgbClr val="2C4A3E"/>
                </a:solidFill>
                <a:latin typeface="Courier New"/>
              </a:rPr>
              <a:t>rock_id</a:t>
            </a:r>
            <a:r>
              <a:rPr sz="1100">
                <a:solidFill>
                  <a:srgbClr val="6E6A60"/>
                </a:solidFill>
                <a:latin typeface="Calibri"/>
              </a:rPr>
              <a:t>  base type for new sediment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2E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8229600" cy="365760"/>
          </a:xfrm>
          <a:prstGeom prst="rect">
            <a:avLst/>
          </a:prstGeom>
          <a:noFill/>
        </p:spPr>
        <p:txBody>
          <a:bodyPr wrap="square" lIns="0" tIns="0" rIns="0" bIns="0" anchor="t">
            <a:spAutoFit/>
          </a:bodyPr>
          <a:lstStyle/>
          <a:p>
            <a:pPr algn="l">
              <a:spcBef>
                <a:spcPts val="0"/>
              </a:spcBef>
              <a:spcAft>
                <a:spcPts val="500"/>
              </a:spcAft>
            </a:pPr>
            <a:r>
              <a:rPr sz="1250" b="1" i="0">
                <a:solidFill>
                  <a:srgbClr val="B85042"/>
                </a:solidFill>
                <a:latin typeface="Calibri"/>
              </a:rPr>
              <a:t>COMPONENT · PRECIPITATION</a:t>
            </a:r>
          </a:p>
        </p:txBody>
      </p:sp>
      <p:sp>
        <p:nvSpPr>
          <p:cNvPr id="4" name="TextBox 3"/>
          <p:cNvSpPr txBox="1"/>
          <p:nvPr/>
        </p:nvSpPr>
        <p:spPr>
          <a:xfrm>
            <a:off x="640080" y="676656"/>
            <a:ext cx="8595360" cy="777240"/>
          </a:xfrm>
          <a:prstGeom prst="rect">
            <a:avLst/>
          </a:prstGeom>
          <a:noFill/>
        </p:spPr>
        <p:txBody>
          <a:bodyPr wrap="square" lIns="0" tIns="0" rIns="0" bIns="0" anchor="t">
            <a:spAutoFit/>
          </a:bodyPr>
          <a:lstStyle/>
          <a:p>
            <a:pPr algn="l">
              <a:spcBef>
                <a:spcPts val="0"/>
              </a:spcBef>
              <a:spcAft>
                <a:spcPts val="500"/>
              </a:spcAft>
            </a:pPr>
            <a:r>
              <a:rPr sz="3100" b="1" i="0">
                <a:solidFill>
                  <a:srgbClr val="2C4A3E"/>
                </a:solidFill>
                <a:latin typeface="Calibri"/>
              </a:rPr>
              <a:t>Precipitation</a:t>
            </a:r>
          </a:p>
        </p:txBody>
      </p:sp>
      <p:sp>
        <p:nvSpPr>
          <p:cNvPr id="5" name="Rounded Rectangle 4"/>
          <p:cNvSpPr/>
          <p:nvPr/>
        </p:nvSpPr>
        <p:spPr>
          <a:xfrm>
            <a:off x="10021824" y="548640"/>
            <a:ext cx="1527048" cy="384048"/>
          </a:xfrm>
          <a:prstGeom prst="roundRect">
            <a:avLst>
              <a:gd name="adj" fmla="val 50000"/>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021824" y="562356"/>
            <a:ext cx="1527048" cy="365760"/>
          </a:xfrm>
          <a:prstGeom prst="rect">
            <a:avLst/>
          </a:prstGeom>
          <a:noFill/>
        </p:spPr>
        <p:txBody>
          <a:bodyPr wrap="square" lIns="0" tIns="0" rIns="0" bIns="0" anchor="ctr">
            <a:spAutoFit/>
          </a:bodyPr>
          <a:lstStyle/>
          <a:p>
            <a:pPr algn="ctr">
              <a:spcBef>
                <a:spcPts val="0"/>
              </a:spcBef>
              <a:spcAft>
                <a:spcPts val="500"/>
              </a:spcAft>
            </a:pPr>
            <a:r>
              <a:rPr sz="1150" b="1" i="0">
                <a:solidFill>
                  <a:srgbClr val="FFFFFF"/>
                </a:solidFill>
                <a:latin typeface="Calibri"/>
              </a:rPr>
              <a:t>● CUSTOM LOGIC</a:t>
            </a:r>
          </a:p>
        </p:txBody>
      </p:sp>
      <p:sp>
        <p:nvSpPr>
          <p:cNvPr id="7" name="TextBox 6"/>
          <p:cNvSpPr txBox="1"/>
          <p:nvPr/>
        </p:nvSpPr>
        <p:spPr>
          <a:xfrm>
            <a:off x="640080" y="1417320"/>
            <a:ext cx="5669280" cy="320040"/>
          </a:xfrm>
          <a:prstGeom prst="rect">
            <a:avLst/>
          </a:prstGeom>
          <a:noFill/>
        </p:spPr>
        <p:txBody>
          <a:bodyPr wrap="square" lIns="0" tIns="0" rIns="0" bIns="0" anchor="t">
            <a:spAutoFit/>
          </a:bodyPr>
          <a:lstStyle/>
          <a:p>
            <a:pPr algn="l">
              <a:spcBef>
                <a:spcPts val="0"/>
              </a:spcBef>
              <a:spcAft>
                <a:spcPts val="500"/>
              </a:spcAft>
            </a:pPr>
            <a:r>
              <a:rPr sz="1250" b="1" i="0">
                <a:solidFill>
                  <a:srgbClr val="B85042"/>
                </a:solidFill>
                <a:latin typeface="Calibri"/>
              </a:rPr>
              <a:t>WHAT IT DOES</a:t>
            </a:r>
          </a:p>
        </p:txBody>
      </p:sp>
      <p:sp>
        <p:nvSpPr>
          <p:cNvPr id="8" name="TextBox 7"/>
          <p:cNvSpPr txBox="1"/>
          <p:nvPr/>
        </p:nvSpPr>
        <p:spPr>
          <a:xfrm>
            <a:off x="640080" y="1709928"/>
            <a:ext cx="5669280" cy="2286000"/>
          </a:xfrm>
          <a:prstGeom prst="rect">
            <a:avLst/>
          </a:prstGeom>
          <a:noFill/>
        </p:spPr>
        <p:txBody>
          <a:bodyPr wrap="square" lIns="0" tIns="0" rIns="0" bIns="0" anchor="t">
            <a:spAutoFit/>
          </a:bodyPr>
          <a:lstStyle/>
          <a:p>
            <a:pPr algn="l">
              <a:spcBef>
                <a:spcPts val="0"/>
              </a:spcBef>
              <a:spcAft>
                <a:spcPts val="500"/>
              </a:spcAft>
            </a:pPr>
            <a:r>
              <a:rPr sz="1250" b="0" i="0">
                <a:solidFill>
                  <a:srgbClr val="2B2B2B"/>
                </a:solidFill>
                <a:latin typeface="Calibri"/>
              </a:rPr>
              <a:t>Sets how much rain (runoff) lands on each cell — the water that Flow Accumulator turns into discharge, which drives SPACE's erosion. So this is the climate dial behind everything.</a:t>
            </a:r>
          </a:p>
        </p:txBody>
      </p:sp>
      <p:sp>
        <p:nvSpPr>
          <p:cNvPr id="9" name="TextBox 8"/>
          <p:cNvSpPr txBox="1"/>
          <p:nvPr/>
        </p:nvSpPr>
        <p:spPr>
          <a:xfrm>
            <a:off x="640080" y="2560320"/>
            <a:ext cx="5669280" cy="292608"/>
          </a:xfrm>
          <a:prstGeom prst="rect">
            <a:avLst/>
          </a:prstGeom>
          <a:noFill/>
        </p:spPr>
        <p:txBody>
          <a:bodyPr wrap="square" lIns="0" tIns="0" rIns="0" bIns="0" anchor="t">
            <a:spAutoFit/>
          </a:bodyPr>
          <a:lstStyle/>
          <a:p>
            <a:pPr algn="l">
              <a:spcBef>
                <a:spcPts val="0"/>
              </a:spcBef>
              <a:spcAft>
                <a:spcPts val="500"/>
              </a:spcAft>
            </a:pPr>
            <a:r>
              <a:rPr sz="1250" b="1" i="0">
                <a:solidFill>
                  <a:srgbClr val="3E6B8C"/>
                </a:solidFill>
                <a:latin typeface="Calibri"/>
              </a:rPr>
              <a:t>WHAT YOU CAN DO WITH IT</a:t>
            </a:r>
          </a:p>
        </p:txBody>
      </p:sp>
      <p:sp>
        <p:nvSpPr>
          <p:cNvPr id="10" name="TextBox 9"/>
          <p:cNvSpPr txBox="1"/>
          <p:nvPr/>
        </p:nvSpPr>
        <p:spPr>
          <a:xfrm>
            <a:off x="640080" y="2871215"/>
            <a:ext cx="5669280" cy="1417320"/>
          </a:xfrm>
          <a:prstGeom prst="rect">
            <a:avLst/>
          </a:prstGeom>
          <a:noFill/>
        </p:spPr>
        <p:txBody>
          <a:bodyPr wrap="square" lIns="0" tIns="0" rIns="0" bIns="0">
            <a:spAutoFit/>
          </a:bodyPr>
          <a:lstStyle/>
          <a:p>
            <a:pPr>
              <a:spcBef>
                <a:spcPts val="0"/>
              </a:spcBef>
              <a:spcAft>
                <a:spcPts val="400"/>
              </a:spcAft>
            </a:pPr>
            <a:r>
              <a:rPr sz="1100" b="1">
                <a:solidFill>
                  <a:srgbClr val="3E6B8C"/>
                </a:solidFill>
                <a:latin typeface="Calibri"/>
              </a:rPr>
              <a:t>▸  </a:t>
            </a:r>
            <a:r>
              <a:rPr sz="1150" b="1">
                <a:solidFill>
                  <a:srgbClr val="2C4A3E"/>
                </a:solidFill>
                <a:latin typeface="Calibri"/>
              </a:rPr>
              <a:t>Uniform: </a:t>
            </a:r>
            <a:r>
              <a:rPr sz="1150">
                <a:solidFill>
                  <a:srgbClr val="2B2B2B"/>
                </a:solidFill>
                <a:latin typeface="Calibri"/>
              </a:rPr>
              <a:t>the same steady rainfall everywhere.</a:t>
            </a:r>
          </a:p>
          <a:p>
            <a:pPr>
              <a:spcBef>
                <a:spcPts val="0"/>
              </a:spcBef>
              <a:spcAft>
                <a:spcPts val="400"/>
              </a:spcAft>
            </a:pPr>
            <a:r>
              <a:rPr sz="1100" b="1">
                <a:solidFill>
                  <a:srgbClr val="3E6B8C"/>
                </a:solidFill>
                <a:latin typeface="Calibri"/>
              </a:rPr>
              <a:t>▸  </a:t>
            </a:r>
            <a:r>
              <a:rPr sz="1150" b="1">
                <a:solidFill>
                  <a:srgbClr val="2C4A3E"/>
                </a:solidFill>
                <a:latin typeface="Calibri"/>
              </a:rPr>
              <a:t>Spatial: </a:t>
            </a:r>
            <a:r>
              <a:rPr sz="1150">
                <a:solidFill>
                  <a:srgbClr val="2B2B2B"/>
                </a:solidFill>
                <a:latin typeface="Calibri"/>
              </a:rPr>
              <a:t>rainfall varies by place, from a map (e.g. wetter mountains).</a:t>
            </a:r>
          </a:p>
          <a:p>
            <a:pPr>
              <a:spcBef>
                <a:spcPts val="0"/>
              </a:spcBef>
              <a:spcAft>
                <a:spcPts val="400"/>
              </a:spcAft>
            </a:pPr>
            <a:r>
              <a:rPr sz="1100" b="1">
                <a:solidFill>
                  <a:srgbClr val="3E6B8C"/>
                </a:solidFill>
                <a:latin typeface="Calibri"/>
              </a:rPr>
              <a:t>▸  </a:t>
            </a:r>
            <a:r>
              <a:rPr sz="1150" b="1">
                <a:solidFill>
                  <a:srgbClr val="2C4A3E"/>
                </a:solidFill>
                <a:latin typeface="Calibri"/>
              </a:rPr>
              <a:t>Trend: </a:t>
            </a:r>
            <a:r>
              <a:rPr sz="1150">
                <a:solidFill>
                  <a:srgbClr val="2B2B2B"/>
                </a:solidFill>
                <a:latin typeface="Calibri"/>
              </a:rPr>
              <a:t>rainfall rises or falls over time (climate change).</a:t>
            </a:r>
          </a:p>
          <a:p>
            <a:pPr>
              <a:spcBef>
                <a:spcPts val="0"/>
              </a:spcBef>
              <a:spcAft>
                <a:spcPts val="400"/>
              </a:spcAft>
            </a:pPr>
            <a:r>
              <a:rPr sz="1100" b="1">
                <a:solidFill>
                  <a:srgbClr val="3E6B8C"/>
                </a:solidFill>
                <a:latin typeface="Calibri"/>
              </a:rPr>
              <a:t>▸  </a:t>
            </a:r>
            <a:r>
              <a:rPr sz="1150" b="1">
                <a:solidFill>
                  <a:srgbClr val="2C4A3E"/>
                </a:solidFill>
                <a:latin typeface="Calibri"/>
              </a:rPr>
              <a:t>Stochastic: </a:t>
            </a:r>
            <a:r>
              <a:rPr sz="1150">
                <a:solidFill>
                  <a:srgbClr val="2B2B2B"/>
                </a:solidFill>
                <a:latin typeface="Calibri"/>
              </a:rPr>
              <a:t>random wet &amp; dry periods.</a:t>
            </a:r>
          </a:p>
        </p:txBody>
      </p:sp>
      <p:sp>
        <p:nvSpPr>
          <p:cNvPr id="11" name="Rounded Rectangle 10"/>
          <p:cNvSpPr/>
          <p:nvPr/>
        </p:nvSpPr>
        <p:spPr>
          <a:xfrm>
            <a:off x="640080" y="4069080"/>
            <a:ext cx="5669280" cy="1371600"/>
          </a:xfrm>
          <a:prstGeom prst="roundRect">
            <a:avLst>
              <a:gd name="adj" fmla="val 8000"/>
            </a:avLst>
          </a:prstGeom>
          <a:solidFill>
            <a:srgbClr val="F7E6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96112" y="4233672"/>
            <a:ext cx="5157216" cy="365760"/>
          </a:xfrm>
          <a:prstGeom prst="rect">
            <a:avLst/>
          </a:prstGeom>
          <a:noFill/>
        </p:spPr>
        <p:txBody>
          <a:bodyPr wrap="square" lIns="0" tIns="0" rIns="0" bIns="0" anchor="t">
            <a:spAutoFit/>
          </a:bodyPr>
          <a:lstStyle/>
          <a:p>
            <a:pPr algn="l">
              <a:spcBef>
                <a:spcPts val="0"/>
              </a:spcBef>
              <a:spcAft>
                <a:spcPts val="500"/>
              </a:spcAft>
            </a:pPr>
            <a:r>
              <a:rPr sz="1150" b="1" i="0">
                <a:solidFill>
                  <a:srgbClr val="B85042"/>
                </a:solidFill>
                <a:latin typeface="Calibri"/>
              </a:rPr>
              <a:t>⚠  LANDLAB HAS COMPONENTS — WHY NOT USE THEM?</a:t>
            </a:r>
          </a:p>
        </p:txBody>
      </p:sp>
      <p:sp>
        <p:nvSpPr>
          <p:cNvPr id="13" name="TextBox 12"/>
          <p:cNvSpPr txBox="1"/>
          <p:nvPr/>
        </p:nvSpPr>
        <p:spPr>
          <a:xfrm>
            <a:off x="896112" y="4581144"/>
            <a:ext cx="5157216" cy="713232"/>
          </a:xfrm>
          <a:prstGeom prst="rect">
            <a:avLst/>
          </a:prstGeom>
          <a:noFill/>
        </p:spPr>
        <p:txBody>
          <a:bodyPr wrap="square" lIns="0" tIns="0" rIns="0" bIns="0" anchor="t">
            <a:spAutoFit/>
          </a:bodyPr>
          <a:lstStyle/>
          <a:p>
            <a:pPr algn="l">
              <a:spcBef>
                <a:spcPts val="0"/>
              </a:spcBef>
              <a:spcAft>
                <a:spcPts val="500"/>
              </a:spcAft>
            </a:pPr>
            <a:r>
              <a:rPr sz="1100" b="0" i="0">
                <a:solidFill>
                  <a:srgbClr val="5A352C"/>
                </a:solidFill>
                <a:latin typeface="Calibri"/>
              </a:rPr>
              <a:t>Landlab's PrecipitationDistribution &amp; SpatialPrecipitationDistribution generate individual-storm sequences. Our timesteps are long-term (≫ one storm), so we model effective climate, not storms — hence custom.</a:t>
            </a:r>
          </a:p>
        </p:txBody>
      </p:sp>
      <p:sp>
        <p:nvSpPr>
          <p:cNvPr id="14" name="Rounded Rectangle 13"/>
          <p:cNvSpPr/>
          <p:nvPr/>
        </p:nvSpPr>
        <p:spPr>
          <a:xfrm>
            <a:off x="6720840" y="1463040"/>
            <a:ext cx="4828032" cy="3611880"/>
          </a:xfrm>
          <a:prstGeom prst="roundRect">
            <a:avLst>
              <a:gd name="adj" fmla="val 7000"/>
            </a:avLst>
          </a:prstGeom>
          <a:solidFill>
            <a:srgbClr val="1B2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995159" y="1664208"/>
            <a:ext cx="4279392" cy="365760"/>
          </a:xfrm>
          <a:prstGeom prst="rect">
            <a:avLst/>
          </a:prstGeom>
          <a:noFill/>
        </p:spPr>
        <p:txBody>
          <a:bodyPr wrap="square" lIns="0" tIns="0" rIns="0" bIns="0" anchor="t">
            <a:spAutoFit/>
          </a:bodyPr>
          <a:lstStyle/>
          <a:p>
            <a:pPr algn="l">
              <a:spcBef>
                <a:spcPts val="0"/>
              </a:spcBef>
              <a:spcAft>
                <a:spcPts val="500"/>
              </a:spcAft>
            </a:pPr>
            <a:r>
              <a:rPr sz="1200" b="1" i="0">
                <a:solidFill>
                  <a:srgbClr val="9CC486"/>
                </a:solidFill>
                <a:latin typeface="Calibri"/>
              </a:rPr>
              <a:t>RUNOFF &amp; ITS FOUR MODES</a:t>
            </a:r>
          </a:p>
        </p:txBody>
      </p:sp>
      <p:sp>
        <p:nvSpPr>
          <p:cNvPr id="16" name="TextBox 15"/>
          <p:cNvSpPr txBox="1"/>
          <p:nvPr/>
        </p:nvSpPr>
        <p:spPr>
          <a:xfrm>
            <a:off x="6995159" y="2029968"/>
            <a:ext cx="4279392" cy="2834640"/>
          </a:xfrm>
          <a:prstGeom prst="rect">
            <a:avLst/>
          </a:prstGeom>
          <a:noFill/>
        </p:spPr>
        <p:txBody>
          <a:bodyPr wrap="square" lIns="0" tIns="0" rIns="0" bIns="0">
            <a:spAutoFit/>
          </a:bodyPr>
          <a:lstStyle/>
          <a:p>
            <a:pPr>
              <a:spcBef>
                <a:spcPts val="0"/>
              </a:spcBef>
              <a:spcAft>
                <a:spcPts val="200"/>
              </a:spcAft>
            </a:pPr>
            <a:r>
              <a:rPr sz="1300" b="1">
                <a:solidFill>
                  <a:srgbClr val="9CC486"/>
                </a:solidFill>
                <a:latin typeface="Calibri"/>
              </a:rPr>
              <a:t>runoff = rainfall × fraction that runs off</a:t>
            </a:r>
          </a:p>
          <a:p>
            <a:pPr>
              <a:spcBef>
                <a:spcPts val="0"/>
              </a:spcBef>
              <a:spcAft>
                <a:spcPts val="400"/>
              </a:spcAft>
            </a:pPr>
            <a:r>
              <a:rPr sz="1400" b="1">
                <a:solidFill>
                  <a:srgbClr val="E9E4D6"/>
                </a:solidFill>
                <a:latin typeface="Courier New"/>
              </a:rPr>
              <a:t>Uniform:   r = P · C</a:t>
            </a:r>
          </a:p>
          <a:p>
            <a:pPr>
              <a:spcBef>
                <a:spcPts val="0"/>
              </a:spcBef>
              <a:spcAft>
                <a:spcPts val="400"/>
              </a:spcAft>
            </a:pPr>
            <a:r>
              <a:rPr sz="1400" b="1">
                <a:solidFill>
                  <a:srgbClr val="E9E4D6"/>
                </a:solidFill>
                <a:latin typeface="Courier New"/>
              </a:rPr>
              <a:t>Spatial:   r from a rainfall map</a:t>
            </a:r>
          </a:p>
          <a:p>
            <a:pPr>
              <a:spcBef>
                <a:spcPts val="0"/>
              </a:spcBef>
              <a:spcAft>
                <a:spcPts val="400"/>
              </a:spcAft>
            </a:pPr>
            <a:r>
              <a:rPr sz="1400" b="1">
                <a:solidFill>
                  <a:srgbClr val="E9E4D6"/>
                </a:solidFill>
                <a:latin typeface="Courier New"/>
              </a:rPr>
              <a:t>Trend:     P grows/shrinks over time</a:t>
            </a:r>
          </a:p>
          <a:p>
            <a:pPr>
              <a:spcBef>
                <a:spcPts val="0"/>
              </a:spcBef>
              <a:spcAft>
                <a:spcPts val="400"/>
              </a:spcAft>
            </a:pPr>
            <a:r>
              <a:rPr sz="1400" b="1">
                <a:solidFill>
                  <a:srgbClr val="E9E4D6"/>
                </a:solidFill>
                <a:latin typeface="Courier New"/>
              </a:rPr>
              <a:t>Stochastic: random wet &amp; dry periods</a:t>
            </a:r>
          </a:p>
          <a:p>
            <a:pPr>
              <a:spcBef>
                <a:spcPts val="0"/>
              </a:spcBef>
              <a:spcAft>
                <a:spcPts val="1200"/>
              </a:spcAft>
            </a:pPr>
            <a:endParaRPr sz="1400" b="1">
              <a:solidFill>
                <a:srgbClr val="E9E4D6"/>
              </a:solidFill>
              <a:latin typeface="Courier New"/>
            </a:endParaRPr>
          </a:p>
          <a:p>
            <a:pPr>
              <a:spcBef>
                <a:spcPts val="0"/>
              </a:spcBef>
              <a:spcAft>
                <a:spcPts val="300"/>
              </a:spcAft>
            </a:pPr>
            <a:r>
              <a:rPr sz="1150" b="1">
                <a:solidFill>
                  <a:srgbClr val="D9846B"/>
                </a:solidFill>
                <a:latin typeface="Calibri"/>
              </a:rPr>
              <a:t>Why default runoff = 1?</a:t>
            </a:r>
          </a:p>
          <a:p>
            <a:pPr>
              <a:spcBef>
                <a:spcPts val="0"/>
              </a:spcBef>
              <a:spcAft>
                <a:spcPts val="100"/>
              </a:spcAft>
            </a:pPr>
            <a:r>
              <a:rPr sz="1100">
                <a:solidFill>
                  <a:srgbClr val="C9D4C8"/>
                </a:solidFill>
                <a:latin typeface="Calibri"/>
              </a:rPr>
              <a:t>It's the classic convention: runoff = 1 makes</a:t>
            </a:r>
          </a:p>
          <a:p>
            <a:pPr>
              <a:spcBef>
                <a:spcPts val="0"/>
              </a:spcBef>
              <a:spcAft>
                <a:spcPts val="100"/>
              </a:spcAft>
            </a:pPr>
            <a:r>
              <a:rPr sz="1100">
                <a:solidFill>
                  <a:srgbClr val="C9D4C8"/>
                </a:solidFill>
                <a:latin typeface="Calibri"/>
              </a:rPr>
              <a:t>discharge = drainage area. Keep it if your K assumes</a:t>
            </a:r>
          </a:p>
          <a:p>
            <a:pPr>
              <a:spcBef>
                <a:spcPts val="0"/>
              </a:spcBef>
              <a:spcAft>
                <a:spcPts val="100"/>
              </a:spcAft>
            </a:pPr>
            <a:r>
              <a:rPr sz="1100">
                <a:solidFill>
                  <a:srgbClr val="C9D4C8"/>
                </a:solidFill>
                <a:latin typeface="Calibri"/>
              </a:rPr>
              <a:t>it; use realistic runoff if you set K independently</a:t>
            </a:r>
          </a:p>
          <a:p>
            <a:pPr>
              <a:spcBef>
                <a:spcPts val="0"/>
              </a:spcBef>
              <a:spcAft>
                <a:spcPts val="100"/>
              </a:spcAft>
            </a:pPr>
            <a:r>
              <a:rPr sz="1100">
                <a:solidFill>
                  <a:srgbClr val="C9D4C8"/>
                </a:solidFill>
                <a:latin typeface="Calibri"/>
              </a:rPr>
              <a:t>(e.g. from rock hardness). The app supports either way.</a:t>
            </a:r>
          </a:p>
        </p:txBody>
      </p:sp>
      <p:sp>
        <p:nvSpPr>
          <p:cNvPr id="17" name="Rounded Rectangle 16"/>
          <p:cNvSpPr/>
          <p:nvPr/>
        </p:nvSpPr>
        <p:spPr>
          <a:xfrm>
            <a:off x="640080" y="5468112"/>
            <a:ext cx="10908792" cy="1243584"/>
          </a:xfrm>
          <a:prstGeom prst="roundRect">
            <a:avLst>
              <a:gd name="adj" fmla="val 7000"/>
            </a:avLst>
          </a:prstGeom>
          <a:solidFill>
            <a:srgbClr val="FBF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089904" y="5632704"/>
            <a:ext cx="10972" cy="914400"/>
          </a:xfrm>
          <a:prstGeom prst="rect">
            <a:avLst/>
          </a:prstGeom>
          <a:solidFill>
            <a:srgbClr val="E0D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14400" y="5614416"/>
            <a:ext cx="5029200" cy="274320"/>
          </a:xfrm>
          <a:prstGeom prst="rect">
            <a:avLst/>
          </a:prstGeom>
          <a:noFill/>
        </p:spPr>
        <p:txBody>
          <a:bodyPr wrap="square" lIns="0" tIns="0" rIns="0" bIns="0" anchor="t">
            <a:spAutoFit/>
          </a:bodyPr>
          <a:lstStyle/>
          <a:p>
            <a:pPr algn="l">
              <a:spcBef>
                <a:spcPts val="0"/>
              </a:spcBef>
              <a:spcAft>
                <a:spcPts val="500"/>
              </a:spcAft>
            </a:pPr>
            <a:r>
              <a:rPr sz="1150" b="1" i="0">
                <a:solidFill>
                  <a:srgbClr val="B85042"/>
                </a:solidFill>
                <a:latin typeface="Calibri"/>
              </a:rPr>
              <a:t>⚙  YOU SET FOR YOUR SITE</a:t>
            </a:r>
          </a:p>
        </p:txBody>
      </p:sp>
      <p:sp>
        <p:nvSpPr>
          <p:cNvPr id="20" name="TextBox 19"/>
          <p:cNvSpPr txBox="1"/>
          <p:nvPr/>
        </p:nvSpPr>
        <p:spPr>
          <a:xfrm>
            <a:off x="914400" y="5925312"/>
            <a:ext cx="5029200" cy="914400"/>
          </a:xfrm>
          <a:prstGeom prst="rect">
            <a:avLst/>
          </a:prstGeom>
          <a:noFill/>
        </p:spPr>
        <p:txBody>
          <a:bodyPr wrap="square" lIns="0" tIns="0" rIns="0" bIns="0">
            <a:spAutoFit/>
          </a:bodyPr>
          <a:lstStyle/>
          <a:p>
            <a:pPr>
              <a:spcBef>
                <a:spcPts val="0"/>
              </a:spcBef>
              <a:spcAft>
                <a:spcPts val="300"/>
              </a:spcAft>
            </a:pPr>
            <a:r>
              <a:rPr sz="1100" b="1">
                <a:solidFill>
                  <a:srgbClr val="2C4A3E"/>
                </a:solidFill>
                <a:latin typeface="Courier New"/>
              </a:rPr>
              <a:t>mode</a:t>
            </a:r>
            <a:r>
              <a:rPr sz="1100">
                <a:solidFill>
                  <a:srgbClr val="6E6A60"/>
                </a:solidFill>
                <a:latin typeface="Calibri"/>
              </a:rPr>
              <a:t>  Uniform / Spatial / Trend / Stochastic</a:t>
            </a:r>
          </a:p>
          <a:p>
            <a:pPr>
              <a:spcBef>
                <a:spcPts val="0"/>
              </a:spcBef>
              <a:spcAft>
                <a:spcPts val="300"/>
              </a:spcAft>
            </a:pPr>
            <a:r>
              <a:rPr sz="1100" b="1">
                <a:solidFill>
                  <a:srgbClr val="2C4A3E"/>
                </a:solidFill>
                <a:latin typeface="Courier New"/>
              </a:rPr>
              <a:t>precipitation</a:t>
            </a:r>
            <a:r>
              <a:rPr sz="1100">
                <a:solidFill>
                  <a:srgbClr val="6E6A60"/>
                </a:solidFill>
                <a:latin typeface="Calibri"/>
              </a:rPr>
              <a:t>  mean rainfall rate for your climate</a:t>
            </a:r>
          </a:p>
        </p:txBody>
      </p:sp>
      <p:sp>
        <p:nvSpPr>
          <p:cNvPr id="21" name="TextBox 20"/>
          <p:cNvSpPr txBox="1"/>
          <p:nvPr/>
        </p:nvSpPr>
        <p:spPr>
          <a:xfrm>
            <a:off x="6355080" y="5614416"/>
            <a:ext cx="5212080" cy="274320"/>
          </a:xfrm>
          <a:prstGeom prst="rect">
            <a:avLst/>
          </a:prstGeom>
          <a:noFill/>
        </p:spPr>
        <p:txBody>
          <a:bodyPr wrap="square" lIns="0" tIns="0" rIns="0" bIns="0" anchor="t">
            <a:spAutoFit/>
          </a:bodyPr>
          <a:lstStyle/>
          <a:p>
            <a:pPr algn="l">
              <a:spcBef>
                <a:spcPts val="0"/>
              </a:spcBef>
              <a:spcAft>
                <a:spcPts val="500"/>
              </a:spcAft>
            </a:pPr>
            <a:r>
              <a:rPr sz="1150" b="1" i="0">
                <a:solidFill>
                  <a:srgbClr val="6B8E5A"/>
                </a:solidFill>
                <a:latin typeface="Calibri"/>
              </a:rPr>
              <a:t>✓  USUALLY LEFT AT DEFAULT</a:t>
            </a:r>
          </a:p>
        </p:txBody>
      </p:sp>
      <p:sp>
        <p:nvSpPr>
          <p:cNvPr id="22" name="TextBox 21"/>
          <p:cNvSpPr txBox="1"/>
          <p:nvPr/>
        </p:nvSpPr>
        <p:spPr>
          <a:xfrm>
            <a:off x="6355080" y="5925312"/>
            <a:ext cx="5029200" cy="914400"/>
          </a:xfrm>
          <a:prstGeom prst="rect">
            <a:avLst/>
          </a:prstGeom>
          <a:noFill/>
        </p:spPr>
        <p:txBody>
          <a:bodyPr wrap="square" lIns="0" tIns="0" rIns="0" bIns="0">
            <a:spAutoFit/>
          </a:bodyPr>
          <a:lstStyle/>
          <a:p>
            <a:pPr>
              <a:spcBef>
                <a:spcPts val="0"/>
              </a:spcBef>
              <a:spcAft>
                <a:spcPts val="300"/>
              </a:spcAft>
            </a:pPr>
            <a:r>
              <a:rPr sz="1100" b="1">
                <a:solidFill>
                  <a:srgbClr val="2C4A3E"/>
                </a:solidFill>
                <a:latin typeface="Courier New"/>
              </a:rPr>
              <a:t>runoff_coefficient</a:t>
            </a:r>
            <a:r>
              <a:rPr sz="1100">
                <a:solidFill>
                  <a:srgbClr val="6E6A60"/>
                </a:solidFill>
                <a:latin typeface="Calibri"/>
              </a:rPr>
              <a:t>  fraction that runs off; 1.0 = all of it (see note)</a:t>
            </a:r>
          </a:p>
          <a:p>
            <a:pPr>
              <a:spcBef>
                <a:spcPts val="0"/>
              </a:spcBef>
              <a:spcAft>
                <a:spcPts val="300"/>
              </a:spcAft>
            </a:pPr>
            <a:r>
              <a:rPr sz="1100" b="1">
                <a:solidFill>
                  <a:srgbClr val="2C4A3E"/>
                </a:solidFill>
                <a:latin typeface="Courier New"/>
              </a:rPr>
              <a:t>variability, final_</a:t>
            </a:r>
            <a:r>
              <a:rPr sz="1100">
                <a:solidFill>
                  <a:srgbClr val="6E6A60"/>
                </a:solidFill>
                <a:latin typeface="Calibri"/>
              </a:rPr>
              <a:t>  only for Stochastic / Trend modes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2E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8229600" cy="365760"/>
          </a:xfrm>
          <a:prstGeom prst="rect">
            <a:avLst/>
          </a:prstGeom>
          <a:noFill/>
        </p:spPr>
        <p:txBody>
          <a:bodyPr wrap="square" lIns="0" tIns="0" rIns="0" bIns="0" anchor="t">
            <a:spAutoFit/>
          </a:bodyPr>
          <a:lstStyle/>
          <a:p>
            <a:pPr algn="l">
              <a:spcBef>
                <a:spcPts val="0"/>
              </a:spcBef>
              <a:spcAft>
                <a:spcPts val="500"/>
              </a:spcAft>
            </a:pPr>
            <a:r>
              <a:rPr sz="1250" b="1" i="0">
                <a:solidFill>
                  <a:srgbClr val="B85042"/>
                </a:solidFill>
                <a:latin typeface="Calibri"/>
              </a:rPr>
              <a:t>CLEARING UP THE RUNOFF NUMBERS</a:t>
            </a:r>
          </a:p>
        </p:txBody>
      </p:sp>
      <p:sp>
        <p:nvSpPr>
          <p:cNvPr id="4" name="TextBox 3"/>
          <p:cNvSpPr txBox="1"/>
          <p:nvPr/>
        </p:nvSpPr>
        <p:spPr>
          <a:xfrm>
            <a:off x="640080" y="676656"/>
            <a:ext cx="10515600" cy="777240"/>
          </a:xfrm>
          <a:prstGeom prst="rect">
            <a:avLst/>
          </a:prstGeom>
          <a:noFill/>
        </p:spPr>
        <p:txBody>
          <a:bodyPr wrap="square" lIns="0" tIns="0" rIns="0" bIns="0" anchor="t">
            <a:spAutoFit/>
          </a:bodyPr>
          <a:lstStyle/>
          <a:p>
            <a:pPr algn="l">
              <a:spcBef>
                <a:spcPts val="0"/>
              </a:spcBef>
              <a:spcAft>
                <a:spcPts val="500"/>
              </a:spcAft>
            </a:pPr>
            <a:r>
              <a:rPr sz="3100" b="1" i="0">
                <a:solidFill>
                  <a:srgbClr val="2C4A3E"/>
                </a:solidFill>
                <a:latin typeface="Calibri"/>
              </a:rPr>
              <a:t>Runoff &amp; Discharge, Explained</a:t>
            </a:r>
          </a:p>
        </p:txBody>
      </p:sp>
      <p:sp>
        <p:nvSpPr>
          <p:cNvPr id="5" name="Rounded Rectangle 4"/>
          <p:cNvSpPr/>
          <p:nvPr/>
        </p:nvSpPr>
        <p:spPr>
          <a:xfrm>
            <a:off x="640080" y="1463040"/>
            <a:ext cx="10908792" cy="1005840"/>
          </a:xfrm>
          <a:prstGeom prst="roundRect">
            <a:avLst>
              <a:gd name="adj" fmla="val 8000"/>
            </a:avLst>
          </a:prstGeom>
          <a:solidFill>
            <a:srgbClr val="1B2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609344"/>
            <a:ext cx="4572000" cy="274320"/>
          </a:xfrm>
          <a:prstGeom prst="rect">
            <a:avLst/>
          </a:prstGeom>
          <a:noFill/>
        </p:spPr>
        <p:txBody>
          <a:bodyPr wrap="square" lIns="0" tIns="0" rIns="0" bIns="0" anchor="t">
            <a:spAutoFit/>
          </a:bodyPr>
          <a:lstStyle/>
          <a:p>
            <a:pPr algn="l">
              <a:spcBef>
                <a:spcPts val="0"/>
              </a:spcBef>
              <a:spcAft>
                <a:spcPts val="500"/>
              </a:spcAft>
            </a:pPr>
            <a:r>
              <a:rPr sz="1150" b="1" i="0">
                <a:solidFill>
                  <a:srgbClr val="9CC486"/>
                </a:solidFill>
                <a:latin typeface="Calibri"/>
              </a:rPr>
              <a:t>THE WHOLE IDEA IN ONE LINE</a:t>
            </a:r>
          </a:p>
        </p:txBody>
      </p:sp>
      <p:sp>
        <p:nvSpPr>
          <p:cNvPr id="7" name="TextBox 6"/>
          <p:cNvSpPr txBox="1"/>
          <p:nvPr/>
        </p:nvSpPr>
        <p:spPr>
          <a:xfrm>
            <a:off x="914400" y="1901952"/>
            <a:ext cx="5943600" cy="548640"/>
          </a:xfrm>
          <a:prstGeom prst="rect">
            <a:avLst/>
          </a:prstGeom>
          <a:noFill/>
        </p:spPr>
        <p:txBody>
          <a:bodyPr wrap="square" lIns="0" tIns="0" rIns="0" bIns="0" anchor="t">
            <a:spAutoFit/>
          </a:bodyPr>
          <a:lstStyle/>
          <a:p>
            <a:pPr algn="l">
              <a:spcBef>
                <a:spcPts val="0"/>
              </a:spcBef>
              <a:spcAft>
                <a:spcPts val="500"/>
              </a:spcAft>
            </a:pPr>
            <a:r>
              <a:rPr sz="2600" b="1" i="0">
                <a:solidFill>
                  <a:srgbClr val="E9E4D6"/>
                </a:solidFill>
                <a:latin typeface="Courier New"/>
              </a:rPr>
              <a:t>Q  =  R  ×  A</a:t>
            </a:r>
          </a:p>
        </p:txBody>
      </p:sp>
      <p:sp>
        <p:nvSpPr>
          <p:cNvPr id="8" name="TextBox 7"/>
          <p:cNvSpPr txBox="1"/>
          <p:nvPr/>
        </p:nvSpPr>
        <p:spPr>
          <a:xfrm>
            <a:off x="5120640" y="1847088"/>
            <a:ext cx="6400800" cy="640080"/>
          </a:xfrm>
          <a:prstGeom prst="rect">
            <a:avLst/>
          </a:prstGeom>
          <a:noFill/>
        </p:spPr>
        <p:txBody>
          <a:bodyPr wrap="square" lIns="0" tIns="0" rIns="0" bIns="0" anchor="t">
            <a:spAutoFit/>
          </a:bodyPr>
          <a:lstStyle/>
          <a:p>
            <a:pPr algn="l">
              <a:spcBef>
                <a:spcPts val="0"/>
              </a:spcBef>
              <a:spcAft>
                <a:spcPts val="500"/>
              </a:spcAft>
            </a:pPr>
            <a:r>
              <a:rPr sz="1300" b="0" i="0">
                <a:solidFill>
                  <a:srgbClr val="C9D4C8"/>
                </a:solidFill>
                <a:latin typeface="Calibri"/>
              </a:rPr>
              <a:t>discharge  =  runoff (water per cell)
×  drainage area (cells draining in)</a:t>
            </a:r>
          </a:p>
        </p:txBody>
      </p:sp>
      <p:sp>
        <p:nvSpPr>
          <p:cNvPr id="9" name="Rounded Rectangle 8"/>
          <p:cNvSpPr/>
          <p:nvPr/>
        </p:nvSpPr>
        <p:spPr>
          <a:xfrm>
            <a:off x="640080" y="2743200"/>
            <a:ext cx="5349240" cy="1417320"/>
          </a:xfrm>
          <a:prstGeom prst="roundRect">
            <a:avLst>
              <a:gd name="adj" fmla="val 9000"/>
            </a:avLst>
          </a:prstGeom>
          <a:solidFill>
            <a:srgbClr val="FBF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896112" y="2962656"/>
            <a:ext cx="475488" cy="475488"/>
          </a:xfrm>
          <a:prstGeom prst="ellipse">
            <a:avLst/>
          </a:prstGeom>
          <a:solidFill>
            <a:srgbClr val="3E6B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96112" y="2962656"/>
            <a:ext cx="475488" cy="475488"/>
          </a:xfrm>
          <a:prstGeom prst="rect">
            <a:avLst/>
          </a:prstGeom>
          <a:noFill/>
        </p:spPr>
        <p:txBody>
          <a:bodyPr wrap="square" lIns="0" tIns="0" rIns="0" bIns="0" anchor="ctr">
            <a:spAutoFit/>
          </a:bodyPr>
          <a:lstStyle/>
          <a:p>
            <a:pPr algn="ctr">
              <a:spcBef>
                <a:spcPts val="0"/>
              </a:spcBef>
              <a:spcAft>
                <a:spcPts val="500"/>
              </a:spcAft>
            </a:pPr>
            <a:r>
              <a:rPr sz="1900" b="1" i="0">
                <a:solidFill>
                  <a:srgbClr val="FFFFFF"/>
                </a:solidFill>
                <a:latin typeface="Calibri"/>
              </a:rPr>
              <a:t>1</a:t>
            </a:r>
          </a:p>
        </p:txBody>
      </p:sp>
      <p:sp>
        <p:nvSpPr>
          <p:cNvPr id="12" name="TextBox 11"/>
          <p:cNvSpPr txBox="1"/>
          <p:nvPr/>
        </p:nvSpPr>
        <p:spPr>
          <a:xfrm>
            <a:off x="1508760" y="2999232"/>
            <a:ext cx="4297680" cy="365760"/>
          </a:xfrm>
          <a:prstGeom prst="rect">
            <a:avLst/>
          </a:prstGeom>
          <a:noFill/>
        </p:spPr>
        <p:txBody>
          <a:bodyPr wrap="square" lIns="0" tIns="0" rIns="0" bIns="0" anchor="t">
            <a:spAutoFit/>
          </a:bodyPr>
          <a:lstStyle/>
          <a:p>
            <a:pPr algn="l">
              <a:spcBef>
                <a:spcPts val="0"/>
              </a:spcBef>
              <a:spcAft>
                <a:spcPts val="500"/>
              </a:spcAft>
            </a:pPr>
            <a:r>
              <a:rPr sz="1500" b="1" i="0">
                <a:solidFill>
                  <a:srgbClr val="2C4A3E"/>
                </a:solidFill>
                <a:latin typeface="Calibri"/>
              </a:rPr>
              <a:t>Flow Accumulator — runoff_rate</a:t>
            </a:r>
          </a:p>
        </p:txBody>
      </p:sp>
      <p:sp>
        <p:nvSpPr>
          <p:cNvPr id="13" name="TextBox 12"/>
          <p:cNvSpPr txBox="1"/>
          <p:nvPr/>
        </p:nvSpPr>
        <p:spPr>
          <a:xfrm>
            <a:off x="896112" y="3520440"/>
            <a:ext cx="4846320" cy="594360"/>
          </a:xfrm>
          <a:prstGeom prst="rect">
            <a:avLst/>
          </a:prstGeom>
          <a:noFill/>
        </p:spPr>
        <p:txBody>
          <a:bodyPr wrap="square" lIns="0" tIns="0" rIns="0" bIns="0" anchor="t">
            <a:spAutoFit/>
          </a:bodyPr>
          <a:lstStyle/>
          <a:p>
            <a:pPr algn="l">
              <a:spcBef>
                <a:spcPts val="0"/>
              </a:spcBef>
              <a:spcAft>
                <a:spcPts val="500"/>
              </a:spcAft>
            </a:pPr>
            <a:r>
              <a:rPr sz="1200" b="0" i="0">
                <a:solidFill>
                  <a:srgbClr val="6E6A60"/>
                </a:solidFill>
                <a:latin typeface="Calibri"/>
              </a:rPr>
              <a:t>One flat runoff number for the whole grid (default 1.0). The simple baseline used when you're not modelling climate.</a:t>
            </a:r>
          </a:p>
        </p:txBody>
      </p:sp>
      <p:sp>
        <p:nvSpPr>
          <p:cNvPr id="14" name="Rounded Rectangle 13"/>
          <p:cNvSpPr/>
          <p:nvPr/>
        </p:nvSpPr>
        <p:spPr>
          <a:xfrm>
            <a:off x="6199632" y="2743200"/>
            <a:ext cx="5349240" cy="1417320"/>
          </a:xfrm>
          <a:prstGeom prst="roundRect">
            <a:avLst>
              <a:gd name="adj" fmla="val 9000"/>
            </a:avLst>
          </a:prstGeom>
          <a:solidFill>
            <a:srgbClr val="FBF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6455664" y="2962656"/>
            <a:ext cx="475488" cy="475488"/>
          </a:xfrm>
          <a:prstGeom prst="ellipse">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55664" y="2962656"/>
            <a:ext cx="475488" cy="475488"/>
          </a:xfrm>
          <a:prstGeom prst="rect">
            <a:avLst/>
          </a:prstGeom>
          <a:noFill/>
        </p:spPr>
        <p:txBody>
          <a:bodyPr wrap="square" lIns="0" tIns="0" rIns="0" bIns="0" anchor="ctr">
            <a:spAutoFit/>
          </a:bodyPr>
          <a:lstStyle/>
          <a:p>
            <a:pPr algn="ctr">
              <a:spcBef>
                <a:spcPts val="0"/>
              </a:spcBef>
              <a:spcAft>
                <a:spcPts val="500"/>
              </a:spcAft>
            </a:pPr>
            <a:r>
              <a:rPr sz="1900" b="1" i="0">
                <a:solidFill>
                  <a:srgbClr val="FFFFFF"/>
                </a:solidFill>
                <a:latin typeface="Calibri"/>
              </a:rPr>
              <a:t>2</a:t>
            </a:r>
          </a:p>
        </p:txBody>
      </p:sp>
      <p:sp>
        <p:nvSpPr>
          <p:cNvPr id="17" name="TextBox 16"/>
          <p:cNvSpPr txBox="1"/>
          <p:nvPr/>
        </p:nvSpPr>
        <p:spPr>
          <a:xfrm>
            <a:off x="7068312" y="2999232"/>
            <a:ext cx="4297680" cy="365760"/>
          </a:xfrm>
          <a:prstGeom prst="rect">
            <a:avLst/>
          </a:prstGeom>
          <a:noFill/>
        </p:spPr>
        <p:txBody>
          <a:bodyPr wrap="square" lIns="0" tIns="0" rIns="0" bIns="0" anchor="t">
            <a:spAutoFit/>
          </a:bodyPr>
          <a:lstStyle/>
          <a:p>
            <a:pPr algn="l">
              <a:spcBef>
                <a:spcPts val="0"/>
              </a:spcBef>
              <a:spcAft>
                <a:spcPts val="500"/>
              </a:spcAft>
            </a:pPr>
            <a:r>
              <a:rPr sz="1500" b="1" i="0">
                <a:solidFill>
                  <a:srgbClr val="2C4A3E"/>
                </a:solidFill>
                <a:latin typeface="Calibri"/>
              </a:rPr>
              <a:t>Precipitation — the climate way</a:t>
            </a:r>
          </a:p>
        </p:txBody>
      </p:sp>
      <p:sp>
        <p:nvSpPr>
          <p:cNvPr id="18" name="TextBox 17"/>
          <p:cNvSpPr txBox="1"/>
          <p:nvPr/>
        </p:nvSpPr>
        <p:spPr>
          <a:xfrm>
            <a:off x="6455664" y="3520440"/>
            <a:ext cx="4846320" cy="594360"/>
          </a:xfrm>
          <a:prstGeom prst="rect">
            <a:avLst/>
          </a:prstGeom>
          <a:noFill/>
        </p:spPr>
        <p:txBody>
          <a:bodyPr wrap="square" lIns="0" tIns="0" rIns="0" bIns="0" anchor="t">
            <a:spAutoFit/>
          </a:bodyPr>
          <a:lstStyle/>
          <a:p>
            <a:pPr algn="l">
              <a:spcBef>
                <a:spcPts val="0"/>
              </a:spcBef>
              <a:spcAft>
                <a:spcPts val="500"/>
              </a:spcAft>
            </a:pPr>
            <a:r>
              <a:rPr sz="1200" b="0" i="0">
                <a:solidFill>
                  <a:srgbClr val="6E6A60"/>
                </a:solidFill>
                <a:latin typeface="Calibri"/>
              </a:rPr>
              <a:t>Sets runoff per cell from climate: R = P × C (rainfall × fraction that runs off). It overrides the flat number.</a:t>
            </a:r>
          </a:p>
        </p:txBody>
      </p:sp>
      <p:sp>
        <p:nvSpPr>
          <p:cNvPr id="19" name="TextBox 18"/>
          <p:cNvSpPr txBox="1"/>
          <p:nvPr/>
        </p:nvSpPr>
        <p:spPr>
          <a:xfrm>
            <a:off x="640080" y="4279392"/>
            <a:ext cx="10908792" cy="365760"/>
          </a:xfrm>
          <a:prstGeom prst="rect">
            <a:avLst/>
          </a:prstGeom>
          <a:noFill/>
        </p:spPr>
        <p:txBody>
          <a:bodyPr wrap="square" lIns="0" tIns="0" rIns="0" bIns="0" anchor="t">
            <a:spAutoFit/>
          </a:bodyPr>
          <a:lstStyle/>
          <a:p>
            <a:pPr algn="ctr">
              <a:spcBef>
                <a:spcPts val="0"/>
              </a:spcBef>
              <a:spcAft>
                <a:spcPts val="500"/>
              </a:spcAft>
            </a:pPr>
            <a:r>
              <a:rPr sz="1250" b="1" i="1">
                <a:solidFill>
                  <a:srgbClr val="2C4A3E"/>
                </a:solidFill>
                <a:latin typeface="Calibri"/>
              </a:rPr>
              <a:t>Both write the SAME field — water__unit_flux_in. Precipitation just replaces Flow Accumulator's flat 1.0 with a climate pattern.</a:t>
            </a:r>
          </a:p>
        </p:txBody>
      </p:sp>
      <p:sp>
        <p:nvSpPr>
          <p:cNvPr id="20" name="Rounded Rectangle 19"/>
          <p:cNvSpPr/>
          <p:nvPr/>
        </p:nvSpPr>
        <p:spPr>
          <a:xfrm>
            <a:off x="640080" y="4681728"/>
            <a:ext cx="10908792" cy="1810512"/>
          </a:xfrm>
          <a:prstGeom prst="roundRect">
            <a:avLst>
              <a:gd name="adj" fmla="val 8000"/>
            </a:avLst>
          </a:prstGeom>
          <a:solidFill>
            <a:srgbClr val="2C4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14400" y="4828032"/>
            <a:ext cx="10332720" cy="274320"/>
          </a:xfrm>
          <a:prstGeom prst="rect">
            <a:avLst/>
          </a:prstGeom>
          <a:noFill/>
        </p:spPr>
        <p:txBody>
          <a:bodyPr wrap="square" lIns="0" tIns="0" rIns="0" bIns="0" anchor="t">
            <a:spAutoFit/>
          </a:bodyPr>
          <a:lstStyle/>
          <a:p>
            <a:pPr algn="l">
              <a:spcBef>
                <a:spcPts val="0"/>
              </a:spcBef>
              <a:spcAft>
                <a:spcPts val="500"/>
              </a:spcAft>
            </a:pPr>
            <a:r>
              <a:rPr sz="1250" b="1" i="0">
                <a:solidFill>
                  <a:srgbClr val="D9846B"/>
                </a:solidFill>
                <a:latin typeface="Calibri"/>
              </a:rPr>
              <a:t>SO WHY IS THE DEFAULT R = 1.0?</a:t>
            </a:r>
          </a:p>
        </p:txBody>
      </p:sp>
      <p:sp>
        <p:nvSpPr>
          <p:cNvPr id="22" name="TextBox 21"/>
          <p:cNvSpPr txBox="1"/>
          <p:nvPr/>
        </p:nvSpPr>
        <p:spPr>
          <a:xfrm>
            <a:off x="914400" y="5120640"/>
            <a:ext cx="10424160" cy="1097280"/>
          </a:xfrm>
          <a:prstGeom prst="rect">
            <a:avLst/>
          </a:prstGeom>
          <a:noFill/>
        </p:spPr>
        <p:txBody>
          <a:bodyPr wrap="square" lIns="0" tIns="0" rIns="0" bIns="0" anchor="t">
            <a:spAutoFit/>
          </a:bodyPr>
          <a:lstStyle/>
          <a:p>
            <a:pPr algn="l">
              <a:spcBef>
                <a:spcPts val="0"/>
              </a:spcBef>
              <a:spcAft>
                <a:spcPts val="400"/>
              </a:spcAft>
            </a:pPr>
            <a:r>
              <a:rPr sz="1250" b="0" i="0">
                <a:solidFill>
                  <a:srgbClr val="E7E3D7"/>
                </a:solidFill>
                <a:latin typeface="Calibri"/>
              </a:rPr>
              <a:t>With R = 1, discharge equals drainage area (Q = A) — the classic stream-power convention where area stands in for water (K is the ground's softness / erodibility). It's the default simply because it's convenient.</a:t>
            </a:r>
          </a:p>
          <a:p>
            <a:pPr algn="l">
              <a:spcBef>
                <a:spcPts val="0"/>
              </a:spcBef>
              <a:spcAft>
                <a:spcPts val="400"/>
              </a:spcAft>
            </a:pPr>
            <a:r>
              <a:rPr sz="1250" b="0" i="0">
                <a:solidFill>
                  <a:srgbClr val="E7E3D7"/>
                </a:solidFill>
                <a:latin typeface="Calibri"/>
              </a:rPr>
              <a:t>Keep R = 1 only if your K was calibrated for it (most literature values were). If you set K your own way — e.g. from rock hardness — you're free to use realistic runoff instead. The app doesn't tie you to one erodibility method; runoff still affects how much erosion you get either way.</a:t>
            </a:r>
          </a:p>
        </p:txBody>
      </p:sp>
      <p:sp>
        <p:nvSpPr>
          <p:cNvPr id="23" name="TextBox 22"/>
          <p:cNvSpPr txBox="1"/>
          <p:nvPr/>
        </p:nvSpPr>
        <p:spPr>
          <a:xfrm>
            <a:off x="914400" y="6163056"/>
            <a:ext cx="10424160" cy="274320"/>
          </a:xfrm>
          <a:prstGeom prst="rect">
            <a:avLst/>
          </a:prstGeom>
          <a:noFill/>
        </p:spPr>
        <p:txBody>
          <a:bodyPr wrap="square" lIns="0" tIns="0" rIns="0" bIns="0" anchor="t">
            <a:spAutoFit/>
          </a:bodyPr>
          <a:lstStyle/>
          <a:p>
            <a:pPr algn="l">
              <a:spcBef>
                <a:spcPts val="0"/>
              </a:spcBef>
              <a:spcAft>
                <a:spcPts val="500"/>
              </a:spcAft>
            </a:pPr>
            <a:r>
              <a:rPr sz="1050" b="0" i="1">
                <a:solidFill>
                  <a:srgbClr val="9CC486"/>
                </a:solidFill>
                <a:latin typeface="Calibri"/>
              </a:rPr>
              <a:t>Using area as a proxy for discharge (uniform-runoff assumption): Howard (1994) · Whipple &amp; Tucker (1999) · Wobus et al. (2006).</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2E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8229600" cy="365760"/>
          </a:xfrm>
          <a:prstGeom prst="rect">
            <a:avLst/>
          </a:prstGeom>
          <a:noFill/>
        </p:spPr>
        <p:txBody>
          <a:bodyPr wrap="square" lIns="0" tIns="0" rIns="0" bIns="0" anchor="t">
            <a:spAutoFit/>
          </a:bodyPr>
          <a:lstStyle/>
          <a:p>
            <a:pPr algn="l">
              <a:spcBef>
                <a:spcPts val="0"/>
              </a:spcBef>
              <a:spcAft>
                <a:spcPts val="500"/>
              </a:spcAft>
            </a:pPr>
            <a:r>
              <a:rPr sz="1250" b="1" i="0">
                <a:solidFill>
                  <a:srgbClr val="B85042"/>
                </a:solidFill>
                <a:latin typeface="Calibri"/>
              </a:rPr>
              <a:t>THE SAME IDEA, NO JARGON</a:t>
            </a:r>
          </a:p>
        </p:txBody>
      </p:sp>
      <p:sp>
        <p:nvSpPr>
          <p:cNvPr id="4" name="TextBox 3"/>
          <p:cNvSpPr txBox="1"/>
          <p:nvPr/>
        </p:nvSpPr>
        <p:spPr>
          <a:xfrm>
            <a:off x="640080" y="676656"/>
            <a:ext cx="10515600" cy="777240"/>
          </a:xfrm>
          <a:prstGeom prst="rect">
            <a:avLst/>
          </a:prstGeom>
          <a:noFill/>
        </p:spPr>
        <p:txBody>
          <a:bodyPr wrap="square" lIns="0" tIns="0" rIns="0" bIns="0" anchor="t">
            <a:spAutoFit/>
          </a:bodyPr>
          <a:lstStyle/>
          <a:p>
            <a:pPr algn="l">
              <a:spcBef>
                <a:spcPts val="0"/>
              </a:spcBef>
              <a:spcAft>
                <a:spcPts val="500"/>
              </a:spcAft>
            </a:pPr>
            <a:r>
              <a:rPr sz="3100" b="1" i="0">
                <a:solidFill>
                  <a:srgbClr val="2C4A3E"/>
                </a:solidFill>
                <a:latin typeface="Calibri"/>
              </a:rPr>
              <a:t>Runoff, in Plain Words</a:t>
            </a:r>
          </a:p>
        </p:txBody>
      </p:sp>
      <p:sp>
        <p:nvSpPr>
          <p:cNvPr id="5" name="Rounded Rectangle 4"/>
          <p:cNvSpPr/>
          <p:nvPr/>
        </p:nvSpPr>
        <p:spPr>
          <a:xfrm>
            <a:off x="640080" y="1572768"/>
            <a:ext cx="10908792" cy="841248"/>
          </a:xfrm>
          <a:prstGeom prst="roundRect">
            <a:avLst>
              <a:gd name="adj" fmla="val 8000"/>
            </a:avLst>
          </a:prstGeom>
          <a:solidFill>
            <a:srgbClr val="FBF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896112" y="1764792"/>
            <a:ext cx="457200" cy="457200"/>
          </a:xfrm>
          <a:prstGeom prst="ellipse">
            <a:avLst/>
          </a:prstGeom>
          <a:solidFill>
            <a:srgbClr val="3E6B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96112" y="1764792"/>
            <a:ext cx="457200" cy="457200"/>
          </a:xfrm>
          <a:prstGeom prst="rect">
            <a:avLst/>
          </a:prstGeom>
          <a:noFill/>
        </p:spPr>
        <p:txBody>
          <a:bodyPr wrap="square" lIns="0" tIns="0" rIns="0" bIns="0" anchor="ctr">
            <a:spAutoFit/>
          </a:bodyPr>
          <a:lstStyle/>
          <a:p>
            <a:pPr algn="ctr">
              <a:spcBef>
                <a:spcPts val="0"/>
              </a:spcBef>
              <a:spcAft>
                <a:spcPts val="500"/>
              </a:spcAft>
            </a:pPr>
            <a:r>
              <a:rPr sz="1600" b="1" i="0">
                <a:solidFill>
                  <a:srgbClr val="FFFFFF"/>
                </a:solidFill>
                <a:latin typeface="Calibri"/>
              </a:rPr>
              <a:t>1</a:t>
            </a:r>
          </a:p>
        </p:txBody>
      </p:sp>
      <p:sp>
        <p:nvSpPr>
          <p:cNvPr id="8" name="TextBox 7"/>
          <p:cNvSpPr txBox="1"/>
          <p:nvPr/>
        </p:nvSpPr>
        <p:spPr>
          <a:xfrm>
            <a:off x="1554480" y="1719072"/>
            <a:ext cx="9784080" cy="365760"/>
          </a:xfrm>
          <a:prstGeom prst="rect">
            <a:avLst/>
          </a:prstGeom>
          <a:noFill/>
        </p:spPr>
        <p:txBody>
          <a:bodyPr wrap="square" lIns="0" tIns="0" rIns="0" bIns="0" anchor="t">
            <a:spAutoFit/>
          </a:bodyPr>
          <a:lstStyle/>
          <a:p>
            <a:pPr algn="l">
              <a:spcBef>
                <a:spcPts val="0"/>
              </a:spcBef>
              <a:spcAft>
                <a:spcPts val="500"/>
              </a:spcAft>
            </a:pPr>
            <a:r>
              <a:rPr sz="1550" b="1" i="0">
                <a:solidFill>
                  <a:srgbClr val="2C4A3E"/>
                </a:solidFill>
                <a:latin typeface="Calibri"/>
              </a:rPr>
              <a:t>Discharge = runoff × area</a:t>
            </a:r>
          </a:p>
        </p:txBody>
      </p:sp>
      <p:sp>
        <p:nvSpPr>
          <p:cNvPr id="9" name="TextBox 8"/>
          <p:cNvSpPr txBox="1"/>
          <p:nvPr/>
        </p:nvSpPr>
        <p:spPr>
          <a:xfrm>
            <a:off x="1554480" y="2029967"/>
            <a:ext cx="9784080" cy="365760"/>
          </a:xfrm>
          <a:prstGeom prst="rect">
            <a:avLst/>
          </a:prstGeom>
          <a:noFill/>
        </p:spPr>
        <p:txBody>
          <a:bodyPr wrap="square" lIns="0" tIns="0" rIns="0" bIns="0" anchor="t">
            <a:spAutoFit/>
          </a:bodyPr>
          <a:lstStyle/>
          <a:p>
            <a:pPr algn="l">
              <a:spcBef>
                <a:spcPts val="0"/>
              </a:spcBef>
              <a:spcAft>
                <a:spcPts val="500"/>
              </a:spcAft>
            </a:pPr>
            <a:r>
              <a:rPr sz="1250" b="0" i="0">
                <a:solidFill>
                  <a:srgbClr val="6E6A60"/>
                </a:solidFill>
                <a:latin typeface="Calibri"/>
              </a:rPr>
              <a:t>The water rushing through a spot is just all the uphill water added together.</a:t>
            </a:r>
          </a:p>
        </p:txBody>
      </p:sp>
      <p:sp>
        <p:nvSpPr>
          <p:cNvPr id="10" name="Rounded Rectangle 9"/>
          <p:cNvSpPr/>
          <p:nvPr/>
        </p:nvSpPr>
        <p:spPr>
          <a:xfrm>
            <a:off x="640080" y="2523744"/>
            <a:ext cx="10908792" cy="841248"/>
          </a:xfrm>
          <a:prstGeom prst="roundRect">
            <a:avLst>
              <a:gd name="adj" fmla="val 8000"/>
            </a:avLst>
          </a:prstGeom>
          <a:solidFill>
            <a:srgbClr val="FBF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896112" y="2715768"/>
            <a:ext cx="457200" cy="457200"/>
          </a:xfrm>
          <a:prstGeom prst="ellipse">
            <a:avLst/>
          </a:prstGeom>
          <a:solidFill>
            <a:srgbClr val="6B8E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96112" y="2715768"/>
            <a:ext cx="457200" cy="457200"/>
          </a:xfrm>
          <a:prstGeom prst="rect">
            <a:avLst/>
          </a:prstGeom>
          <a:noFill/>
        </p:spPr>
        <p:txBody>
          <a:bodyPr wrap="square" lIns="0" tIns="0" rIns="0" bIns="0" anchor="ctr">
            <a:spAutoFit/>
          </a:bodyPr>
          <a:lstStyle/>
          <a:p>
            <a:pPr algn="ctr">
              <a:spcBef>
                <a:spcPts val="0"/>
              </a:spcBef>
              <a:spcAft>
                <a:spcPts val="500"/>
              </a:spcAft>
            </a:pPr>
            <a:r>
              <a:rPr sz="1600" b="1" i="0">
                <a:solidFill>
                  <a:srgbClr val="FFFFFF"/>
                </a:solidFill>
                <a:latin typeface="Calibri"/>
              </a:rPr>
              <a:t>2</a:t>
            </a:r>
          </a:p>
        </p:txBody>
      </p:sp>
      <p:sp>
        <p:nvSpPr>
          <p:cNvPr id="13" name="TextBox 12"/>
          <p:cNvSpPr txBox="1"/>
          <p:nvPr/>
        </p:nvSpPr>
        <p:spPr>
          <a:xfrm>
            <a:off x="1554480" y="2670048"/>
            <a:ext cx="9784080" cy="365760"/>
          </a:xfrm>
          <a:prstGeom prst="rect">
            <a:avLst/>
          </a:prstGeom>
          <a:noFill/>
        </p:spPr>
        <p:txBody>
          <a:bodyPr wrap="square" lIns="0" tIns="0" rIns="0" bIns="0" anchor="t">
            <a:spAutoFit/>
          </a:bodyPr>
          <a:lstStyle/>
          <a:p>
            <a:pPr algn="l">
              <a:spcBef>
                <a:spcPts val="0"/>
              </a:spcBef>
              <a:spcAft>
                <a:spcPts val="500"/>
              </a:spcAft>
            </a:pPr>
            <a:r>
              <a:rPr sz="1550" b="1" i="0">
                <a:solidFill>
                  <a:srgbClr val="2C4A3E"/>
                </a:solidFill>
                <a:latin typeface="Calibri"/>
              </a:rPr>
              <a:t>Area stands in for water</a:t>
            </a:r>
          </a:p>
        </p:txBody>
      </p:sp>
      <p:sp>
        <p:nvSpPr>
          <p:cNvPr id="14" name="TextBox 13"/>
          <p:cNvSpPr txBox="1"/>
          <p:nvPr/>
        </p:nvSpPr>
        <p:spPr>
          <a:xfrm>
            <a:off x="1554480" y="2980944"/>
            <a:ext cx="9784080" cy="365760"/>
          </a:xfrm>
          <a:prstGeom prst="rect">
            <a:avLst/>
          </a:prstGeom>
          <a:noFill/>
        </p:spPr>
        <p:txBody>
          <a:bodyPr wrap="square" lIns="0" tIns="0" rIns="0" bIns="0" anchor="t">
            <a:spAutoFit/>
          </a:bodyPr>
          <a:lstStyle/>
          <a:p>
            <a:pPr algn="l">
              <a:spcBef>
                <a:spcPts val="0"/>
              </a:spcBef>
              <a:spcAft>
                <a:spcPts val="500"/>
              </a:spcAft>
            </a:pPr>
            <a:r>
              <a:rPr sz="1250" b="0" i="0">
                <a:solidFill>
                  <a:srgbClr val="6E6A60"/>
                </a:solidFill>
                <a:latin typeface="Calibri"/>
              </a:rPr>
              <a:t>The erosion formula uses area, not water. That only works if every cell gets the same rain — so runoff is set to 1, making water = area.</a:t>
            </a:r>
          </a:p>
        </p:txBody>
      </p:sp>
      <p:sp>
        <p:nvSpPr>
          <p:cNvPr id="15" name="Rounded Rectangle 14"/>
          <p:cNvSpPr/>
          <p:nvPr/>
        </p:nvSpPr>
        <p:spPr>
          <a:xfrm>
            <a:off x="640080" y="3474720"/>
            <a:ext cx="10908792" cy="841248"/>
          </a:xfrm>
          <a:prstGeom prst="roundRect">
            <a:avLst>
              <a:gd name="adj" fmla="val 8000"/>
            </a:avLst>
          </a:prstGeom>
          <a:solidFill>
            <a:srgbClr val="FBF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896112" y="3666744"/>
            <a:ext cx="457200" cy="457200"/>
          </a:xfrm>
          <a:prstGeom prst="ellipse">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96112" y="3666744"/>
            <a:ext cx="457200" cy="457200"/>
          </a:xfrm>
          <a:prstGeom prst="rect">
            <a:avLst/>
          </a:prstGeom>
          <a:noFill/>
        </p:spPr>
        <p:txBody>
          <a:bodyPr wrap="square" lIns="0" tIns="0" rIns="0" bIns="0" anchor="ctr">
            <a:spAutoFit/>
          </a:bodyPr>
          <a:lstStyle/>
          <a:p>
            <a:pPr algn="ctr">
              <a:spcBef>
                <a:spcPts val="0"/>
              </a:spcBef>
              <a:spcAft>
                <a:spcPts val="500"/>
              </a:spcAft>
            </a:pPr>
            <a:r>
              <a:rPr sz="1600" b="1" i="0">
                <a:solidFill>
                  <a:srgbClr val="FFFFFF"/>
                </a:solidFill>
                <a:latin typeface="Calibri"/>
              </a:rPr>
              <a:t>3</a:t>
            </a:r>
          </a:p>
        </p:txBody>
      </p:sp>
      <p:sp>
        <p:nvSpPr>
          <p:cNvPr id="18" name="TextBox 17"/>
          <p:cNvSpPr txBox="1"/>
          <p:nvPr/>
        </p:nvSpPr>
        <p:spPr>
          <a:xfrm>
            <a:off x="1554480" y="3621024"/>
            <a:ext cx="9784080" cy="365760"/>
          </a:xfrm>
          <a:prstGeom prst="rect">
            <a:avLst/>
          </a:prstGeom>
          <a:noFill/>
        </p:spPr>
        <p:txBody>
          <a:bodyPr wrap="square" lIns="0" tIns="0" rIns="0" bIns="0" anchor="t">
            <a:spAutoFit/>
          </a:bodyPr>
          <a:lstStyle/>
          <a:p>
            <a:pPr algn="l">
              <a:spcBef>
                <a:spcPts val="0"/>
              </a:spcBef>
              <a:spcAft>
                <a:spcPts val="500"/>
              </a:spcAft>
            </a:pPr>
            <a:r>
              <a:rPr sz="1550" b="1" i="0">
                <a:solidFill>
                  <a:srgbClr val="2C4A3E"/>
                </a:solidFill>
                <a:latin typeface="Calibri"/>
              </a:rPr>
              <a:t>Runoff = 1 is just a baseline</a:t>
            </a:r>
          </a:p>
        </p:txBody>
      </p:sp>
      <p:sp>
        <p:nvSpPr>
          <p:cNvPr id="19" name="TextBox 18"/>
          <p:cNvSpPr txBox="1"/>
          <p:nvPr/>
        </p:nvSpPr>
        <p:spPr>
          <a:xfrm>
            <a:off x="1554480" y="3931920"/>
            <a:ext cx="9784080" cy="365760"/>
          </a:xfrm>
          <a:prstGeom prst="rect">
            <a:avLst/>
          </a:prstGeom>
          <a:noFill/>
        </p:spPr>
        <p:txBody>
          <a:bodyPr wrap="square" lIns="0" tIns="0" rIns="0" bIns="0" anchor="t">
            <a:spAutoFit/>
          </a:bodyPr>
          <a:lstStyle/>
          <a:p>
            <a:pPr algn="l">
              <a:spcBef>
                <a:spcPts val="0"/>
              </a:spcBef>
              <a:spcAft>
                <a:spcPts val="500"/>
              </a:spcAft>
            </a:pPr>
            <a:r>
              <a:rPr sz="1250" b="0" i="0">
                <a:solidFill>
                  <a:srgbClr val="6E6A60"/>
                </a:solidFill>
                <a:latin typeface="Calibri"/>
              </a:rPr>
              <a:t>Setting runoff to 1 makes water = area — a normalisation for the maths, not a real rainfall amount. (The runoff_coefficient is separate: 1.0 there does mean 100% runs off.)</a:t>
            </a:r>
          </a:p>
        </p:txBody>
      </p:sp>
      <p:sp>
        <p:nvSpPr>
          <p:cNvPr id="20" name="Rounded Rectangle 19"/>
          <p:cNvSpPr/>
          <p:nvPr/>
        </p:nvSpPr>
        <p:spPr>
          <a:xfrm>
            <a:off x="640080" y="4425696"/>
            <a:ext cx="10908792" cy="841248"/>
          </a:xfrm>
          <a:prstGeom prst="roundRect">
            <a:avLst>
              <a:gd name="adj" fmla="val 8000"/>
            </a:avLst>
          </a:prstGeom>
          <a:solidFill>
            <a:srgbClr val="FBF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896112" y="4617720"/>
            <a:ext cx="457200" cy="457200"/>
          </a:xfrm>
          <a:prstGeom prst="ellipse">
            <a:avLst/>
          </a:prstGeom>
          <a:solidFill>
            <a:srgbClr val="8A6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96112" y="4617720"/>
            <a:ext cx="457200" cy="457200"/>
          </a:xfrm>
          <a:prstGeom prst="rect">
            <a:avLst/>
          </a:prstGeom>
          <a:noFill/>
        </p:spPr>
        <p:txBody>
          <a:bodyPr wrap="square" lIns="0" tIns="0" rIns="0" bIns="0" anchor="ctr">
            <a:spAutoFit/>
          </a:bodyPr>
          <a:lstStyle/>
          <a:p>
            <a:pPr algn="ctr">
              <a:spcBef>
                <a:spcPts val="0"/>
              </a:spcBef>
              <a:spcAft>
                <a:spcPts val="500"/>
              </a:spcAft>
            </a:pPr>
            <a:r>
              <a:rPr sz="1600" b="1" i="0">
                <a:solidFill>
                  <a:srgbClr val="FFFFFF"/>
                </a:solidFill>
                <a:latin typeface="Calibri"/>
              </a:rPr>
              <a:t>4</a:t>
            </a:r>
          </a:p>
        </p:txBody>
      </p:sp>
      <p:sp>
        <p:nvSpPr>
          <p:cNvPr id="23" name="TextBox 22"/>
          <p:cNvSpPr txBox="1"/>
          <p:nvPr/>
        </p:nvSpPr>
        <p:spPr>
          <a:xfrm>
            <a:off x="1554480" y="4572000"/>
            <a:ext cx="9784080" cy="365760"/>
          </a:xfrm>
          <a:prstGeom prst="rect">
            <a:avLst/>
          </a:prstGeom>
          <a:noFill/>
        </p:spPr>
        <p:txBody>
          <a:bodyPr wrap="square" lIns="0" tIns="0" rIns="0" bIns="0" anchor="t">
            <a:spAutoFit/>
          </a:bodyPr>
          <a:lstStyle/>
          <a:p>
            <a:pPr algn="l">
              <a:spcBef>
                <a:spcPts val="0"/>
              </a:spcBef>
              <a:spcAft>
                <a:spcPts val="500"/>
              </a:spcAft>
            </a:pPr>
            <a:r>
              <a:rPr sz="1550" b="1" i="0">
                <a:solidFill>
                  <a:srgbClr val="2C4A3E"/>
                </a:solidFill>
                <a:latin typeface="Calibri"/>
              </a:rPr>
              <a:t>Keep it, or change it? Your call</a:t>
            </a:r>
          </a:p>
        </p:txBody>
      </p:sp>
      <p:sp>
        <p:nvSpPr>
          <p:cNvPr id="24" name="TextBox 23"/>
          <p:cNvSpPr txBox="1"/>
          <p:nvPr/>
        </p:nvSpPr>
        <p:spPr>
          <a:xfrm>
            <a:off x="1554480" y="4882896"/>
            <a:ext cx="9784080" cy="365760"/>
          </a:xfrm>
          <a:prstGeom prst="rect">
            <a:avLst/>
          </a:prstGeom>
          <a:noFill/>
        </p:spPr>
        <p:txBody>
          <a:bodyPr wrap="square" lIns="0" tIns="0" rIns="0" bIns="0" anchor="t">
            <a:spAutoFit/>
          </a:bodyPr>
          <a:lstStyle/>
          <a:p>
            <a:pPr algn="l">
              <a:spcBef>
                <a:spcPts val="0"/>
              </a:spcBef>
              <a:spcAft>
                <a:spcPts val="500"/>
              </a:spcAft>
            </a:pPr>
            <a:r>
              <a:rPr sz="1250" b="0" i="0">
                <a:solidFill>
                  <a:srgbClr val="6E6A60"/>
                </a:solidFill>
                <a:latin typeface="Calibri"/>
              </a:rPr>
              <a:t>If your K (erodibility) came from a study that assumed runoff = 1, keep runoff = 1 so they match. If you set K your own way — e.g. from rock hardness — you can use realistic runoff instead. The app supports either.</a:t>
            </a:r>
          </a:p>
        </p:txBody>
      </p:sp>
      <p:sp>
        <p:nvSpPr>
          <p:cNvPr id="25" name="Rounded Rectangle 24"/>
          <p:cNvSpPr/>
          <p:nvPr/>
        </p:nvSpPr>
        <p:spPr>
          <a:xfrm>
            <a:off x="640080" y="5376672"/>
            <a:ext cx="10908792" cy="841248"/>
          </a:xfrm>
          <a:prstGeom prst="roundRect">
            <a:avLst>
              <a:gd name="adj" fmla="val 8000"/>
            </a:avLst>
          </a:prstGeom>
          <a:solidFill>
            <a:srgbClr val="FBF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896112" y="5568696"/>
            <a:ext cx="457200" cy="457200"/>
          </a:xfrm>
          <a:prstGeom prst="ellipse">
            <a:avLst/>
          </a:prstGeom>
          <a:solidFill>
            <a:srgbClr val="2C4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96112" y="5568696"/>
            <a:ext cx="457200" cy="457200"/>
          </a:xfrm>
          <a:prstGeom prst="rect">
            <a:avLst/>
          </a:prstGeom>
          <a:noFill/>
        </p:spPr>
        <p:txBody>
          <a:bodyPr wrap="square" lIns="0" tIns="0" rIns="0" bIns="0" anchor="ctr">
            <a:spAutoFit/>
          </a:bodyPr>
          <a:lstStyle/>
          <a:p>
            <a:pPr algn="ctr">
              <a:spcBef>
                <a:spcPts val="0"/>
              </a:spcBef>
              <a:spcAft>
                <a:spcPts val="500"/>
              </a:spcAft>
            </a:pPr>
            <a:r>
              <a:rPr sz="1600" b="1" i="0">
                <a:solidFill>
                  <a:srgbClr val="FFFFFF"/>
                </a:solidFill>
                <a:latin typeface="Calibri"/>
              </a:rPr>
              <a:t>5</a:t>
            </a:r>
          </a:p>
        </p:txBody>
      </p:sp>
      <p:sp>
        <p:nvSpPr>
          <p:cNvPr id="28" name="TextBox 27"/>
          <p:cNvSpPr txBox="1"/>
          <p:nvPr/>
        </p:nvSpPr>
        <p:spPr>
          <a:xfrm>
            <a:off x="1554480" y="5522976"/>
            <a:ext cx="9784080" cy="365760"/>
          </a:xfrm>
          <a:prstGeom prst="rect">
            <a:avLst/>
          </a:prstGeom>
          <a:noFill/>
        </p:spPr>
        <p:txBody>
          <a:bodyPr wrap="square" lIns="0" tIns="0" rIns="0" bIns="0" anchor="t">
            <a:spAutoFit/>
          </a:bodyPr>
          <a:lstStyle/>
          <a:p>
            <a:pPr algn="l">
              <a:spcBef>
                <a:spcPts val="0"/>
              </a:spcBef>
              <a:spcAft>
                <a:spcPts val="500"/>
              </a:spcAft>
            </a:pPr>
            <a:r>
              <a:rPr sz="1550" b="1" i="0">
                <a:solidFill>
                  <a:srgbClr val="2C4A3E"/>
                </a:solidFill>
                <a:latin typeface="Calibri"/>
              </a:rPr>
              <a:t>Two names, one knob</a:t>
            </a:r>
          </a:p>
        </p:txBody>
      </p:sp>
      <p:sp>
        <p:nvSpPr>
          <p:cNvPr id="29" name="TextBox 28"/>
          <p:cNvSpPr txBox="1"/>
          <p:nvPr/>
        </p:nvSpPr>
        <p:spPr>
          <a:xfrm>
            <a:off x="1554480" y="5833872"/>
            <a:ext cx="9784080" cy="365760"/>
          </a:xfrm>
          <a:prstGeom prst="rect">
            <a:avLst/>
          </a:prstGeom>
          <a:noFill/>
        </p:spPr>
        <p:txBody>
          <a:bodyPr wrap="square" lIns="0" tIns="0" rIns="0" bIns="0" anchor="t">
            <a:spAutoFit/>
          </a:bodyPr>
          <a:lstStyle/>
          <a:p>
            <a:pPr algn="l">
              <a:spcBef>
                <a:spcPts val="0"/>
              </a:spcBef>
              <a:spcAft>
                <a:spcPts val="500"/>
              </a:spcAft>
            </a:pPr>
            <a:r>
              <a:rPr sz="1250" b="0" i="0">
                <a:solidFill>
                  <a:srgbClr val="6E6A60"/>
                </a:solidFill>
                <a:latin typeface="Calibri"/>
              </a:rPr>
              <a:t>Flow Accumulator's runoff_rate and Precipitation's runoff_coefficient write the SAME water layer — Precipitation just swaps the flat 1.0 for a real climate pattern.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2E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8229600" cy="365760"/>
          </a:xfrm>
          <a:prstGeom prst="rect">
            <a:avLst/>
          </a:prstGeom>
          <a:noFill/>
        </p:spPr>
        <p:txBody>
          <a:bodyPr wrap="square" lIns="0" tIns="0" rIns="0" bIns="0" anchor="t">
            <a:spAutoFit/>
          </a:bodyPr>
          <a:lstStyle/>
          <a:p>
            <a:pPr algn="l">
              <a:spcBef>
                <a:spcPts val="0"/>
              </a:spcBef>
              <a:spcAft>
                <a:spcPts val="500"/>
              </a:spcAft>
            </a:pPr>
            <a:r>
              <a:rPr sz="1250" b="1" i="0">
                <a:solidFill>
                  <a:srgbClr val="B85042"/>
                </a:solidFill>
                <a:latin typeface="Calibri"/>
              </a:rPr>
              <a:t>COMPONENT · VEGETATION</a:t>
            </a:r>
          </a:p>
        </p:txBody>
      </p:sp>
      <p:sp>
        <p:nvSpPr>
          <p:cNvPr id="4" name="TextBox 3"/>
          <p:cNvSpPr txBox="1"/>
          <p:nvPr/>
        </p:nvSpPr>
        <p:spPr>
          <a:xfrm>
            <a:off x="640080" y="676656"/>
            <a:ext cx="8595360" cy="777240"/>
          </a:xfrm>
          <a:prstGeom prst="rect">
            <a:avLst/>
          </a:prstGeom>
          <a:noFill/>
        </p:spPr>
        <p:txBody>
          <a:bodyPr wrap="square" lIns="0" tIns="0" rIns="0" bIns="0" anchor="t">
            <a:spAutoFit/>
          </a:bodyPr>
          <a:lstStyle/>
          <a:p>
            <a:pPr algn="l">
              <a:spcBef>
                <a:spcPts val="0"/>
              </a:spcBef>
              <a:spcAft>
                <a:spcPts val="500"/>
              </a:spcAft>
            </a:pPr>
            <a:r>
              <a:rPr sz="3100" b="1" i="0">
                <a:solidFill>
                  <a:srgbClr val="2C4A3E"/>
                </a:solidFill>
                <a:latin typeface="Calibri"/>
              </a:rPr>
              <a:t>Vegetation</a:t>
            </a:r>
          </a:p>
        </p:txBody>
      </p:sp>
      <p:sp>
        <p:nvSpPr>
          <p:cNvPr id="5" name="Rounded Rectangle 4"/>
          <p:cNvSpPr/>
          <p:nvPr/>
        </p:nvSpPr>
        <p:spPr>
          <a:xfrm>
            <a:off x="10021824" y="548640"/>
            <a:ext cx="1527048" cy="384048"/>
          </a:xfrm>
          <a:prstGeom prst="roundRect">
            <a:avLst>
              <a:gd name="adj" fmla="val 50000"/>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021824" y="562356"/>
            <a:ext cx="1527048" cy="365760"/>
          </a:xfrm>
          <a:prstGeom prst="rect">
            <a:avLst/>
          </a:prstGeom>
          <a:noFill/>
        </p:spPr>
        <p:txBody>
          <a:bodyPr wrap="square" lIns="0" tIns="0" rIns="0" bIns="0" anchor="ctr">
            <a:spAutoFit/>
          </a:bodyPr>
          <a:lstStyle/>
          <a:p>
            <a:pPr algn="ctr">
              <a:spcBef>
                <a:spcPts val="0"/>
              </a:spcBef>
              <a:spcAft>
                <a:spcPts val="500"/>
              </a:spcAft>
            </a:pPr>
            <a:r>
              <a:rPr sz="1150" b="1" i="0">
                <a:solidFill>
                  <a:srgbClr val="FFFFFF"/>
                </a:solidFill>
                <a:latin typeface="Calibri"/>
              </a:rPr>
              <a:t>● CUSTOM LOGIC</a:t>
            </a:r>
          </a:p>
        </p:txBody>
      </p:sp>
      <p:sp>
        <p:nvSpPr>
          <p:cNvPr id="7" name="TextBox 6"/>
          <p:cNvSpPr txBox="1"/>
          <p:nvPr/>
        </p:nvSpPr>
        <p:spPr>
          <a:xfrm>
            <a:off x="640080" y="1417320"/>
            <a:ext cx="5669280" cy="320040"/>
          </a:xfrm>
          <a:prstGeom prst="rect">
            <a:avLst/>
          </a:prstGeom>
          <a:noFill/>
        </p:spPr>
        <p:txBody>
          <a:bodyPr wrap="square" lIns="0" tIns="0" rIns="0" bIns="0" anchor="t">
            <a:spAutoFit/>
          </a:bodyPr>
          <a:lstStyle/>
          <a:p>
            <a:pPr algn="l">
              <a:spcBef>
                <a:spcPts val="0"/>
              </a:spcBef>
              <a:spcAft>
                <a:spcPts val="500"/>
              </a:spcAft>
            </a:pPr>
            <a:r>
              <a:rPr sz="1250" b="1" i="0">
                <a:solidFill>
                  <a:srgbClr val="B85042"/>
                </a:solidFill>
                <a:latin typeface="Calibri"/>
              </a:rPr>
              <a:t>WHAT IT DOES</a:t>
            </a:r>
          </a:p>
        </p:txBody>
      </p:sp>
      <p:sp>
        <p:nvSpPr>
          <p:cNvPr id="8" name="TextBox 7"/>
          <p:cNvSpPr txBox="1"/>
          <p:nvPr/>
        </p:nvSpPr>
        <p:spPr>
          <a:xfrm>
            <a:off x="640080" y="1709928"/>
            <a:ext cx="5669280" cy="2286000"/>
          </a:xfrm>
          <a:prstGeom prst="rect">
            <a:avLst/>
          </a:prstGeom>
          <a:noFill/>
        </p:spPr>
        <p:txBody>
          <a:bodyPr wrap="square" lIns="0" tIns="0" rIns="0" bIns="0" anchor="t">
            <a:spAutoFit/>
          </a:bodyPr>
          <a:lstStyle/>
          <a:p>
            <a:pPr algn="l">
              <a:spcBef>
                <a:spcPts val="0"/>
              </a:spcBef>
              <a:spcAft>
                <a:spcPts val="500"/>
              </a:spcAft>
            </a:pPr>
            <a:r>
              <a:rPr sz="1250" b="0" i="0">
                <a:solidFill>
                  <a:srgbClr val="2B2B2B"/>
                </a:solidFill>
                <a:latin typeface="Calibri"/>
              </a:rPr>
              <a:t>Plants armour the ground. Each cover type re-tunes three things the eroders use, per cell: the erodibility K in SPACE (how easily it erodes), the hillslope creep rate, and how much rain runs off. Bare ground erodes fast; forest barely erodes.</a:t>
            </a:r>
          </a:p>
        </p:txBody>
      </p:sp>
      <p:sp>
        <p:nvSpPr>
          <p:cNvPr id="9" name="TextBox 8"/>
          <p:cNvSpPr txBox="1"/>
          <p:nvPr/>
        </p:nvSpPr>
        <p:spPr>
          <a:xfrm>
            <a:off x="640080" y="2560320"/>
            <a:ext cx="5669280" cy="292608"/>
          </a:xfrm>
          <a:prstGeom prst="rect">
            <a:avLst/>
          </a:prstGeom>
          <a:noFill/>
        </p:spPr>
        <p:txBody>
          <a:bodyPr wrap="square" lIns="0" tIns="0" rIns="0" bIns="0" anchor="t">
            <a:spAutoFit/>
          </a:bodyPr>
          <a:lstStyle/>
          <a:p>
            <a:pPr algn="l">
              <a:spcBef>
                <a:spcPts val="0"/>
              </a:spcBef>
              <a:spcAft>
                <a:spcPts val="500"/>
              </a:spcAft>
            </a:pPr>
            <a:r>
              <a:rPr sz="1250" b="1" i="0">
                <a:solidFill>
                  <a:srgbClr val="3E6B8C"/>
                </a:solidFill>
                <a:latin typeface="Calibri"/>
              </a:rPr>
              <a:t>WHAT YOU CAN DO WITH IT</a:t>
            </a:r>
          </a:p>
        </p:txBody>
      </p:sp>
      <p:sp>
        <p:nvSpPr>
          <p:cNvPr id="10" name="TextBox 9"/>
          <p:cNvSpPr txBox="1"/>
          <p:nvPr/>
        </p:nvSpPr>
        <p:spPr>
          <a:xfrm>
            <a:off x="640080" y="2871215"/>
            <a:ext cx="5669280" cy="1417320"/>
          </a:xfrm>
          <a:prstGeom prst="rect">
            <a:avLst/>
          </a:prstGeom>
          <a:noFill/>
        </p:spPr>
        <p:txBody>
          <a:bodyPr wrap="square" lIns="0" tIns="0" rIns="0" bIns="0">
            <a:spAutoFit/>
          </a:bodyPr>
          <a:lstStyle/>
          <a:p>
            <a:pPr>
              <a:spcBef>
                <a:spcPts val="0"/>
              </a:spcBef>
              <a:spcAft>
                <a:spcPts val="400"/>
              </a:spcAft>
            </a:pPr>
            <a:r>
              <a:rPr sz="1100" b="1">
                <a:solidFill>
                  <a:srgbClr val="3E6B8C"/>
                </a:solidFill>
                <a:latin typeface="Calibri"/>
              </a:rPr>
              <a:t>▸  </a:t>
            </a:r>
            <a:r>
              <a:rPr sz="1150" b="1">
                <a:solidFill>
                  <a:srgbClr val="2C4A3E"/>
                </a:solidFill>
                <a:latin typeface="Calibri"/>
              </a:rPr>
              <a:t>Static: </a:t>
            </a:r>
            <a:r>
              <a:rPr sz="1150">
                <a:solidFill>
                  <a:srgbClr val="2B2B2B"/>
                </a:solidFill>
                <a:latin typeface="Calibri"/>
              </a:rPr>
              <a:t>pick one ground cover for the whole run — bare, grass, shrub or forest.</a:t>
            </a:r>
          </a:p>
          <a:p>
            <a:pPr>
              <a:spcBef>
                <a:spcPts val="0"/>
              </a:spcBef>
              <a:spcAft>
                <a:spcPts val="400"/>
              </a:spcAft>
            </a:pPr>
            <a:r>
              <a:rPr sz="1100" b="1">
                <a:solidFill>
                  <a:srgbClr val="3E6B8C"/>
                </a:solidFill>
                <a:latin typeface="Calibri"/>
              </a:rPr>
              <a:t>▸  </a:t>
            </a:r>
            <a:r>
              <a:rPr sz="1150" b="1">
                <a:solidFill>
                  <a:srgbClr val="2C4A3E"/>
                </a:solidFill>
                <a:latin typeface="Calibri"/>
              </a:rPr>
              <a:t>Dynamic (Transition): </a:t>
            </a:r>
            <a:r>
              <a:rPr sz="1150">
                <a:solidFill>
                  <a:srgbClr val="2B2B2B"/>
                </a:solidFill>
                <a:latin typeface="Calibri"/>
              </a:rPr>
              <a:t>switch cover at a chosen time — e.g. grass → trees (regrowth), or forest → cleared (deforestation, wildfire).</a:t>
            </a:r>
          </a:p>
        </p:txBody>
      </p:sp>
      <p:sp>
        <p:nvSpPr>
          <p:cNvPr id="11" name="Rounded Rectangle 10"/>
          <p:cNvSpPr/>
          <p:nvPr/>
        </p:nvSpPr>
        <p:spPr>
          <a:xfrm>
            <a:off x="640080" y="4069080"/>
            <a:ext cx="5669280" cy="1371600"/>
          </a:xfrm>
          <a:prstGeom prst="roundRect">
            <a:avLst>
              <a:gd name="adj" fmla="val 8000"/>
            </a:avLst>
          </a:prstGeom>
          <a:solidFill>
            <a:srgbClr val="F7E6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96112" y="4233672"/>
            <a:ext cx="5157216" cy="365760"/>
          </a:xfrm>
          <a:prstGeom prst="rect">
            <a:avLst/>
          </a:prstGeom>
          <a:noFill/>
        </p:spPr>
        <p:txBody>
          <a:bodyPr wrap="square" lIns="0" tIns="0" rIns="0" bIns="0" anchor="t">
            <a:spAutoFit/>
          </a:bodyPr>
          <a:lstStyle/>
          <a:p>
            <a:pPr algn="l">
              <a:spcBef>
                <a:spcPts val="0"/>
              </a:spcBef>
              <a:spcAft>
                <a:spcPts val="500"/>
              </a:spcAft>
            </a:pPr>
            <a:r>
              <a:rPr sz="1150" b="1" i="0">
                <a:solidFill>
                  <a:srgbClr val="B85042"/>
                </a:solidFill>
                <a:latin typeface="Calibri"/>
              </a:rPr>
              <a:t>⚠  LANDLAB HAS COMPONENTS — WHY NOT USE THEM?</a:t>
            </a:r>
          </a:p>
        </p:txBody>
      </p:sp>
      <p:sp>
        <p:nvSpPr>
          <p:cNvPr id="13" name="TextBox 12"/>
          <p:cNvSpPr txBox="1"/>
          <p:nvPr/>
        </p:nvSpPr>
        <p:spPr>
          <a:xfrm>
            <a:off x="896112" y="4581144"/>
            <a:ext cx="5157216" cy="713232"/>
          </a:xfrm>
          <a:prstGeom prst="rect">
            <a:avLst/>
          </a:prstGeom>
          <a:noFill/>
        </p:spPr>
        <p:txBody>
          <a:bodyPr wrap="square" lIns="0" tIns="0" rIns="0" bIns="0" anchor="t">
            <a:spAutoFit/>
          </a:bodyPr>
          <a:lstStyle/>
          <a:p>
            <a:pPr algn="l">
              <a:spcBef>
                <a:spcPts val="0"/>
              </a:spcBef>
              <a:spcAft>
                <a:spcPts val="500"/>
              </a:spcAft>
            </a:pPr>
            <a:r>
              <a:rPr sz="1100" b="0" i="0">
                <a:solidFill>
                  <a:srgbClr val="5A352C"/>
                </a:solidFill>
                <a:latin typeface="Calibri"/>
              </a:rPr>
              <a:t>Landlab's Vegetation component simulates plant biomass growth via soil-moisture ecohydrology — far more than we need. We only need per-cell erosion / creep / runoff multipliers, so this is custom.</a:t>
            </a:r>
          </a:p>
        </p:txBody>
      </p:sp>
      <p:sp>
        <p:nvSpPr>
          <p:cNvPr id="14" name="Rounded Rectangle 13"/>
          <p:cNvSpPr/>
          <p:nvPr/>
        </p:nvSpPr>
        <p:spPr>
          <a:xfrm>
            <a:off x="6720840" y="1463040"/>
            <a:ext cx="4828032" cy="3611880"/>
          </a:xfrm>
          <a:prstGeom prst="roundRect">
            <a:avLst>
              <a:gd name="adj" fmla="val 7000"/>
            </a:avLst>
          </a:prstGeom>
          <a:solidFill>
            <a:srgbClr val="1B2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995159" y="1664208"/>
            <a:ext cx="4279392" cy="365760"/>
          </a:xfrm>
          <a:prstGeom prst="rect">
            <a:avLst/>
          </a:prstGeom>
          <a:noFill/>
        </p:spPr>
        <p:txBody>
          <a:bodyPr wrap="square" lIns="0" tIns="0" rIns="0" bIns="0" anchor="t">
            <a:spAutoFit/>
          </a:bodyPr>
          <a:lstStyle/>
          <a:p>
            <a:pPr algn="l">
              <a:spcBef>
                <a:spcPts val="0"/>
              </a:spcBef>
              <a:spcAft>
                <a:spcPts val="500"/>
              </a:spcAft>
            </a:pPr>
            <a:r>
              <a:rPr sz="1200" b="1" i="0">
                <a:solidFill>
                  <a:srgbClr val="9CC486"/>
                </a:solidFill>
                <a:latin typeface="Calibri"/>
              </a:rPr>
              <a:t>HOW PLANTS CHANGE THE NUMBERS</a:t>
            </a:r>
          </a:p>
        </p:txBody>
      </p:sp>
      <p:sp>
        <p:nvSpPr>
          <p:cNvPr id="16" name="TextBox 15"/>
          <p:cNvSpPr txBox="1"/>
          <p:nvPr/>
        </p:nvSpPr>
        <p:spPr>
          <a:xfrm>
            <a:off x="6995159" y="2029968"/>
            <a:ext cx="4279392" cy="2651760"/>
          </a:xfrm>
          <a:prstGeom prst="rect">
            <a:avLst/>
          </a:prstGeom>
          <a:noFill/>
        </p:spPr>
        <p:txBody>
          <a:bodyPr wrap="square" lIns="0" tIns="0" rIns="0" bIns="0">
            <a:spAutoFit/>
          </a:bodyPr>
          <a:lstStyle/>
          <a:p>
            <a:pPr>
              <a:spcBef>
                <a:spcPts val="0"/>
              </a:spcBef>
              <a:spcAft>
                <a:spcPts val="200"/>
              </a:spcAft>
            </a:pPr>
            <a:r>
              <a:rPr sz="1300" b="1">
                <a:solidFill>
                  <a:srgbClr val="9CC486"/>
                </a:solidFill>
                <a:latin typeface="Calibri"/>
              </a:rPr>
              <a:t>new value = base value × a plant factor</a:t>
            </a:r>
          </a:p>
          <a:p>
            <a:pPr>
              <a:spcBef>
                <a:spcPts val="0"/>
              </a:spcBef>
              <a:spcAft>
                <a:spcPts val="1200"/>
              </a:spcAft>
            </a:pPr>
            <a:endParaRPr sz="1300" b="1">
              <a:solidFill>
                <a:srgbClr val="9CC486"/>
              </a:solidFill>
              <a:latin typeface="Calibri"/>
            </a:endParaRPr>
          </a:p>
          <a:p>
            <a:pPr>
              <a:spcBef>
                <a:spcPts val="0"/>
              </a:spcBef>
              <a:spcAft>
                <a:spcPts val="400"/>
              </a:spcAft>
            </a:pPr>
            <a:r>
              <a:rPr sz="1400" b="1">
                <a:solidFill>
                  <a:srgbClr val="E9E4D6"/>
                </a:solidFill>
                <a:latin typeface="Courier New"/>
              </a:rPr>
              <a:t>softness:  K → K × m_K</a:t>
            </a:r>
          </a:p>
          <a:p>
            <a:pPr>
              <a:spcBef>
                <a:spcPts val="0"/>
              </a:spcBef>
              <a:spcAft>
                <a:spcPts val="400"/>
              </a:spcAft>
            </a:pPr>
            <a:r>
              <a:rPr sz="1400" b="1">
                <a:solidFill>
                  <a:srgbClr val="E9E4D6"/>
                </a:solidFill>
                <a:latin typeface="Courier New"/>
              </a:rPr>
              <a:t>creep:     D → D × m_D</a:t>
            </a:r>
          </a:p>
          <a:p>
            <a:pPr>
              <a:spcBef>
                <a:spcPts val="0"/>
              </a:spcBef>
              <a:spcAft>
                <a:spcPts val="400"/>
              </a:spcAft>
            </a:pPr>
            <a:r>
              <a:rPr sz="1400" b="1">
                <a:solidFill>
                  <a:srgbClr val="E9E4D6"/>
                </a:solidFill>
                <a:latin typeface="Courier New"/>
              </a:rPr>
              <a:t>runoff:    r → r × m_runoff</a:t>
            </a:r>
          </a:p>
          <a:p>
            <a:pPr>
              <a:spcBef>
                <a:spcPts val="0"/>
              </a:spcBef>
              <a:spcAft>
                <a:spcPts val="1200"/>
              </a:spcAft>
            </a:pPr>
            <a:r>
              <a:rPr sz="1100" i="1">
                <a:solidFill>
                  <a:srgbClr val="9FB0A0"/>
                </a:solidFill>
                <a:latin typeface="Calibri"/>
              </a:rPr>
              <a:t>each factor depends on the plant type</a:t>
            </a:r>
          </a:p>
        </p:txBody>
      </p:sp>
      <p:sp>
        <p:nvSpPr>
          <p:cNvPr id="17" name="TextBox 16"/>
          <p:cNvSpPr txBox="1"/>
          <p:nvPr/>
        </p:nvSpPr>
        <p:spPr>
          <a:xfrm>
            <a:off x="6995159" y="4526280"/>
            <a:ext cx="4279392" cy="457200"/>
          </a:xfrm>
          <a:prstGeom prst="rect">
            <a:avLst/>
          </a:prstGeom>
          <a:noFill/>
        </p:spPr>
        <p:txBody>
          <a:bodyPr wrap="square" lIns="0" tIns="0" rIns="0" bIns="0" anchor="t">
            <a:spAutoFit/>
          </a:bodyPr>
          <a:lstStyle/>
          <a:p>
            <a:pPr algn="l">
              <a:spcBef>
                <a:spcPts val="0"/>
              </a:spcBef>
              <a:spcAft>
                <a:spcPts val="500"/>
              </a:spcAft>
            </a:pPr>
            <a:r>
              <a:rPr sz="1050" b="0" i="0">
                <a:solidFill>
                  <a:srgbClr val="8C9D8E"/>
                </a:solidFill>
                <a:latin typeface="Calibri"/>
              </a:rPr>
              <a:t>KEY:  m_K softness factor · m_D creep factor · m_runoff runoff factor (one set per plant class)</a:t>
            </a:r>
          </a:p>
        </p:txBody>
      </p:sp>
      <p:sp>
        <p:nvSpPr>
          <p:cNvPr id="18" name="Rounded Rectangle 17"/>
          <p:cNvSpPr/>
          <p:nvPr/>
        </p:nvSpPr>
        <p:spPr>
          <a:xfrm>
            <a:off x="640080" y="5468112"/>
            <a:ext cx="10908792" cy="1243584"/>
          </a:xfrm>
          <a:prstGeom prst="roundRect">
            <a:avLst>
              <a:gd name="adj" fmla="val 7000"/>
            </a:avLst>
          </a:prstGeom>
          <a:solidFill>
            <a:srgbClr val="FBF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089904" y="5632704"/>
            <a:ext cx="10972" cy="914400"/>
          </a:xfrm>
          <a:prstGeom prst="rect">
            <a:avLst/>
          </a:prstGeom>
          <a:solidFill>
            <a:srgbClr val="E0D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14400" y="5614416"/>
            <a:ext cx="5029200" cy="274320"/>
          </a:xfrm>
          <a:prstGeom prst="rect">
            <a:avLst/>
          </a:prstGeom>
          <a:noFill/>
        </p:spPr>
        <p:txBody>
          <a:bodyPr wrap="square" lIns="0" tIns="0" rIns="0" bIns="0" anchor="t">
            <a:spAutoFit/>
          </a:bodyPr>
          <a:lstStyle/>
          <a:p>
            <a:pPr algn="l">
              <a:spcBef>
                <a:spcPts val="0"/>
              </a:spcBef>
              <a:spcAft>
                <a:spcPts val="500"/>
              </a:spcAft>
            </a:pPr>
            <a:r>
              <a:rPr sz="1150" b="1" i="0">
                <a:solidFill>
                  <a:srgbClr val="B85042"/>
                </a:solidFill>
                <a:latin typeface="Calibri"/>
              </a:rPr>
              <a:t>⚙  YOU SET FOR YOUR SITE</a:t>
            </a:r>
          </a:p>
        </p:txBody>
      </p:sp>
      <p:sp>
        <p:nvSpPr>
          <p:cNvPr id="21" name="TextBox 20"/>
          <p:cNvSpPr txBox="1"/>
          <p:nvPr/>
        </p:nvSpPr>
        <p:spPr>
          <a:xfrm>
            <a:off x="914400" y="5925312"/>
            <a:ext cx="5029200" cy="914400"/>
          </a:xfrm>
          <a:prstGeom prst="rect">
            <a:avLst/>
          </a:prstGeom>
          <a:noFill/>
        </p:spPr>
        <p:txBody>
          <a:bodyPr wrap="square" lIns="0" tIns="0" rIns="0" bIns="0">
            <a:spAutoFit/>
          </a:bodyPr>
          <a:lstStyle/>
          <a:p>
            <a:pPr>
              <a:spcBef>
                <a:spcPts val="0"/>
              </a:spcBef>
              <a:spcAft>
                <a:spcPts val="300"/>
              </a:spcAft>
            </a:pPr>
            <a:r>
              <a:rPr sz="1100" b="1">
                <a:solidFill>
                  <a:srgbClr val="2C4A3E"/>
                </a:solidFill>
                <a:latin typeface="Courier New"/>
              </a:rPr>
              <a:t>vegetation_mode</a:t>
            </a:r>
            <a:r>
              <a:rPr sz="1100">
                <a:solidFill>
                  <a:srgbClr val="6E6A60"/>
                </a:solidFill>
                <a:latin typeface="Calibri"/>
              </a:rPr>
              <a:t>  Static or Transition</a:t>
            </a:r>
          </a:p>
          <a:p>
            <a:pPr>
              <a:spcBef>
                <a:spcPts val="0"/>
              </a:spcBef>
              <a:spcAft>
                <a:spcPts val="300"/>
              </a:spcAft>
            </a:pPr>
            <a:r>
              <a:rPr sz="1100" b="1">
                <a:solidFill>
                  <a:srgbClr val="2C4A3E"/>
                </a:solidFill>
                <a:latin typeface="Courier New"/>
              </a:rPr>
              <a:t>class factors</a:t>
            </a:r>
            <a:r>
              <a:rPr sz="1100">
                <a:solidFill>
                  <a:srgbClr val="6E6A60"/>
                </a:solidFill>
                <a:latin typeface="Calibri"/>
              </a:rPr>
              <a:t>  the m_K, m_D, m_runoff per cover type</a:t>
            </a:r>
          </a:p>
        </p:txBody>
      </p:sp>
      <p:sp>
        <p:nvSpPr>
          <p:cNvPr id="22" name="TextBox 21"/>
          <p:cNvSpPr txBox="1"/>
          <p:nvPr/>
        </p:nvSpPr>
        <p:spPr>
          <a:xfrm>
            <a:off x="6355080" y="5614416"/>
            <a:ext cx="5212080" cy="274320"/>
          </a:xfrm>
          <a:prstGeom prst="rect">
            <a:avLst/>
          </a:prstGeom>
          <a:noFill/>
        </p:spPr>
        <p:txBody>
          <a:bodyPr wrap="square" lIns="0" tIns="0" rIns="0" bIns="0" anchor="t">
            <a:spAutoFit/>
          </a:bodyPr>
          <a:lstStyle/>
          <a:p>
            <a:pPr algn="l">
              <a:spcBef>
                <a:spcPts val="0"/>
              </a:spcBef>
              <a:spcAft>
                <a:spcPts val="500"/>
              </a:spcAft>
            </a:pPr>
            <a:r>
              <a:rPr sz="1150" b="1" i="0">
                <a:solidFill>
                  <a:srgbClr val="6B8E5A"/>
                </a:solidFill>
                <a:latin typeface="Calibri"/>
              </a:rPr>
              <a:t>✓  USUALLY LEFT AT DEFAULT</a:t>
            </a:r>
          </a:p>
        </p:txBody>
      </p:sp>
      <p:sp>
        <p:nvSpPr>
          <p:cNvPr id="23" name="TextBox 22"/>
          <p:cNvSpPr txBox="1"/>
          <p:nvPr/>
        </p:nvSpPr>
        <p:spPr>
          <a:xfrm>
            <a:off x="6355080" y="5925312"/>
            <a:ext cx="5029200" cy="914400"/>
          </a:xfrm>
          <a:prstGeom prst="rect">
            <a:avLst/>
          </a:prstGeom>
          <a:noFill/>
        </p:spPr>
        <p:txBody>
          <a:bodyPr wrap="square" lIns="0" tIns="0" rIns="0" bIns="0">
            <a:spAutoFit/>
          </a:bodyPr>
          <a:lstStyle/>
          <a:p>
            <a:pPr>
              <a:spcBef>
                <a:spcPts val="0"/>
              </a:spcBef>
              <a:spcAft>
                <a:spcPts val="300"/>
              </a:spcAft>
            </a:pPr>
            <a:r>
              <a:rPr sz="1100" b="1">
                <a:solidFill>
                  <a:srgbClr val="2C4A3E"/>
                </a:solidFill>
                <a:latin typeface="Courier New"/>
              </a:rPr>
              <a:t>multipliers</a:t>
            </a:r>
            <a:r>
              <a:rPr sz="1100">
                <a:solidFill>
                  <a:srgbClr val="6E6A60"/>
                </a:solidFill>
                <a:latin typeface="Calibri"/>
              </a:rPr>
              <a:t>  = 1.0 means 'no effect' (bare baseline)</a:t>
            </a:r>
          </a:p>
          <a:p>
            <a:pPr>
              <a:spcBef>
                <a:spcPts val="0"/>
              </a:spcBef>
              <a:spcAft>
                <a:spcPts val="300"/>
              </a:spcAft>
            </a:pPr>
            <a:r>
              <a:rPr sz="1100" b="1">
                <a:solidFill>
                  <a:srgbClr val="2C4A3E"/>
                </a:solidFill>
                <a:latin typeface="Courier New"/>
              </a:rPr>
              <a:t>transitions</a:t>
            </a:r>
            <a:r>
              <a:rPr sz="1100">
                <a:solidFill>
                  <a:srgbClr val="6E6A60"/>
                </a:solidFill>
                <a:latin typeface="Calibri"/>
              </a:rPr>
              <a:t>  only if cover changes over time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2E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8229600" cy="365760"/>
          </a:xfrm>
          <a:prstGeom prst="rect">
            <a:avLst/>
          </a:prstGeom>
          <a:noFill/>
        </p:spPr>
        <p:txBody>
          <a:bodyPr wrap="square" lIns="0" tIns="0" rIns="0" bIns="0" anchor="t">
            <a:spAutoFit/>
          </a:bodyPr>
          <a:lstStyle/>
          <a:p>
            <a:pPr algn="l">
              <a:spcBef>
                <a:spcPts val="0"/>
              </a:spcBef>
              <a:spcAft>
                <a:spcPts val="500"/>
              </a:spcAft>
            </a:pPr>
            <a:r>
              <a:rPr sz="1250" b="1" i="0">
                <a:solidFill>
                  <a:srgbClr val="B85042"/>
                </a:solidFill>
                <a:latin typeface="Calibri"/>
              </a:rPr>
              <a:t>COMPONENT · TECTONICS</a:t>
            </a:r>
          </a:p>
        </p:txBody>
      </p:sp>
      <p:sp>
        <p:nvSpPr>
          <p:cNvPr id="4" name="TextBox 3"/>
          <p:cNvSpPr txBox="1"/>
          <p:nvPr/>
        </p:nvSpPr>
        <p:spPr>
          <a:xfrm>
            <a:off x="640080" y="676656"/>
            <a:ext cx="8595360" cy="777240"/>
          </a:xfrm>
          <a:prstGeom prst="rect">
            <a:avLst/>
          </a:prstGeom>
          <a:noFill/>
        </p:spPr>
        <p:txBody>
          <a:bodyPr wrap="square" lIns="0" tIns="0" rIns="0" bIns="0" anchor="t">
            <a:spAutoFit/>
          </a:bodyPr>
          <a:lstStyle/>
          <a:p>
            <a:pPr algn="l">
              <a:spcBef>
                <a:spcPts val="0"/>
              </a:spcBef>
              <a:spcAft>
                <a:spcPts val="500"/>
              </a:spcAft>
            </a:pPr>
            <a:r>
              <a:rPr sz="3100" b="1" i="0">
                <a:solidFill>
                  <a:srgbClr val="2C4A3E"/>
                </a:solidFill>
                <a:latin typeface="Calibri"/>
              </a:rPr>
              <a:t>Tectonics (Uplift)</a:t>
            </a:r>
          </a:p>
        </p:txBody>
      </p:sp>
      <p:sp>
        <p:nvSpPr>
          <p:cNvPr id="5" name="Rounded Rectangle 4"/>
          <p:cNvSpPr/>
          <p:nvPr/>
        </p:nvSpPr>
        <p:spPr>
          <a:xfrm>
            <a:off x="10021824" y="548640"/>
            <a:ext cx="1527048" cy="384048"/>
          </a:xfrm>
          <a:prstGeom prst="roundRect">
            <a:avLst>
              <a:gd name="adj" fmla="val 50000"/>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021824" y="562356"/>
            <a:ext cx="1527048" cy="365760"/>
          </a:xfrm>
          <a:prstGeom prst="rect">
            <a:avLst/>
          </a:prstGeom>
          <a:noFill/>
        </p:spPr>
        <p:txBody>
          <a:bodyPr wrap="square" lIns="0" tIns="0" rIns="0" bIns="0" anchor="ctr">
            <a:spAutoFit/>
          </a:bodyPr>
          <a:lstStyle/>
          <a:p>
            <a:pPr algn="ctr">
              <a:spcBef>
                <a:spcPts val="0"/>
              </a:spcBef>
              <a:spcAft>
                <a:spcPts val="500"/>
              </a:spcAft>
            </a:pPr>
            <a:r>
              <a:rPr sz="1150" b="1" i="0">
                <a:solidFill>
                  <a:srgbClr val="FFFFFF"/>
                </a:solidFill>
                <a:latin typeface="Calibri"/>
              </a:rPr>
              <a:t>● CUSTOM LOGIC</a:t>
            </a:r>
          </a:p>
        </p:txBody>
      </p:sp>
      <p:sp>
        <p:nvSpPr>
          <p:cNvPr id="7" name="TextBox 6"/>
          <p:cNvSpPr txBox="1"/>
          <p:nvPr/>
        </p:nvSpPr>
        <p:spPr>
          <a:xfrm>
            <a:off x="640080" y="1417320"/>
            <a:ext cx="5669280" cy="320040"/>
          </a:xfrm>
          <a:prstGeom prst="rect">
            <a:avLst/>
          </a:prstGeom>
          <a:noFill/>
        </p:spPr>
        <p:txBody>
          <a:bodyPr wrap="square" lIns="0" tIns="0" rIns="0" bIns="0" anchor="t">
            <a:spAutoFit/>
          </a:bodyPr>
          <a:lstStyle/>
          <a:p>
            <a:pPr algn="l">
              <a:spcBef>
                <a:spcPts val="0"/>
              </a:spcBef>
              <a:spcAft>
                <a:spcPts val="500"/>
              </a:spcAft>
            </a:pPr>
            <a:r>
              <a:rPr sz="1250" b="1" i="0">
                <a:solidFill>
                  <a:srgbClr val="B85042"/>
                </a:solidFill>
                <a:latin typeface="Calibri"/>
              </a:rPr>
              <a:t>WHAT IT DOES</a:t>
            </a:r>
          </a:p>
        </p:txBody>
      </p:sp>
      <p:sp>
        <p:nvSpPr>
          <p:cNvPr id="8" name="TextBox 7"/>
          <p:cNvSpPr txBox="1"/>
          <p:nvPr/>
        </p:nvSpPr>
        <p:spPr>
          <a:xfrm>
            <a:off x="640080" y="1709928"/>
            <a:ext cx="5669280" cy="2286000"/>
          </a:xfrm>
          <a:prstGeom prst="rect">
            <a:avLst/>
          </a:prstGeom>
          <a:noFill/>
        </p:spPr>
        <p:txBody>
          <a:bodyPr wrap="square" lIns="0" tIns="0" rIns="0" bIns="0" anchor="t">
            <a:spAutoFit/>
          </a:bodyPr>
          <a:lstStyle/>
          <a:p>
            <a:pPr algn="l">
              <a:spcBef>
                <a:spcPts val="0"/>
              </a:spcBef>
              <a:spcAft>
                <a:spcPts val="500"/>
              </a:spcAft>
            </a:pPr>
            <a:r>
              <a:rPr sz="1250" b="0" i="0">
                <a:solidFill>
                  <a:srgbClr val="2B2B2B"/>
                </a:solidFill>
                <a:latin typeface="Calibri"/>
              </a:rPr>
              <a:t>Raises the inner land a little each step (it adds height to the elevation field). This is the force that builds relief by competing with erosion — without it, erosion alone would wear the whole landscape flat.</a:t>
            </a:r>
          </a:p>
        </p:txBody>
      </p:sp>
      <p:sp>
        <p:nvSpPr>
          <p:cNvPr id="9" name="TextBox 8"/>
          <p:cNvSpPr txBox="1"/>
          <p:nvPr/>
        </p:nvSpPr>
        <p:spPr>
          <a:xfrm>
            <a:off x="640080" y="2560320"/>
            <a:ext cx="5669280" cy="292608"/>
          </a:xfrm>
          <a:prstGeom prst="rect">
            <a:avLst/>
          </a:prstGeom>
          <a:noFill/>
        </p:spPr>
        <p:txBody>
          <a:bodyPr wrap="square" lIns="0" tIns="0" rIns="0" bIns="0" anchor="t">
            <a:spAutoFit/>
          </a:bodyPr>
          <a:lstStyle/>
          <a:p>
            <a:pPr algn="l">
              <a:spcBef>
                <a:spcPts val="0"/>
              </a:spcBef>
              <a:spcAft>
                <a:spcPts val="500"/>
              </a:spcAft>
            </a:pPr>
            <a:r>
              <a:rPr sz="1250" b="1" i="0">
                <a:solidFill>
                  <a:srgbClr val="3E6B8C"/>
                </a:solidFill>
                <a:latin typeface="Calibri"/>
              </a:rPr>
              <a:t>WHAT YOU CAN DO WITH IT</a:t>
            </a:r>
          </a:p>
        </p:txBody>
      </p:sp>
      <p:sp>
        <p:nvSpPr>
          <p:cNvPr id="10" name="TextBox 9"/>
          <p:cNvSpPr txBox="1"/>
          <p:nvPr/>
        </p:nvSpPr>
        <p:spPr>
          <a:xfrm>
            <a:off x="640080" y="2871215"/>
            <a:ext cx="5669280" cy="1417320"/>
          </a:xfrm>
          <a:prstGeom prst="rect">
            <a:avLst/>
          </a:prstGeom>
          <a:noFill/>
        </p:spPr>
        <p:txBody>
          <a:bodyPr wrap="square" lIns="0" tIns="0" rIns="0" bIns="0">
            <a:spAutoFit/>
          </a:bodyPr>
          <a:lstStyle/>
          <a:p>
            <a:pPr>
              <a:spcBef>
                <a:spcPts val="0"/>
              </a:spcBef>
              <a:spcAft>
                <a:spcPts val="400"/>
              </a:spcAft>
            </a:pPr>
            <a:r>
              <a:rPr sz="1100" b="1">
                <a:solidFill>
                  <a:srgbClr val="3E6B8C"/>
                </a:solidFill>
                <a:latin typeface="Calibri"/>
              </a:rPr>
              <a:t>▸  </a:t>
            </a:r>
            <a:r>
              <a:rPr sz="1150" b="1">
                <a:solidFill>
                  <a:srgbClr val="2C4A3E"/>
                </a:solidFill>
                <a:latin typeface="Calibri"/>
              </a:rPr>
              <a:t>Uniform: </a:t>
            </a:r>
            <a:r>
              <a:rPr sz="1150">
                <a:solidFill>
                  <a:srgbClr val="2B2B2B"/>
                </a:solidFill>
                <a:latin typeface="Calibri"/>
              </a:rPr>
              <a:t>the whole region rises at one steady rate (block uplift).</a:t>
            </a:r>
          </a:p>
          <a:p>
            <a:pPr>
              <a:spcBef>
                <a:spcPts val="0"/>
              </a:spcBef>
              <a:spcAft>
                <a:spcPts val="400"/>
              </a:spcAft>
            </a:pPr>
            <a:r>
              <a:rPr sz="1100" b="1">
                <a:solidFill>
                  <a:srgbClr val="3E6B8C"/>
                </a:solidFill>
                <a:latin typeface="Calibri"/>
              </a:rPr>
              <a:t>▸  </a:t>
            </a:r>
            <a:r>
              <a:rPr sz="1150" b="1">
                <a:solidFill>
                  <a:srgbClr val="2C4A3E"/>
                </a:solidFill>
                <a:latin typeface="Calibri"/>
              </a:rPr>
              <a:t>Spatial: </a:t>
            </a:r>
            <a:r>
              <a:rPr sz="1150">
                <a:solidFill>
                  <a:srgbClr val="2B2B2B"/>
                </a:solidFill>
                <a:latin typeface="Calibri"/>
              </a:rPr>
              <a:t>different parts rise at different rates, from a map — tilting, or faster-rising blocks.</a:t>
            </a:r>
          </a:p>
        </p:txBody>
      </p:sp>
      <p:sp>
        <p:nvSpPr>
          <p:cNvPr id="11" name="Rounded Rectangle 10"/>
          <p:cNvSpPr/>
          <p:nvPr/>
        </p:nvSpPr>
        <p:spPr>
          <a:xfrm>
            <a:off x="640080" y="4069080"/>
            <a:ext cx="5669280" cy="1371600"/>
          </a:xfrm>
          <a:prstGeom prst="roundRect">
            <a:avLst>
              <a:gd name="adj" fmla="val 8000"/>
            </a:avLst>
          </a:prstGeom>
          <a:solidFill>
            <a:srgbClr val="F7E6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96112" y="4233672"/>
            <a:ext cx="5157216" cy="365760"/>
          </a:xfrm>
          <a:prstGeom prst="rect">
            <a:avLst/>
          </a:prstGeom>
          <a:noFill/>
        </p:spPr>
        <p:txBody>
          <a:bodyPr wrap="square" lIns="0" tIns="0" rIns="0" bIns="0" anchor="t">
            <a:spAutoFit/>
          </a:bodyPr>
          <a:lstStyle/>
          <a:p>
            <a:pPr algn="l">
              <a:spcBef>
                <a:spcPts val="0"/>
              </a:spcBef>
              <a:spcAft>
                <a:spcPts val="500"/>
              </a:spcAft>
            </a:pPr>
            <a:r>
              <a:rPr sz="1150" b="1" i="0">
                <a:solidFill>
                  <a:srgbClr val="B85042"/>
                </a:solidFill>
                <a:latin typeface="Calibri"/>
              </a:rPr>
              <a:t>⚠  LANDLAB HAS COMPONENTS — WHY NOT USE THEM?</a:t>
            </a:r>
          </a:p>
        </p:txBody>
      </p:sp>
      <p:sp>
        <p:nvSpPr>
          <p:cNvPr id="13" name="TextBox 12"/>
          <p:cNvSpPr txBox="1"/>
          <p:nvPr/>
        </p:nvSpPr>
        <p:spPr>
          <a:xfrm>
            <a:off x="896112" y="4581144"/>
            <a:ext cx="5157216" cy="713232"/>
          </a:xfrm>
          <a:prstGeom prst="rect">
            <a:avLst/>
          </a:prstGeom>
          <a:noFill/>
        </p:spPr>
        <p:txBody>
          <a:bodyPr wrap="square" lIns="0" tIns="0" rIns="0" bIns="0" anchor="t">
            <a:spAutoFit/>
          </a:bodyPr>
          <a:lstStyle/>
          <a:p>
            <a:pPr algn="l">
              <a:spcBef>
                <a:spcPts val="0"/>
              </a:spcBef>
              <a:spcAft>
                <a:spcPts val="500"/>
              </a:spcAft>
            </a:pPr>
            <a:r>
              <a:rPr sz="1100" b="0" i="0">
                <a:solidFill>
                  <a:srgbClr val="5A352C"/>
                </a:solidFill>
                <a:latin typeface="Calibri"/>
              </a:rPr>
              <a:t>Landlab's tectonic components (NormalFault, ListricKinematicExtender, Flexure, gFlex) model specific fault or flexure mechanisms, not a general uplift rate. Most landscape-evolution studies just apply an uplift rate — exactly what this does.</a:t>
            </a:r>
          </a:p>
        </p:txBody>
      </p:sp>
      <p:sp>
        <p:nvSpPr>
          <p:cNvPr id="14" name="Rounded Rectangle 13"/>
          <p:cNvSpPr/>
          <p:nvPr/>
        </p:nvSpPr>
        <p:spPr>
          <a:xfrm>
            <a:off x="6720840" y="1463040"/>
            <a:ext cx="4828032" cy="3611880"/>
          </a:xfrm>
          <a:prstGeom prst="roundRect">
            <a:avLst>
              <a:gd name="adj" fmla="val 7000"/>
            </a:avLst>
          </a:prstGeom>
          <a:solidFill>
            <a:srgbClr val="1B2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995159" y="1664208"/>
            <a:ext cx="4279392" cy="365760"/>
          </a:xfrm>
          <a:prstGeom prst="rect">
            <a:avLst/>
          </a:prstGeom>
          <a:noFill/>
        </p:spPr>
        <p:txBody>
          <a:bodyPr wrap="square" lIns="0" tIns="0" rIns="0" bIns="0" anchor="t">
            <a:spAutoFit/>
          </a:bodyPr>
          <a:lstStyle/>
          <a:p>
            <a:pPr algn="l">
              <a:spcBef>
                <a:spcPts val="0"/>
              </a:spcBef>
              <a:spcAft>
                <a:spcPts val="500"/>
              </a:spcAft>
            </a:pPr>
            <a:r>
              <a:rPr sz="1200" b="1" i="0">
                <a:solidFill>
                  <a:srgbClr val="9CC486"/>
                </a:solidFill>
                <a:latin typeface="Calibri"/>
              </a:rPr>
              <a:t>RAISING THE LAND, IN PLAIN WORDS + MATHS</a:t>
            </a:r>
          </a:p>
        </p:txBody>
      </p:sp>
      <p:sp>
        <p:nvSpPr>
          <p:cNvPr id="16" name="TextBox 15"/>
          <p:cNvSpPr txBox="1"/>
          <p:nvPr/>
        </p:nvSpPr>
        <p:spPr>
          <a:xfrm>
            <a:off x="6995159" y="2029968"/>
            <a:ext cx="4279392" cy="2651760"/>
          </a:xfrm>
          <a:prstGeom prst="rect">
            <a:avLst/>
          </a:prstGeom>
          <a:noFill/>
        </p:spPr>
        <p:txBody>
          <a:bodyPr wrap="square" lIns="0" tIns="0" rIns="0" bIns="0">
            <a:spAutoFit/>
          </a:bodyPr>
          <a:lstStyle/>
          <a:p>
            <a:pPr>
              <a:spcBef>
                <a:spcPts val="0"/>
              </a:spcBef>
              <a:spcAft>
                <a:spcPts val="200"/>
              </a:spcAft>
            </a:pPr>
            <a:r>
              <a:rPr sz="1300" b="1">
                <a:solidFill>
                  <a:srgbClr val="9CC486"/>
                </a:solidFill>
                <a:latin typeface="Calibri"/>
              </a:rPr>
              <a:t>new height = old height + uplift speed × time</a:t>
            </a:r>
          </a:p>
          <a:p>
            <a:pPr>
              <a:spcBef>
                <a:spcPts val="0"/>
              </a:spcBef>
              <a:spcAft>
                <a:spcPts val="1200"/>
              </a:spcAft>
            </a:pPr>
            <a:endParaRPr sz="1300" b="1">
              <a:solidFill>
                <a:srgbClr val="9CC486"/>
              </a:solidFill>
              <a:latin typeface="Calibri"/>
            </a:endParaRPr>
          </a:p>
          <a:p>
            <a:pPr>
              <a:spcBef>
                <a:spcPts val="0"/>
              </a:spcBef>
              <a:spcAft>
                <a:spcPts val="400"/>
              </a:spcAft>
            </a:pPr>
            <a:r>
              <a:rPr sz="1400" b="1">
                <a:solidFill>
                  <a:srgbClr val="E9E4D6"/>
                </a:solidFill>
                <a:latin typeface="Courier New"/>
              </a:rPr>
              <a:t>z(inner) += U · dt</a:t>
            </a:r>
          </a:p>
          <a:p>
            <a:pPr>
              <a:spcBef>
                <a:spcPts val="0"/>
              </a:spcBef>
              <a:spcAft>
                <a:spcPts val="1200"/>
              </a:spcAft>
            </a:pPr>
            <a:r>
              <a:rPr sz="1100" i="1">
                <a:solidFill>
                  <a:srgbClr val="9FB0A0"/>
                </a:solidFill>
                <a:latin typeface="Calibri"/>
              </a:rPr>
              <a:t>the land surface rises</a:t>
            </a:r>
          </a:p>
          <a:p>
            <a:pPr>
              <a:spcBef>
                <a:spcPts val="0"/>
              </a:spcBef>
              <a:spcAft>
                <a:spcPts val="400"/>
              </a:spcAft>
            </a:pPr>
            <a:r>
              <a:rPr sz="1400" b="1">
                <a:solidFill>
                  <a:srgbClr val="E9E4D6"/>
                </a:solidFill>
                <a:latin typeface="Courier New"/>
              </a:rPr>
              <a:t>edges stay fixed  → relief grows</a:t>
            </a:r>
          </a:p>
          <a:p>
            <a:pPr>
              <a:spcBef>
                <a:spcPts val="0"/>
              </a:spcBef>
              <a:spcAft>
                <a:spcPts val="1200"/>
              </a:spcAft>
            </a:pPr>
            <a:r>
              <a:rPr sz="1100" i="1">
                <a:solidFill>
                  <a:srgbClr val="9FB0A0"/>
                </a:solidFill>
                <a:latin typeface="Calibri"/>
              </a:rPr>
              <a:t>uplift recorded → removed from result map</a:t>
            </a:r>
          </a:p>
        </p:txBody>
      </p:sp>
      <p:sp>
        <p:nvSpPr>
          <p:cNvPr id="17" name="TextBox 16"/>
          <p:cNvSpPr txBox="1"/>
          <p:nvPr/>
        </p:nvSpPr>
        <p:spPr>
          <a:xfrm>
            <a:off x="6995159" y="4526280"/>
            <a:ext cx="4279392" cy="457200"/>
          </a:xfrm>
          <a:prstGeom prst="rect">
            <a:avLst/>
          </a:prstGeom>
          <a:noFill/>
        </p:spPr>
        <p:txBody>
          <a:bodyPr wrap="square" lIns="0" tIns="0" rIns="0" bIns="0" anchor="t">
            <a:spAutoFit/>
          </a:bodyPr>
          <a:lstStyle/>
          <a:p>
            <a:pPr algn="l">
              <a:spcBef>
                <a:spcPts val="0"/>
              </a:spcBef>
              <a:spcAft>
                <a:spcPts val="500"/>
              </a:spcAft>
            </a:pPr>
            <a:r>
              <a:rPr sz="1050" b="0" i="0">
                <a:solidFill>
                  <a:srgbClr val="8C9D8E"/>
                </a:solidFill>
                <a:latin typeface="Calibri"/>
              </a:rPr>
              <a:t>KEY:  z land height · U uplift rate (height per unit time) · dt time step length</a:t>
            </a:r>
          </a:p>
        </p:txBody>
      </p:sp>
      <p:sp>
        <p:nvSpPr>
          <p:cNvPr id="18" name="Rounded Rectangle 17"/>
          <p:cNvSpPr/>
          <p:nvPr/>
        </p:nvSpPr>
        <p:spPr>
          <a:xfrm>
            <a:off x="640080" y="5468112"/>
            <a:ext cx="10908792" cy="1243584"/>
          </a:xfrm>
          <a:prstGeom prst="roundRect">
            <a:avLst>
              <a:gd name="adj" fmla="val 7000"/>
            </a:avLst>
          </a:prstGeom>
          <a:solidFill>
            <a:srgbClr val="FBF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089904" y="5632704"/>
            <a:ext cx="10972" cy="914400"/>
          </a:xfrm>
          <a:prstGeom prst="rect">
            <a:avLst/>
          </a:prstGeom>
          <a:solidFill>
            <a:srgbClr val="E0D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14400" y="5614416"/>
            <a:ext cx="5029200" cy="274320"/>
          </a:xfrm>
          <a:prstGeom prst="rect">
            <a:avLst/>
          </a:prstGeom>
          <a:noFill/>
        </p:spPr>
        <p:txBody>
          <a:bodyPr wrap="square" lIns="0" tIns="0" rIns="0" bIns="0" anchor="t">
            <a:spAutoFit/>
          </a:bodyPr>
          <a:lstStyle/>
          <a:p>
            <a:pPr algn="l">
              <a:spcBef>
                <a:spcPts val="0"/>
              </a:spcBef>
              <a:spcAft>
                <a:spcPts val="500"/>
              </a:spcAft>
            </a:pPr>
            <a:r>
              <a:rPr sz="1150" b="1" i="0">
                <a:solidFill>
                  <a:srgbClr val="B85042"/>
                </a:solidFill>
                <a:latin typeface="Calibri"/>
              </a:rPr>
              <a:t>⚙  YOU SET FOR YOUR SITE</a:t>
            </a:r>
          </a:p>
        </p:txBody>
      </p:sp>
      <p:sp>
        <p:nvSpPr>
          <p:cNvPr id="21" name="TextBox 20"/>
          <p:cNvSpPr txBox="1"/>
          <p:nvPr/>
        </p:nvSpPr>
        <p:spPr>
          <a:xfrm>
            <a:off x="914400" y="5925312"/>
            <a:ext cx="5029200" cy="914400"/>
          </a:xfrm>
          <a:prstGeom prst="rect">
            <a:avLst/>
          </a:prstGeom>
          <a:noFill/>
        </p:spPr>
        <p:txBody>
          <a:bodyPr wrap="square" lIns="0" tIns="0" rIns="0" bIns="0">
            <a:spAutoFit/>
          </a:bodyPr>
          <a:lstStyle/>
          <a:p>
            <a:pPr>
              <a:spcBef>
                <a:spcPts val="0"/>
              </a:spcBef>
              <a:spcAft>
                <a:spcPts val="300"/>
              </a:spcAft>
            </a:pPr>
            <a:r>
              <a:rPr sz="1100" b="1">
                <a:solidFill>
                  <a:srgbClr val="2C4A3E"/>
                </a:solidFill>
                <a:latin typeface="Courier New"/>
              </a:rPr>
              <a:t>uplift_rate</a:t>
            </a:r>
            <a:r>
              <a:rPr sz="1100">
                <a:solidFill>
                  <a:srgbClr val="6E6A60"/>
                </a:solidFill>
                <a:latin typeface="Calibri"/>
              </a:rPr>
              <a:t>  tectonic rate — estimate for your region</a:t>
            </a:r>
          </a:p>
          <a:p>
            <a:pPr>
              <a:spcBef>
                <a:spcPts val="0"/>
              </a:spcBef>
              <a:spcAft>
                <a:spcPts val="300"/>
              </a:spcAft>
            </a:pPr>
            <a:r>
              <a:rPr sz="1100" b="1">
                <a:solidFill>
                  <a:srgbClr val="2C4A3E"/>
                </a:solidFill>
                <a:latin typeface="Courier New"/>
              </a:rPr>
              <a:t>mode</a:t>
            </a:r>
            <a:r>
              <a:rPr sz="1100">
                <a:solidFill>
                  <a:srgbClr val="6E6A60"/>
                </a:solidFill>
                <a:latin typeface="Calibri"/>
              </a:rPr>
              <a:t>  Uniform or Spatial</a:t>
            </a:r>
          </a:p>
        </p:txBody>
      </p:sp>
      <p:sp>
        <p:nvSpPr>
          <p:cNvPr id="22" name="TextBox 21"/>
          <p:cNvSpPr txBox="1"/>
          <p:nvPr/>
        </p:nvSpPr>
        <p:spPr>
          <a:xfrm>
            <a:off x="6355080" y="5614416"/>
            <a:ext cx="5212080" cy="274320"/>
          </a:xfrm>
          <a:prstGeom prst="rect">
            <a:avLst/>
          </a:prstGeom>
          <a:noFill/>
        </p:spPr>
        <p:txBody>
          <a:bodyPr wrap="square" lIns="0" tIns="0" rIns="0" bIns="0" anchor="t">
            <a:spAutoFit/>
          </a:bodyPr>
          <a:lstStyle/>
          <a:p>
            <a:pPr algn="l">
              <a:spcBef>
                <a:spcPts val="0"/>
              </a:spcBef>
              <a:spcAft>
                <a:spcPts val="500"/>
              </a:spcAft>
            </a:pPr>
            <a:r>
              <a:rPr sz="1150" b="1" i="0">
                <a:solidFill>
                  <a:srgbClr val="6B8E5A"/>
                </a:solidFill>
                <a:latin typeface="Calibri"/>
              </a:rPr>
              <a:t>✓  USUALLY LEFT AT DEFAULT</a:t>
            </a:r>
          </a:p>
        </p:txBody>
      </p:sp>
      <p:sp>
        <p:nvSpPr>
          <p:cNvPr id="23" name="TextBox 22"/>
          <p:cNvSpPr txBox="1"/>
          <p:nvPr/>
        </p:nvSpPr>
        <p:spPr>
          <a:xfrm>
            <a:off x="6355080" y="5925312"/>
            <a:ext cx="5029200" cy="914400"/>
          </a:xfrm>
          <a:prstGeom prst="rect">
            <a:avLst/>
          </a:prstGeom>
          <a:noFill/>
        </p:spPr>
        <p:txBody>
          <a:bodyPr wrap="square" lIns="0" tIns="0" rIns="0" bIns="0">
            <a:spAutoFit/>
          </a:bodyPr>
          <a:lstStyle/>
          <a:p>
            <a:pPr>
              <a:spcBef>
                <a:spcPts val="0"/>
              </a:spcBef>
              <a:spcAft>
                <a:spcPts val="300"/>
              </a:spcAft>
            </a:pPr>
            <a:r>
              <a:rPr sz="1100" b="1">
                <a:solidFill>
                  <a:srgbClr val="2C4A3E"/>
                </a:solidFill>
                <a:latin typeface="Courier New"/>
              </a:rPr>
              <a:t>uplift_raster</a:t>
            </a:r>
            <a:r>
              <a:rPr sz="1100">
                <a:solidFill>
                  <a:srgbClr val="6E6A60"/>
                </a:solidFill>
                <a:latin typeface="Calibri"/>
              </a:rPr>
              <a:t>  only for Spatial (per-cell) uplift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2C4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8229600" cy="365760"/>
          </a:xfrm>
          <a:prstGeom prst="rect">
            <a:avLst/>
          </a:prstGeom>
          <a:noFill/>
        </p:spPr>
        <p:txBody>
          <a:bodyPr wrap="square" lIns="0" tIns="0" rIns="0" bIns="0" anchor="t">
            <a:spAutoFit/>
          </a:bodyPr>
          <a:lstStyle/>
          <a:p>
            <a:pPr algn="l">
              <a:spcBef>
                <a:spcPts val="0"/>
              </a:spcBef>
              <a:spcAft>
                <a:spcPts val="500"/>
              </a:spcAft>
            </a:pPr>
            <a:r>
              <a:rPr sz="1250" b="1" i="0">
                <a:solidFill>
                  <a:srgbClr val="9CC486"/>
                </a:solidFill>
                <a:latin typeface="Calibri"/>
              </a:rPr>
              <a:t>PUTTING IT TOGETHER</a:t>
            </a:r>
          </a:p>
        </p:txBody>
      </p:sp>
      <p:sp>
        <p:nvSpPr>
          <p:cNvPr id="4" name="TextBox 3"/>
          <p:cNvSpPr txBox="1"/>
          <p:nvPr/>
        </p:nvSpPr>
        <p:spPr>
          <a:xfrm>
            <a:off x="640080" y="676656"/>
            <a:ext cx="10515600" cy="777240"/>
          </a:xfrm>
          <a:prstGeom prst="rect">
            <a:avLst/>
          </a:prstGeom>
          <a:noFill/>
        </p:spPr>
        <p:txBody>
          <a:bodyPr wrap="square" lIns="0" tIns="0" rIns="0" bIns="0" anchor="t">
            <a:spAutoFit/>
          </a:bodyPr>
          <a:lstStyle/>
          <a:p>
            <a:pPr algn="l">
              <a:spcBef>
                <a:spcPts val="0"/>
              </a:spcBef>
              <a:spcAft>
                <a:spcPts val="500"/>
              </a:spcAft>
            </a:pPr>
            <a:r>
              <a:rPr sz="3100" b="1" i="0">
                <a:solidFill>
                  <a:srgbClr val="FFFFFF"/>
                </a:solidFill>
                <a:latin typeface="Calibri"/>
              </a:rPr>
              <a:t>One Timestep, Step by Step</a:t>
            </a:r>
          </a:p>
        </p:txBody>
      </p:sp>
      <p:sp>
        <p:nvSpPr>
          <p:cNvPr id="5" name="TextBox 4"/>
          <p:cNvSpPr txBox="1"/>
          <p:nvPr/>
        </p:nvSpPr>
        <p:spPr>
          <a:xfrm>
            <a:off x="640080" y="1481328"/>
            <a:ext cx="10881360" cy="502920"/>
          </a:xfrm>
          <a:prstGeom prst="rect">
            <a:avLst/>
          </a:prstGeom>
          <a:noFill/>
        </p:spPr>
        <p:txBody>
          <a:bodyPr wrap="square" lIns="0" tIns="0" rIns="0" bIns="0" anchor="t">
            <a:spAutoFit/>
          </a:bodyPr>
          <a:lstStyle/>
          <a:p>
            <a:pPr algn="l">
              <a:spcBef>
                <a:spcPts val="0"/>
              </a:spcBef>
              <a:spcAft>
                <a:spcPts val="500"/>
              </a:spcAft>
            </a:pPr>
            <a:r>
              <a:rPr sz="1450" b="0" i="0">
                <a:solidFill>
                  <a:srgbClr val="DDD9CD"/>
                </a:solidFill>
                <a:latin typeface="Calibri"/>
              </a:rPr>
              <a:t>Components never call each other — they read and write one shared landscape, in a fixed order. Each step:</a:t>
            </a:r>
          </a:p>
        </p:txBody>
      </p:sp>
      <p:sp>
        <p:nvSpPr>
          <p:cNvPr id="6" name="Oval 5"/>
          <p:cNvSpPr/>
          <p:nvPr/>
        </p:nvSpPr>
        <p:spPr>
          <a:xfrm>
            <a:off x="822960" y="2212848"/>
            <a:ext cx="457200" cy="457200"/>
          </a:xfrm>
          <a:prstGeom prst="ellipse">
            <a:avLst/>
          </a:prstGeom>
          <a:solidFill>
            <a:srgbClr val="3E6B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22960" y="2212848"/>
            <a:ext cx="457200" cy="457200"/>
          </a:xfrm>
          <a:prstGeom prst="rect">
            <a:avLst/>
          </a:prstGeom>
          <a:noFill/>
        </p:spPr>
        <p:txBody>
          <a:bodyPr wrap="square" lIns="0" tIns="0" rIns="0" bIns="0" anchor="ctr">
            <a:spAutoFit/>
          </a:bodyPr>
          <a:lstStyle/>
          <a:p>
            <a:pPr algn="ctr">
              <a:spcBef>
                <a:spcPts val="0"/>
              </a:spcBef>
              <a:spcAft>
                <a:spcPts val="500"/>
              </a:spcAft>
            </a:pPr>
            <a:r>
              <a:rPr sz="1500" b="1" i="0">
                <a:solidFill>
                  <a:srgbClr val="FFFFFF"/>
                </a:solidFill>
                <a:latin typeface="Calibri"/>
              </a:rPr>
              <a:t>1</a:t>
            </a:r>
          </a:p>
        </p:txBody>
      </p:sp>
      <p:sp>
        <p:nvSpPr>
          <p:cNvPr id="8" name="TextBox 7"/>
          <p:cNvSpPr txBox="1"/>
          <p:nvPr/>
        </p:nvSpPr>
        <p:spPr>
          <a:xfrm>
            <a:off x="1463040" y="2249424"/>
            <a:ext cx="3108960" cy="411480"/>
          </a:xfrm>
          <a:prstGeom prst="rect">
            <a:avLst/>
          </a:prstGeom>
          <a:noFill/>
        </p:spPr>
        <p:txBody>
          <a:bodyPr wrap="square" lIns="0" tIns="0" rIns="0" bIns="0" anchor="t">
            <a:spAutoFit/>
          </a:bodyPr>
          <a:lstStyle/>
          <a:p>
            <a:pPr algn="l">
              <a:spcBef>
                <a:spcPts val="0"/>
              </a:spcBef>
              <a:spcAft>
                <a:spcPts val="500"/>
              </a:spcAft>
            </a:pPr>
            <a:r>
              <a:rPr sz="1600" b="1" i="0">
                <a:solidFill>
                  <a:srgbClr val="FFFFFF"/>
                </a:solidFill>
                <a:latin typeface="Calibri"/>
              </a:rPr>
              <a:t>Precipitation</a:t>
            </a:r>
          </a:p>
        </p:txBody>
      </p:sp>
      <p:sp>
        <p:nvSpPr>
          <p:cNvPr id="9" name="TextBox 8"/>
          <p:cNvSpPr txBox="1"/>
          <p:nvPr/>
        </p:nvSpPr>
        <p:spPr>
          <a:xfrm>
            <a:off x="4572000" y="2267712"/>
            <a:ext cx="4297680" cy="411480"/>
          </a:xfrm>
          <a:prstGeom prst="rect">
            <a:avLst/>
          </a:prstGeom>
          <a:noFill/>
        </p:spPr>
        <p:txBody>
          <a:bodyPr wrap="square" lIns="0" tIns="0" rIns="0" bIns="0" anchor="t">
            <a:spAutoFit/>
          </a:bodyPr>
          <a:lstStyle/>
          <a:p>
            <a:pPr algn="l">
              <a:spcBef>
                <a:spcPts val="0"/>
              </a:spcBef>
              <a:spcAft>
                <a:spcPts val="500"/>
              </a:spcAft>
            </a:pPr>
            <a:r>
              <a:rPr sz="1350" b="0" i="0">
                <a:solidFill>
                  <a:srgbClr val="9CC486"/>
                </a:solidFill>
                <a:latin typeface="Calibri"/>
              </a:rPr>
              <a:t>sets the rain (runoff)</a:t>
            </a:r>
          </a:p>
        </p:txBody>
      </p:sp>
      <p:sp>
        <p:nvSpPr>
          <p:cNvPr id="10" name="Rectangle 9"/>
          <p:cNvSpPr/>
          <p:nvPr/>
        </p:nvSpPr>
        <p:spPr>
          <a:xfrm>
            <a:off x="1014984" y="2670048"/>
            <a:ext cx="54864" cy="91440"/>
          </a:xfrm>
          <a:prstGeom prst="rect">
            <a:avLst/>
          </a:prstGeom>
          <a:solidFill>
            <a:srgbClr val="4A6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822960" y="2761488"/>
            <a:ext cx="457200" cy="457200"/>
          </a:xfrm>
          <a:prstGeom prst="ellipse">
            <a:avLst/>
          </a:prstGeom>
          <a:solidFill>
            <a:srgbClr val="6B8E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22960" y="2761488"/>
            <a:ext cx="457200" cy="457200"/>
          </a:xfrm>
          <a:prstGeom prst="rect">
            <a:avLst/>
          </a:prstGeom>
          <a:noFill/>
        </p:spPr>
        <p:txBody>
          <a:bodyPr wrap="square" lIns="0" tIns="0" rIns="0" bIns="0" anchor="ctr">
            <a:spAutoFit/>
          </a:bodyPr>
          <a:lstStyle/>
          <a:p>
            <a:pPr algn="ctr">
              <a:spcBef>
                <a:spcPts val="0"/>
              </a:spcBef>
              <a:spcAft>
                <a:spcPts val="500"/>
              </a:spcAft>
            </a:pPr>
            <a:r>
              <a:rPr sz="1500" b="1" i="0">
                <a:solidFill>
                  <a:srgbClr val="FFFFFF"/>
                </a:solidFill>
                <a:latin typeface="Calibri"/>
              </a:rPr>
              <a:t>2</a:t>
            </a:r>
          </a:p>
        </p:txBody>
      </p:sp>
      <p:sp>
        <p:nvSpPr>
          <p:cNvPr id="13" name="TextBox 12"/>
          <p:cNvSpPr txBox="1"/>
          <p:nvPr/>
        </p:nvSpPr>
        <p:spPr>
          <a:xfrm>
            <a:off x="1463040" y="2798064"/>
            <a:ext cx="3108960" cy="411480"/>
          </a:xfrm>
          <a:prstGeom prst="rect">
            <a:avLst/>
          </a:prstGeom>
          <a:noFill/>
        </p:spPr>
        <p:txBody>
          <a:bodyPr wrap="square" lIns="0" tIns="0" rIns="0" bIns="0" anchor="t">
            <a:spAutoFit/>
          </a:bodyPr>
          <a:lstStyle/>
          <a:p>
            <a:pPr algn="l">
              <a:spcBef>
                <a:spcPts val="0"/>
              </a:spcBef>
              <a:spcAft>
                <a:spcPts val="500"/>
              </a:spcAft>
            </a:pPr>
            <a:r>
              <a:rPr sz="1600" b="1" i="0">
                <a:solidFill>
                  <a:srgbClr val="FFFFFF"/>
                </a:solidFill>
                <a:latin typeface="Calibri"/>
              </a:rPr>
              <a:t>Vegetation</a:t>
            </a:r>
          </a:p>
        </p:txBody>
      </p:sp>
      <p:sp>
        <p:nvSpPr>
          <p:cNvPr id="14" name="TextBox 13"/>
          <p:cNvSpPr txBox="1"/>
          <p:nvPr/>
        </p:nvSpPr>
        <p:spPr>
          <a:xfrm>
            <a:off x="4572000" y="2816352"/>
            <a:ext cx="4297680" cy="411480"/>
          </a:xfrm>
          <a:prstGeom prst="rect">
            <a:avLst/>
          </a:prstGeom>
          <a:noFill/>
        </p:spPr>
        <p:txBody>
          <a:bodyPr wrap="square" lIns="0" tIns="0" rIns="0" bIns="0" anchor="t">
            <a:spAutoFit/>
          </a:bodyPr>
          <a:lstStyle/>
          <a:p>
            <a:pPr algn="l">
              <a:spcBef>
                <a:spcPts val="0"/>
              </a:spcBef>
              <a:spcAft>
                <a:spcPts val="500"/>
              </a:spcAft>
            </a:pPr>
            <a:r>
              <a:rPr sz="1350" b="0" i="0">
                <a:solidFill>
                  <a:srgbClr val="9CC486"/>
                </a:solidFill>
                <a:latin typeface="Calibri"/>
              </a:rPr>
              <a:t>adjusts runoff &amp; softness</a:t>
            </a:r>
          </a:p>
        </p:txBody>
      </p:sp>
      <p:sp>
        <p:nvSpPr>
          <p:cNvPr id="15" name="Rectangle 14"/>
          <p:cNvSpPr/>
          <p:nvPr/>
        </p:nvSpPr>
        <p:spPr>
          <a:xfrm>
            <a:off x="1014984" y="3218688"/>
            <a:ext cx="54864" cy="91440"/>
          </a:xfrm>
          <a:prstGeom prst="rect">
            <a:avLst/>
          </a:prstGeom>
          <a:solidFill>
            <a:srgbClr val="4A6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822960" y="3310128"/>
            <a:ext cx="457200" cy="457200"/>
          </a:xfrm>
          <a:prstGeom prst="ellipse">
            <a:avLst/>
          </a:prstGeom>
          <a:solidFill>
            <a:srgbClr val="3E6B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2960" y="3310128"/>
            <a:ext cx="457200" cy="457200"/>
          </a:xfrm>
          <a:prstGeom prst="rect">
            <a:avLst/>
          </a:prstGeom>
          <a:noFill/>
        </p:spPr>
        <p:txBody>
          <a:bodyPr wrap="square" lIns="0" tIns="0" rIns="0" bIns="0" anchor="ctr">
            <a:spAutoFit/>
          </a:bodyPr>
          <a:lstStyle/>
          <a:p>
            <a:pPr algn="ctr">
              <a:spcBef>
                <a:spcPts val="0"/>
              </a:spcBef>
              <a:spcAft>
                <a:spcPts val="500"/>
              </a:spcAft>
            </a:pPr>
            <a:r>
              <a:rPr sz="1500" b="1" i="0">
                <a:solidFill>
                  <a:srgbClr val="FFFFFF"/>
                </a:solidFill>
                <a:latin typeface="Calibri"/>
              </a:rPr>
              <a:t>3</a:t>
            </a:r>
          </a:p>
        </p:txBody>
      </p:sp>
      <p:sp>
        <p:nvSpPr>
          <p:cNvPr id="18" name="TextBox 17"/>
          <p:cNvSpPr txBox="1"/>
          <p:nvPr/>
        </p:nvSpPr>
        <p:spPr>
          <a:xfrm>
            <a:off x="1463040" y="3346704"/>
            <a:ext cx="3108960" cy="411480"/>
          </a:xfrm>
          <a:prstGeom prst="rect">
            <a:avLst/>
          </a:prstGeom>
          <a:noFill/>
        </p:spPr>
        <p:txBody>
          <a:bodyPr wrap="square" lIns="0" tIns="0" rIns="0" bIns="0" anchor="t">
            <a:spAutoFit/>
          </a:bodyPr>
          <a:lstStyle/>
          <a:p>
            <a:pPr algn="l">
              <a:spcBef>
                <a:spcPts val="0"/>
              </a:spcBef>
              <a:spcAft>
                <a:spcPts val="500"/>
              </a:spcAft>
            </a:pPr>
            <a:r>
              <a:rPr sz="1600" b="1" i="0">
                <a:solidFill>
                  <a:srgbClr val="FFFFFF"/>
                </a:solidFill>
                <a:latin typeface="Calibri"/>
              </a:rPr>
              <a:t>Flow Accumulator</a:t>
            </a:r>
          </a:p>
        </p:txBody>
      </p:sp>
      <p:sp>
        <p:nvSpPr>
          <p:cNvPr id="19" name="TextBox 18"/>
          <p:cNvSpPr txBox="1"/>
          <p:nvPr/>
        </p:nvSpPr>
        <p:spPr>
          <a:xfrm>
            <a:off x="4572000" y="3364992"/>
            <a:ext cx="4297680" cy="411480"/>
          </a:xfrm>
          <a:prstGeom prst="rect">
            <a:avLst/>
          </a:prstGeom>
          <a:noFill/>
        </p:spPr>
        <p:txBody>
          <a:bodyPr wrap="square" lIns="0" tIns="0" rIns="0" bIns="0" anchor="t">
            <a:spAutoFit/>
          </a:bodyPr>
          <a:lstStyle/>
          <a:p>
            <a:pPr algn="l">
              <a:spcBef>
                <a:spcPts val="0"/>
              </a:spcBef>
              <a:spcAft>
                <a:spcPts val="500"/>
              </a:spcAft>
            </a:pPr>
            <a:r>
              <a:rPr sz="1350" b="0" i="0">
                <a:solidFill>
                  <a:srgbClr val="9CC486"/>
                </a:solidFill>
                <a:latin typeface="Calibri"/>
              </a:rPr>
              <a:t>routes water, finds rivers</a:t>
            </a:r>
          </a:p>
        </p:txBody>
      </p:sp>
      <p:sp>
        <p:nvSpPr>
          <p:cNvPr id="20" name="Rectangle 19"/>
          <p:cNvSpPr/>
          <p:nvPr/>
        </p:nvSpPr>
        <p:spPr>
          <a:xfrm>
            <a:off x="1014984" y="3767328"/>
            <a:ext cx="54864" cy="91440"/>
          </a:xfrm>
          <a:prstGeom prst="rect">
            <a:avLst/>
          </a:prstGeom>
          <a:solidFill>
            <a:srgbClr val="4A6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822960" y="3858768"/>
            <a:ext cx="457200" cy="457200"/>
          </a:xfrm>
          <a:prstGeom prst="ellipse">
            <a:avLst/>
          </a:prstGeom>
          <a:solidFill>
            <a:srgbClr val="6B8E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22960" y="3858768"/>
            <a:ext cx="457200" cy="457200"/>
          </a:xfrm>
          <a:prstGeom prst="rect">
            <a:avLst/>
          </a:prstGeom>
          <a:noFill/>
        </p:spPr>
        <p:txBody>
          <a:bodyPr wrap="square" lIns="0" tIns="0" rIns="0" bIns="0" anchor="ctr">
            <a:spAutoFit/>
          </a:bodyPr>
          <a:lstStyle/>
          <a:p>
            <a:pPr algn="ctr">
              <a:spcBef>
                <a:spcPts val="0"/>
              </a:spcBef>
              <a:spcAft>
                <a:spcPts val="500"/>
              </a:spcAft>
            </a:pPr>
            <a:r>
              <a:rPr sz="1500" b="1" i="0">
                <a:solidFill>
                  <a:srgbClr val="FFFFFF"/>
                </a:solidFill>
                <a:latin typeface="Calibri"/>
              </a:rPr>
              <a:t>4</a:t>
            </a:r>
          </a:p>
        </p:txBody>
      </p:sp>
      <p:sp>
        <p:nvSpPr>
          <p:cNvPr id="23" name="TextBox 22"/>
          <p:cNvSpPr txBox="1"/>
          <p:nvPr/>
        </p:nvSpPr>
        <p:spPr>
          <a:xfrm>
            <a:off x="1463040" y="3895344"/>
            <a:ext cx="3108960" cy="411480"/>
          </a:xfrm>
          <a:prstGeom prst="rect">
            <a:avLst/>
          </a:prstGeom>
          <a:noFill/>
        </p:spPr>
        <p:txBody>
          <a:bodyPr wrap="square" lIns="0" tIns="0" rIns="0" bIns="0" anchor="t">
            <a:spAutoFit/>
          </a:bodyPr>
          <a:lstStyle/>
          <a:p>
            <a:pPr algn="l">
              <a:spcBef>
                <a:spcPts val="0"/>
              </a:spcBef>
              <a:spcAft>
                <a:spcPts val="500"/>
              </a:spcAft>
            </a:pPr>
            <a:r>
              <a:rPr sz="1600" b="1" i="0">
                <a:solidFill>
                  <a:srgbClr val="FFFFFF"/>
                </a:solidFill>
                <a:latin typeface="Calibri"/>
              </a:rPr>
              <a:t>Diffuser</a:t>
            </a:r>
          </a:p>
        </p:txBody>
      </p:sp>
      <p:sp>
        <p:nvSpPr>
          <p:cNvPr id="24" name="TextBox 23"/>
          <p:cNvSpPr txBox="1"/>
          <p:nvPr/>
        </p:nvSpPr>
        <p:spPr>
          <a:xfrm>
            <a:off x="4572000" y="3913631"/>
            <a:ext cx="4297680" cy="411480"/>
          </a:xfrm>
          <a:prstGeom prst="rect">
            <a:avLst/>
          </a:prstGeom>
          <a:noFill/>
        </p:spPr>
        <p:txBody>
          <a:bodyPr wrap="square" lIns="0" tIns="0" rIns="0" bIns="0" anchor="t">
            <a:spAutoFit/>
          </a:bodyPr>
          <a:lstStyle/>
          <a:p>
            <a:pPr algn="l">
              <a:spcBef>
                <a:spcPts val="0"/>
              </a:spcBef>
              <a:spcAft>
                <a:spcPts val="500"/>
              </a:spcAft>
            </a:pPr>
            <a:r>
              <a:rPr sz="1350" b="0" i="0">
                <a:solidFill>
                  <a:srgbClr val="9CC486"/>
                </a:solidFill>
                <a:latin typeface="Calibri"/>
              </a:rPr>
              <a:t>soil creeps down slopes</a:t>
            </a:r>
          </a:p>
        </p:txBody>
      </p:sp>
      <p:sp>
        <p:nvSpPr>
          <p:cNvPr id="25" name="Rectangle 24"/>
          <p:cNvSpPr/>
          <p:nvPr/>
        </p:nvSpPr>
        <p:spPr>
          <a:xfrm>
            <a:off x="1014984" y="4315968"/>
            <a:ext cx="54864" cy="91440"/>
          </a:xfrm>
          <a:prstGeom prst="rect">
            <a:avLst/>
          </a:prstGeom>
          <a:solidFill>
            <a:srgbClr val="4A6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822960" y="4407408"/>
            <a:ext cx="457200" cy="457200"/>
          </a:xfrm>
          <a:prstGeom prst="ellipse">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22960" y="4407408"/>
            <a:ext cx="457200" cy="457200"/>
          </a:xfrm>
          <a:prstGeom prst="rect">
            <a:avLst/>
          </a:prstGeom>
          <a:noFill/>
        </p:spPr>
        <p:txBody>
          <a:bodyPr wrap="square" lIns="0" tIns="0" rIns="0" bIns="0" anchor="ctr">
            <a:spAutoFit/>
          </a:bodyPr>
          <a:lstStyle/>
          <a:p>
            <a:pPr algn="ctr">
              <a:spcBef>
                <a:spcPts val="0"/>
              </a:spcBef>
              <a:spcAft>
                <a:spcPts val="500"/>
              </a:spcAft>
            </a:pPr>
            <a:r>
              <a:rPr sz="1500" b="1" i="0">
                <a:solidFill>
                  <a:srgbClr val="FFFFFF"/>
                </a:solidFill>
                <a:latin typeface="Calibri"/>
              </a:rPr>
              <a:t>5</a:t>
            </a:r>
          </a:p>
        </p:txBody>
      </p:sp>
      <p:sp>
        <p:nvSpPr>
          <p:cNvPr id="28" name="TextBox 27"/>
          <p:cNvSpPr txBox="1"/>
          <p:nvPr/>
        </p:nvSpPr>
        <p:spPr>
          <a:xfrm>
            <a:off x="1463040" y="4443984"/>
            <a:ext cx="3108960" cy="411480"/>
          </a:xfrm>
          <a:prstGeom prst="rect">
            <a:avLst/>
          </a:prstGeom>
          <a:noFill/>
        </p:spPr>
        <p:txBody>
          <a:bodyPr wrap="square" lIns="0" tIns="0" rIns="0" bIns="0" anchor="t">
            <a:spAutoFit/>
          </a:bodyPr>
          <a:lstStyle/>
          <a:p>
            <a:pPr algn="l">
              <a:spcBef>
                <a:spcPts val="0"/>
              </a:spcBef>
              <a:spcAft>
                <a:spcPts val="500"/>
              </a:spcAft>
            </a:pPr>
            <a:r>
              <a:rPr sz="1600" b="1" i="0">
                <a:solidFill>
                  <a:srgbClr val="FFFFFF"/>
                </a:solidFill>
                <a:latin typeface="Calibri"/>
              </a:rPr>
              <a:t>SPACE</a:t>
            </a:r>
          </a:p>
        </p:txBody>
      </p:sp>
      <p:sp>
        <p:nvSpPr>
          <p:cNvPr id="29" name="TextBox 28"/>
          <p:cNvSpPr txBox="1"/>
          <p:nvPr/>
        </p:nvSpPr>
        <p:spPr>
          <a:xfrm>
            <a:off x="4572000" y="4462272"/>
            <a:ext cx="4297680" cy="411480"/>
          </a:xfrm>
          <a:prstGeom prst="rect">
            <a:avLst/>
          </a:prstGeom>
          <a:noFill/>
        </p:spPr>
        <p:txBody>
          <a:bodyPr wrap="square" lIns="0" tIns="0" rIns="0" bIns="0" anchor="t">
            <a:spAutoFit/>
          </a:bodyPr>
          <a:lstStyle/>
          <a:p>
            <a:pPr algn="l">
              <a:spcBef>
                <a:spcPts val="0"/>
              </a:spcBef>
              <a:spcAft>
                <a:spcPts val="500"/>
              </a:spcAft>
            </a:pPr>
            <a:r>
              <a:rPr sz="1350" b="0" i="0">
                <a:solidFill>
                  <a:srgbClr val="9CC486"/>
                </a:solidFill>
                <a:latin typeface="Calibri"/>
              </a:rPr>
              <a:t>rivers erode &amp; deposit</a:t>
            </a:r>
          </a:p>
        </p:txBody>
      </p:sp>
      <p:sp>
        <p:nvSpPr>
          <p:cNvPr id="30" name="Rectangle 29"/>
          <p:cNvSpPr/>
          <p:nvPr/>
        </p:nvSpPr>
        <p:spPr>
          <a:xfrm>
            <a:off x="1014984" y="4864608"/>
            <a:ext cx="54864" cy="91440"/>
          </a:xfrm>
          <a:prstGeom prst="rect">
            <a:avLst/>
          </a:prstGeom>
          <a:solidFill>
            <a:srgbClr val="4A6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822960" y="4956048"/>
            <a:ext cx="457200" cy="457200"/>
          </a:xfrm>
          <a:prstGeom prst="ellipse">
            <a:avLst/>
          </a:prstGeom>
          <a:solidFill>
            <a:srgbClr val="8A6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22960" y="4956048"/>
            <a:ext cx="457200" cy="457200"/>
          </a:xfrm>
          <a:prstGeom prst="rect">
            <a:avLst/>
          </a:prstGeom>
          <a:noFill/>
        </p:spPr>
        <p:txBody>
          <a:bodyPr wrap="square" lIns="0" tIns="0" rIns="0" bIns="0" anchor="ctr">
            <a:spAutoFit/>
          </a:bodyPr>
          <a:lstStyle/>
          <a:p>
            <a:pPr algn="ctr">
              <a:spcBef>
                <a:spcPts val="0"/>
              </a:spcBef>
              <a:spcAft>
                <a:spcPts val="500"/>
              </a:spcAft>
            </a:pPr>
            <a:r>
              <a:rPr sz="1500" b="1" i="0">
                <a:solidFill>
                  <a:srgbClr val="FFFFFF"/>
                </a:solidFill>
                <a:latin typeface="Calibri"/>
              </a:rPr>
              <a:t>6</a:t>
            </a:r>
          </a:p>
        </p:txBody>
      </p:sp>
      <p:sp>
        <p:nvSpPr>
          <p:cNvPr id="33" name="TextBox 32"/>
          <p:cNvSpPr txBox="1"/>
          <p:nvPr/>
        </p:nvSpPr>
        <p:spPr>
          <a:xfrm>
            <a:off x="1463040" y="4992624"/>
            <a:ext cx="3108960" cy="411480"/>
          </a:xfrm>
          <a:prstGeom prst="rect">
            <a:avLst/>
          </a:prstGeom>
          <a:noFill/>
        </p:spPr>
        <p:txBody>
          <a:bodyPr wrap="square" lIns="0" tIns="0" rIns="0" bIns="0" anchor="t">
            <a:spAutoFit/>
          </a:bodyPr>
          <a:lstStyle/>
          <a:p>
            <a:pPr algn="l">
              <a:spcBef>
                <a:spcPts val="0"/>
              </a:spcBef>
              <a:spcAft>
                <a:spcPts val="500"/>
              </a:spcAft>
            </a:pPr>
            <a:r>
              <a:rPr sz="1600" b="1" i="0">
                <a:solidFill>
                  <a:srgbClr val="FFFFFF"/>
                </a:solidFill>
                <a:latin typeface="Calibri"/>
              </a:rPr>
              <a:t>LithoLayers</a:t>
            </a:r>
          </a:p>
        </p:txBody>
      </p:sp>
      <p:sp>
        <p:nvSpPr>
          <p:cNvPr id="34" name="TextBox 33"/>
          <p:cNvSpPr txBox="1"/>
          <p:nvPr/>
        </p:nvSpPr>
        <p:spPr>
          <a:xfrm>
            <a:off x="4572000" y="5010912"/>
            <a:ext cx="4297680" cy="411480"/>
          </a:xfrm>
          <a:prstGeom prst="rect">
            <a:avLst/>
          </a:prstGeom>
          <a:noFill/>
        </p:spPr>
        <p:txBody>
          <a:bodyPr wrap="square" lIns="0" tIns="0" rIns="0" bIns="0" anchor="t">
            <a:spAutoFit/>
          </a:bodyPr>
          <a:lstStyle/>
          <a:p>
            <a:pPr algn="l">
              <a:spcBef>
                <a:spcPts val="0"/>
              </a:spcBef>
              <a:spcAft>
                <a:spcPts val="500"/>
              </a:spcAft>
            </a:pPr>
            <a:r>
              <a:rPr sz="1350" b="0" i="0">
                <a:solidFill>
                  <a:srgbClr val="9CC486"/>
                </a:solidFill>
                <a:latin typeface="Calibri"/>
              </a:rPr>
              <a:t>exposes the next rock layer</a:t>
            </a:r>
          </a:p>
        </p:txBody>
      </p:sp>
      <p:sp>
        <p:nvSpPr>
          <p:cNvPr id="35" name="Rectangle 34"/>
          <p:cNvSpPr/>
          <p:nvPr/>
        </p:nvSpPr>
        <p:spPr>
          <a:xfrm>
            <a:off x="1014984" y="5413248"/>
            <a:ext cx="54864" cy="91440"/>
          </a:xfrm>
          <a:prstGeom prst="rect">
            <a:avLst/>
          </a:prstGeom>
          <a:solidFill>
            <a:srgbClr val="4A6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822960" y="5504688"/>
            <a:ext cx="457200" cy="457200"/>
          </a:xfrm>
          <a:prstGeom prst="ellipse">
            <a:avLst/>
          </a:prstGeom>
          <a:solidFill>
            <a:srgbClr val="D984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822960" y="5504688"/>
            <a:ext cx="457200" cy="457200"/>
          </a:xfrm>
          <a:prstGeom prst="rect">
            <a:avLst/>
          </a:prstGeom>
          <a:noFill/>
        </p:spPr>
        <p:txBody>
          <a:bodyPr wrap="square" lIns="0" tIns="0" rIns="0" bIns="0" anchor="ctr">
            <a:spAutoFit/>
          </a:bodyPr>
          <a:lstStyle/>
          <a:p>
            <a:pPr algn="ctr">
              <a:spcBef>
                <a:spcPts val="0"/>
              </a:spcBef>
              <a:spcAft>
                <a:spcPts val="500"/>
              </a:spcAft>
            </a:pPr>
            <a:r>
              <a:rPr sz="1500" b="1" i="0">
                <a:solidFill>
                  <a:srgbClr val="FFFFFF"/>
                </a:solidFill>
                <a:latin typeface="Calibri"/>
              </a:rPr>
              <a:t>7</a:t>
            </a:r>
          </a:p>
        </p:txBody>
      </p:sp>
      <p:sp>
        <p:nvSpPr>
          <p:cNvPr id="38" name="TextBox 37"/>
          <p:cNvSpPr txBox="1"/>
          <p:nvPr/>
        </p:nvSpPr>
        <p:spPr>
          <a:xfrm>
            <a:off x="1463040" y="5541264"/>
            <a:ext cx="3108960" cy="411480"/>
          </a:xfrm>
          <a:prstGeom prst="rect">
            <a:avLst/>
          </a:prstGeom>
          <a:noFill/>
        </p:spPr>
        <p:txBody>
          <a:bodyPr wrap="square" lIns="0" tIns="0" rIns="0" bIns="0" anchor="t">
            <a:spAutoFit/>
          </a:bodyPr>
          <a:lstStyle/>
          <a:p>
            <a:pPr algn="l">
              <a:spcBef>
                <a:spcPts val="0"/>
              </a:spcBef>
              <a:spcAft>
                <a:spcPts val="500"/>
              </a:spcAft>
            </a:pPr>
            <a:r>
              <a:rPr sz="1600" b="1" i="0">
                <a:solidFill>
                  <a:srgbClr val="FFFFFF"/>
                </a:solidFill>
                <a:latin typeface="Calibri"/>
              </a:rPr>
              <a:t>Tectonics</a:t>
            </a:r>
          </a:p>
        </p:txBody>
      </p:sp>
      <p:sp>
        <p:nvSpPr>
          <p:cNvPr id="39" name="TextBox 38"/>
          <p:cNvSpPr txBox="1"/>
          <p:nvPr/>
        </p:nvSpPr>
        <p:spPr>
          <a:xfrm>
            <a:off x="4572000" y="5559551"/>
            <a:ext cx="4297680" cy="411480"/>
          </a:xfrm>
          <a:prstGeom prst="rect">
            <a:avLst/>
          </a:prstGeom>
          <a:noFill/>
        </p:spPr>
        <p:txBody>
          <a:bodyPr wrap="square" lIns="0" tIns="0" rIns="0" bIns="0" anchor="t">
            <a:spAutoFit/>
          </a:bodyPr>
          <a:lstStyle/>
          <a:p>
            <a:pPr algn="l">
              <a:spcBef>
                <a:spcPts val="0"/>
              </a:spcBef>
              <a:spcAft>
                <a:spcPts val="500"/>
              </a:spcAft>
            </a:pPr>
            <a:r>
              <a:rPr sz="1350" b="0" i="0">
                <a:solidFill>
                  <a:srgbClr val="9CC486"/>
                </a:solidFill>
                <a:latin typeface="Calibri"/>
              </a:rPr>
              <a:t>raises the land</a:t>
            </a:r>
          </a:p>
        </p:txBody>
      </p:sp>
      <p:sp>
        <p:nvSpPr>
          <p:cNvPr id="40" name="Rounded Rectangle 39"/>
          <p:cNvSpPr/>
          <p:nvPr/>
        </p:nvSpPr>
        <p:spPr>
          <a:xfrm>
            <a:off x="9052560" y="2212848"/>
            <a:ext cx="2496312" cy="3703320"/>
          </a:xfrm>
          <a:prstGeom prst="roundRect">
            <a:avLst>
              <a:gd name="adj" fmla="val 8000"/>
            </a:avLst>
          </a:prstGeom>
          <a:solidFill>
            <a:srgbClr val="2036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9281160" y="2414016"/>
            <a:ext cx="2057400" cy="457200"/>
          </a:xfrm>
          <a:prstGeom prst="rect">
            <a:avLst/>
          </a:prstGeom>
          <a:noFill/>
        </p:spPr>
        <p:txBody>
          <a:bodyPr wrap="square" lIns="0" tIns="0" rIns="0" bIns="0" anchor="t">
            <a:spAutoFit/>
          </a:bodyPr>
          <a:lstStyle/>
          <a:p>
            <a:pPr algn="l">
              <a:spcBef>
                <a:spcPts val="0"/>
              </a:spcBef>
              <a:spcAft>
                <a:spcPts val="500"/>
              </a:spcAft>
            </a:pPr>
            <a:r>
              <a:rPr sz="1250" b="1" i="0">
                <a:solidFill>
                  <a:srgbClr val="D9846B"/>
                </a:solidFill>
                <a:latin typeface="Calibri"/>
              </a:rPr>
              <a:t>WHY THIS ORDER?</a:t>
            </a:r>
          </a:p>
        </p:txBody>
      </p:sp>
      <p:sp>
        <p:nvSpPr>
          <p:cNvPr id="42" name="TextBox 41"/>
          <p:cNvSpPr txBox="1"/>
          <p:nvPr/>
        </p:nvSpPr>
        <p:spPr>
          <a:xfrm>
            <a:off x="9281160" y="2852928"/>
            <a:ext cx="2057400" cy="2926080"/>
          </a:xfrm>
          <a:prstGeom prst="rect">
            <a:avLst/>
          </a:prstGeom>
          <a:noFill/>
        </p:spPr>
        <p:txBody>
          <a:bodyPr wrap="square" lIns="0" tIns="0" rIns="0" bIns="0" anchor="t">
            <a:spAutoFit/>
          </a:bodyPr>
          <a:lstStyle/>
          <a:p>
            <a:pPr algn="l">
              <a:spcBef>
                <a:spcPts val="0"/>
              </a:spcBef>
              <a:spcAft>
                <a:spcPts val="200"/>
              </a:spcAft>
            </a:pPr>
            <a:r>
              <a:rPr sz="1250" b="0" i="0">
                <a:solidFill>
                  <a:srgbClr val="E7E3D7"/>
                </a:solidFill>
                <a:latin typeface="Calibri"/>
              </a:rPr>
              <a:t>Rain is set before the water is routed.</a:t>
            </a:r>
          </a:p>
          <a:p>
            <a:pPr algn="l">
              <a:spcBef>
                <a:spcPts val="0"/>
              </a:spcBef>
              <a:spcAft>
                <a:spcPts val="200"/>
              </a:spcAft>
            </a:pPr>
            <a:endParaRPr sz="1250" b="0" i="0">
              <a:solidFill>
                <a:srgbClr val="E7E3D7"/>
              </a:solidFill>
              <a:latin typeface="Calibri"/>
            </a:endParaRPr>
          </a:p>
          <a:p>
            <a:pPr algn="l">
              <a:spcBef>
                <a:spcPts val="0"/>
              </a:spcBef>
              <a:spcAft>
                <a:spcPts val="200"/>
              </a:spcAft>
            </a:pPr>
            <a:r>
              <a:rPr sz="1250" b="0" i="0">
                <a:solidFill>
                  <a:srgbClr val="E7E3D7"/>
                </a:solidFill>
                <a:latin typeface="Calibri"/>
              </a:rPr>
              <a:t>Plants adjust the softness K before SPACE erodes.</a:t>
            </a:r>
          </a:p>
          <a:p>
            <a:pPr algn="l">
              <a:spcBef>
                <a:spcPts val="0"/>
              </a:spcBef>
              <a:spcAft>
                <a:spcPts val="200"/>
              </a:spcAft>
            </a:pPr>
            <a:endParaRPr sz="1250" b="0" i="0">
              <a:solidFill>
                <a:srgbClr val="E7E3D7"/>
              </a:solidFill>
              <a:latin typeface="Calibri"/>
            </a:endParaRPr>
          </a:p>
          <a:p>
            <a:pPr algn="l">
              <a:spcBef>
                <a:spcPts val="0"/>
              </a:spcBef>
              <a:spcAft>
                <a:spcPts val="200"/>
              </a:spcAft>
            </a:pPr>
            <a:r>
              <a:rPr sz="1250" b="0" i="0">
                <a:solidFill>
                  <a:srgbClr val="E7E3D7"/>
                </a:solidFill>
                <a:latin typeface="Calibri"/>
              </a:rPr>
              <a:t>Rock layers refresh after erosion, so the next step sees newly bared rock.</a:t>
            </a:r>
          </a:p>
          <a:p>
            <a:pPr algn="l">
              <a:spcBef>
                <a:spcPts val="0"/>
              </a:spcBef>
              <a:spcAft>
                <a:spcPts val="200"/>
              </a:spcAft>
            </a:pPr>
            <a:endParaRPr sz="1250" b="0" i="0">
              <a:solidFill>
                <a:srgbClr val="E7E3D7"/>
              </a:solidFill>
              <a:latin typeface="Calibri"/>
            </a:endParaRPr>
          </a:p>
          <a:p>
            <a:pPr algn="l">
              <a:spcBef>
                <a:spcPts val="0"/>
              </a:spcBef>
              <a:spcAft>
                <a:spcPts val="200"/>
              </a:spcAft>
            </a:pPr>
            <a:r>
              <a:rPr sz="1250" b="0" i="0">
                <a:solidFill>
                  <a:srgbClr val="E7E3D7"/>
                </a:solidFill>
                <a:latin typeface="Calibri"/>
              </a:rPr>
              <a:t>Uplift comes last: erode first, then raise.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2E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8229600" cy="365760"/>
          </a:xfrm>
          <a:prstGeom prst="rect">
            <a:avLst/>
          </a:prstGeom>
          <a:noFill/>
        </p:spPr>
        <p:txBody>
          <a:bodyPr wrap="square" lIns="0" tIns="0" rIns="0" bIns="0" anchor="t">
            <a:spAutoFit/>
          </a:bodyPr>
          <a:lstStyle/>
          <a:p>
            <a:pPr algn="l">
              <a:spcBef>
                <a:spcPts val="0"/>
              </a:spcBef>
              <a:spcAft>
                <a:spcPts val="500"/>
              </a:spcAft>
            </a:pPr>
            <a:r>
              <a:rPr sz="1250" b="1" i="0">
                <a:solidFill>
                  <a:srgbClr val="B85042"/>
                </a:solidFill>
                <a:latin typeface="Calibri"/>
              </a:rPr>
              <a:t>REFERENCE</a:t>
            </a:r>
          </a:p>
        </p:txBody>
      </p:sp>
      <p:sp>
        <p:nvSpPr>
          <p:cNvPr id="4" name="TextBox 3"/>
          <p:cNvSpPr txBox="1"/>
          <p:nvPr/>
        </p:nvSpPr>
        <p:spPr>
          <a:xfrm>
            <a:off x="640080" y="676656"/>
            <a:ext cx="10515600" cy="777240"/>
          </a:xfrm>
          <a:prstGeom prst="rect">
            <a:avLst/>
          </a:prstGeom>
          <a:noFill/>
        </p:spPr>
        <p:txBody>
          <a:bodyPr wrap="square" lIns="0" tIns="0" rIns="0" bIns="0" anchor="t">
            <a:spAutoFit/>
          </a:bodyPr>
          <a:lstStyle/>
          <a:p>
            <a:pPr algn="l">
              <a:spcBef>
                <a:spcPts val="0"/>
              </a:spcBef>
              <a:spcAft>
                <a:spcPts val="500"/>
              </a:spcAft>
            </a:pPr>
            <a:r>
              <a:rPr sz="3000" b="1" i="0">
                <a:solidFill>
                  <a:srgbClr val="2C4A3E"/>
                </a:solidFill>
                <a:latin typeface="Calibri"/>
              </a:rPr>
              <a:t>Standard Values from the Literature</a:t>
            </a:r>
          </a:p>
        </p:txBody>
      </p:sp>
      <p:sp>
        <p:nvSpPr>
          <p:cNvPr id="5" name="TextBox 4"/>
          <p:cNvSpPr txBox="1"/>
          <p:nvPr/>
        </p:nvSpPr>
        <p:spPr>
          <a:xfrm>
            <a:off x="640080" y="1444752"/>
            <a:ext cx="10881360" cy="640080"/>
          </a:xfrm>
          <a:prstGeom prst="rect">
            <a:avLst/>
          </a:prstGeom>
          <a:noFill/>
        </p:spPr>
        <p:txBody>
          <a:bodyPr wrap="square" lIns="0" tIns="0" rIns="0" bIns="0" anchor="t">
            <a:spAutoFit/>
          </a:bodyPr>
          <a:lstStyle/>
          <a:p>
            <a:pPr algn="l">
              <a:spcBef>
                <a:spcPts val="0"/>
              </a:spcBef>
              <a:spcAft>
                <a:spcPts val="500"/>
              </a:spcAft>
            </a:pPr>
            <a:r>
              <a:rPr sz="1300" b="0" i="0">
                <a:solidFill>
                  <a:srgbClr val="6E6A60"/>
                </a:solidFill>
                <a:latin typeface="Calibri"/>
              </a:rPr>
              <a:t>These parameters are usually left at conventional default values rather than estimated per site. (The site-specific ones — K, v_s, diffusivity, uplift, soil depth — depend on your rock &amp; climate and aren't tabulated here.)</a:t>
            </a:r>
          </a:p>
        </p:txBody>
      </p:sp>
      <p:sp>
        <p:nvSpPr>
          <p:cNvPr id="6" name="Rectangle 5"/>
          <p:cNvSpPr/>
          <p:nvPr/>
        </p:nvSpPr>
        <p:spPr>
          <a:xfrm>
            <a:off x="640080" y="2194560"/>
            <a:ext cx="4114800" cy="457200"/>
          </a:xfrm>
          <a:prstGeom prst="rect">
            <a:avLst/>
          </a:prstGeom>
          <a:solidFill>
            <a:srgbClr val="2C4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2194560"/>
            <a:ext cx="3886200" cy="457200"/>
          </a:xfrm>
          <a:prstGeom prst="rect">
            <a:avLst/>
          </a:prstGeom>
          <a:noFill/>
        </p:spPr>
        <p:txBody>
          <a:bodyPr wrap="square" lIns="0" tIns="0" rIns="0" bIns="0" anchor="ctr">
            <a:spAutoFit/>
          </a:bodyPr>
          <a:lstStyle/>
          <a:p>
            <a:pPr algn="l">
              <a:spcBef>
                <a:spcPts val="0"/>
              </a:spcBef>
              <a:spcAft>
                <a:spcPts val="500"/>
              </a:spcAft>
            </a:pPr>
            <a:r>
              <a:rPr sz="1200" b="1" i="0">
                <a:solidFill>
                  <a:srgbClr val="FFFFFF"/>
                </a:solidFill>
                <a:latin typeface="Calibri"/>
              </a:rPr>
              <a:t>Parameter</a:t>
            </a:r>
          </a:p>
        </p:txBody>
      </p:sp>
      <p:sp>
        <p:nvSpPr>
          <p:cNvPr id="8" name="Rectangle 7"/>
          <p:cNvSpPr/>
          <p:nvPr/>
        </p:nvSpPr>
        <p:spPr>
          <a:xfrm>
            <a:off x="4754880" y="2194560"/>
            <a:ext cx="1325880" cy="457200"/>
          </a:xfrm>
          <a:prstGeom prst="rect">
            <a:avLst/>
          </a:prstGeom>
          <a:solidFill>
            <a:srgbClr val="2C4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892040" y="2194560"/>
            <a:ext cx="1097280" cy="457200"/>
          </a:xfrm>
          <a:prstGeom prst="rect">
            <a:avLst/>
          </a:prstGeom>
          <a:noFill/>
        </p:spPr>
        <p:txBody>
          <a:bodyPr wrap="square" lIns="0" tIns="0" rIns="0" bIns="0" anchor="ctr">
            <a:spAutoFit/>
          </a:bodyPr>
          <a:lstStyle/>
          <a:p>
            <a:pPr algn="l">
              <a:spcBef>
                <a:spcPts val="0"/>
              </a:spcBef>
              <a:spcAft>
                <a:spcPts val="500"/>
              </a:spcAft>
            </a:pPr>
            <a:r>
              <a:rPr sz="1200" b="1" i="0">
                <a:solidFill>
                  <a:srgbClr val="FFFFFF"/>
                </a:solidFill>
                <a:latin typeface="Calibri"/>
              </a:rPr>
              <a:t>Symbol</a:t>
            </a:r>
          </a:p>
        </p:txBody>
      </p:sp>
      <p:sp>
        <p:nvSpPr>
          <p:cNvPr id="10" name="Rectangle 9"/>
          <p:cNvSpPr/>
          <p:nvPr/>
        </p:nvSpPr>
        <p:spPr>
          <a:xfrm>
            <a:off x="6080760" y="2194560"/>
            <a:ext cx="2331720" cy="457200"/>
          </a:xfrm>
          <a:prstGeom prst="rect">
            <a:avLst/>
          </a:prstGeom>
          <a:solidFill>
            <a:srgbClr val="2C4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217920" y="2194560"/>
            <a:ext cx="2103120" cy="457200"/>
          </a:xfrm>
          <a:prstGeom prst="rect">
            <a:avLst/>
          </a:prstGeom>
          <a:noFill/>
        </p:spPr>
        <p:txBody>
          <a:bodyPr wrap="square" lIns="0" tIns="0" rIns="0" bIns="0" anchor="ctr">
            <a:spAutoFit/>
          </a:bodyPr>
          <a:lstStyle/>
          <a:p>
            <a:pPr algn="l">
              <a:spcBef>
                <a:spcPts val="0"/>
              </a:spcBef>
              <a:spcAft>
                <a:spcPts val="500"/>
              </a:spcAft>
            </a:pPr>
            <a:r>
              <a:rPr sz="1200" b="1" i="0">
                <a:solidFill>
                  <a:srgbClr val="FFFFFF"/>
                </a:solidFill>
                <a:latin typeface="Calibri"/>
              </a:rPr>
              <a:t>Standard value</a:t>
            </a:r>
          </a:p>
        </p:txBody>
      </p:sp>
      <p:sp>
        <p:nvSpPr>
          <p:cNvPr id="12" name="Rectangle 11"/>
          <p:cNvSpPr/>
          <p:nvPr/>
        </p:nvSpPr>
        <p:spPr>
          <a:xfrm>
            <a:off x="8412480" y="2194560"/>
            <a:ext cx="3136392" cy="457200"/>
          </a:xfrm>
          <a:prstGeom prst="rect">
            <a:avLst/>
          </a:prstGeom>
          <a:solidFill>
            <a:srgbClr val="2C4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549640" y="2194560"/>
            <a:ext cx="2907792" cy="457200"/>
          </a:xfrm>
          <a:prstGeom prst="rect">
            <a:avLst/>
          </a:prstGeom>
          <a:noFill/>
        </p:spPr>
        <p:txBody>
          <a:bodyPr wrap="square" lIns="0" tIns="0" rIns="0" bIns="0" anchor="ctr">
            <a:spAutoFit/>
          </a:bodyPr>
          <a:lstStyle/>
          <a:p>
            <a:pPr algn="l">
              <a:spcBef>
                <a:spcPts val="0"/>
              </a:spcBef>
              <a:spcAft>
                <a:spcPts val="500"/>
              </a:spcAft>
            </a:pPr>
            <a:r>
              <a:rPr sz="1200" b="1" i="0">
                <a:solidFill>
                  <a:srgbClr val="FFFFFF"/>
                </a:solidFill>
                <a:latin typeface="Calibri"/>
              </a:rPr>
              <a:t>Source</a:t>
            </a:r>
          </a:p>
        </p:txBody>
      </p:sp>
      <p:sp>
        <p:nvSpPr>
          <p:cNvPr id="14" name="Rectangle 13"/>
          <p:cNvSpPr/>
          <p:nvPr/>
        </p:nvSpPr>
        <p:spPr>
          <a:xfrm>
            <a:off x="640080" y="2651760"/>
            <a:ext cx="4114800" cy="457200"/>
          </a:xfrm>
          <a:prstGeom prst="rect">
            <a:avLst/>
          </a:prstGeom>
          <a:solidFill>
            <a:srgbClr val="FBF8F2"/>
          </a:solidFill>
          <a:ln w="9525">
            <a:solidFill>
              <a:srgbClr val="E3D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77240" y="2651760"/>
            <a:ext cx="3886200" cy="457200"/>
          </a:xfrm>
          <a:prstGeom prst="rect">
            <a:avLst/>
          </a:prstGeom>
          <a:noFill/>
        </p:spPr>
        <p:txBody>
          <a:bodyPr wrap="square" lIns="0" tIns="0" rIns="0" bIns="0" anchor="ctr">
            <a:spAutoFit/>
          </a:bodyPr>
          <a:lstStyle/>
          <a:p>
            <a:pPr algn="l">
              <a:spcBef>
                <a:spcPts val="0"/>
              </a:spcBef>
              <a:spcAft>
                <a:spcPts val="500"/>
              </a:spcAft>
            </a:pPr>
            <a:r>
              <a:rPr sz="1150" b="1" i="0">
                <a:solidFill>
                  <a:srgbClr val="2B2B2B"/>
                </a:solidFill>
                <a:latin typeface="Calibri"/>
              </a:rPr>
              <a:t>Discharge (area) exponent</a:t>
            </a:r>
          </a:p>
        </p:txBody>
      </p:sp>
      <p:sp>
        <p:nvSpPr>
          <p:cNvPr id="16" name="Rectangle 15"/>
          <p:cNvSpPr/>
          <p:nvPr/>
        </p:nvSpPr>
        <p:spPr>
          <a:xfrm>
            <a:off x="4754880" y="2651760"/>
            <a:ext cx="1325880" cy="457200"/>
          </a:xfrm>
          <a:prstGeom prst="rect">
            <a:avLst/>
          </a:prstGeom>
          <a:solidFill>
            <a:srgbClr val="FBF8F2"/>
          </a:solidFill>
          <a:ln w="9525">
            <a:solidFill>
              <a:srgbClr val="E3D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892040" y="2651760"/>
            <a:ext cx="1097280" cy="457200"/>
          </a:xfrm>
          <a:prstGeom prst="rect">
            <a:avLst/>
          </a:prstGeom>
          <a:noFill/>
        </p:spPr>
        <p:txBody>
          <a:bodyPr wrap="square" lIns="0" tIns="0" rIns="0" bIns="0" anchor="ctr">
            <a:spAutoFit/>
          </a:bodyPr>
          <a:lstStyle/>
          <a:p>
            <a:pPr algn="l">
              <a:spcBef>
                <a:spcPts val="0"/>
              </a:spcBef>
              <a:spcAft>
                <a:spcPts val="500"/>
              </a:spcAft>
            </a:pPr>
            <a:r>
              <a:rPr sz="1200" b="1" i="0">
                <a:solidFill>
                  <a:srgbClr val="B85042"/>
                </a:solidFill>
                <a:latin typeface="Courier New"/>
              </a:rPr>
              <a:t>m_sp</a:t>
            </a:r>
          </a:p>
        </p:txBody>
      </p:sp>
      <p:sp>
        <p:nvSpPr>
          <p:cNvPr id="18" name="Rectangle 17"/>
          <p:cNvSpPr/>
          <p:nvPr/>
        </p:nvSpPr>
        <p:spPr>
          <a:xfrm>
            <a:off x="6080760" y="2651760"/>
            <a:ext cx="2331720" cy="457200"/>
          </a:xfrm>
          <a:prstGeom prst="rect">
            <a:avLst/>
          </a:prstGeom>
          <a:solidFill>
            <a:srgbClr val="FBF8F2"/>
          </a:solidFill>
          <a:ln w="9525">
            <a:solidFill>
              <a:srgbClr val="E3D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217920" y="2651760"/>
            <a:ext cx="2103120" cy="457200"/>
          </a:xfrm>
          <a:prstGeom prst="rect">
            <a:avLst/>
          </a:prstGeom>
          <a:noFill/>
        </p:spPr>
        <p:txBody>
          <a:bodyPr wrap="square" lIns="0" tIns="0" rIns="0" bIns="0" anchor="ctr">
            <a:spAutoFit/>
          </a:bodyPr>
          <a:lstStyle/>
          <a:p>
            <a:pPr algn="l">
              <a:spcBef>
                <a:spcPts val="0"/>
              </a:spcBef>
              <a:spcAft>
                <a:spcPts val="500"/>
              </a:spcAft>
            </a:pPr>
            <a:r>
              <a:rPr sz="1200" b="1" i="0">
                <a:solidFill>
                  <a:srgbClr val="2C4A3E"/>
                </a:solidFill>
                <a:latin typeface="Calibri"/>
              </a:rPr>
              <a:t>0.5</a:t>
            </a:r>
          </a:p>
        </p:txBody>
      </p:sp>
      <p:sp>
        <p:nvSpPr>
          <p:cNvPr id="20" name="Rectangle 19"/>
          <p:cNvSpPr/>
          <p:nvPr/>
        </p:nvSpPr>
        <p:spPr>
          <a:xfrm>
            <a:off x="8412480" y="2651760"/>
            <a:ext cx="3136392" cy="457200"/>
          </a:xfrm>
          <a:prstGeom prst="rect">
            <a:avLst/>
          </a:prstGeom>
          <a:solidFill>
            <a:srgbClr val="FBF8F2"/>
          </a:solidFill>
          <a:ln w="9525">
            <a:solidFill>
              <a:srgbClr val="E3D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549640" y="2651760"/>
            <a:ext cx="2907792" cy="457200"/>
          </a:xfrm>
          <a:prstGeom prst="rect">
            <a:avLst/>
          </a:prstGeom>
          <a:noFill/>
        </p:spPr>
        <p:txBody>
          <a:bodyPr wrap="square" lIns="0" tIns="0" rIns="0" bIns="0" anchor="ctr">
            <a:spAutoFit/>
          </a:bodyPr>
          <a:lstStyle/>
          <a:p>
            <a:pPr algn="l">
              <a:spcBef>
                <a:spcPts val="0"/>
              </a:spcBef>
              <a:spcAft>
                <a:spcPts val="500"/>
              </a:spcAft>
            </a:pPr>
            <a:r>
              <a:rPr sz="1150" b="0" i="0">
                <a:solidFill>
                  <a:srgbClr val="6E6A60"/>
                </a:solidFill>
                <a:latin typeface="Calibri"/>
              </a:rPr>
              <a:t>Whipple &amp; Tucker (1999)</a:t>
            </a:r>
          </a:p>
        </p:txBody>
      </p:sp>
      <p:sp>
        <p:nvSpPr>
          <p:cNvPr id="22" name="Rectangle 21"/>
          <p:cNvSpPr/>
          <p:nvPr/>
        </p:nvSpPr>
        <p:spPr>
          <a:xfrm>
            <a:off x="640080" y="3108960"/>
            <a:ext cx="4114800" cy="457200"/>
          </a:xfrm>
          <a:prstGeom prst="rect">
            <a:avLst/>
          </a:prstGeom>
          <a:solidFill>
            <a:srgbClr val="F2ECE0"/>
          </a:solidFill>
          <a:ln w="9525">
            <a:solidFill>
              <a:srgbClr val="E3D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77240" y="3108960"/>
            <a:ext cx="3886200" cy="457200"/>
          </a:xfrm>
          <a:prstGeom prst="rect">
            <a:avLst/>
          </a:prstGeom>
          <a:noFill/>
        </p:spPr>
        <p:txBody>
          <a:bodyPr wrap="square" lIns="0" tIns="0" rIns="0" bIns="0" anchor="ctr">
            <a:spAutoFit/>
          </a:bodyPr>
          <a:lstStyle/>
          <a:p>
            <a:pPr algn="l">
              <a:spcBef>
                <a:spcPts val="0"/>
              </a:spcBef>
              <a:spcAft>
                <a:spcPts val="500"/>
              </a:spcAft>
            </a:pPr>
            <a:r>
              <a:rPr sz="1150" b="1" i="0">
                <a:solidFill>
                  <a:srgbClr val="2B2B2B"/>
                </a:solidFill>
                <a:latin typeface="Calibri"/>
              </a:rPr>
              <a:t>Slope exponent</a:t>
            </a:r>
          </a:p>
        </p:txBody>
      </p:sp>
      <p:sp>
        <p:nvSpPr>
          <p:cNvPr id="24" name="Rectangle 23"/>
          <p:cNvSpPr/>
          <p:nvPr/>
        </p:nvSpPr>
        <p:spPr>
          <a:xfrm>
            <a:off x="4754880" y="3108960"/>
            <a:ext cx="1325880" cy="457200"/>
          </a:xfrm>
          <a:prstGeom prst="rect">
            <a:avLst/>
          </a:prstGeom>
          <a:solidFill>
            <a:srgbClr val="F2ECE0"/>
          </a:solidFill>
          <a:ln w="9525">
            <a:solidFill>
              <a:srgbClr val="E3D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892040" y="3108960"/>
            <a:ext cx="1097280" cy="457200"/>
          </a:xfrm>
          <a:prstGeom prst="rect">
            <a:avLst/>
          </a:prstGeom>
          <a:noFill/>
        </p:spPr>
        <p:txBody>
          <a:bodyPr wrap="square" lIns="0" tIns="0" rIns="0" bIns="0" anchor="ctr">
            <a:spAutoFit/>
          </a:bodyPr>
          <a:lstStyle/>
          <a:p>
            <a:pPr algn="l">
              <a:spcBef>
                <a:spcPts val="0"/>
              </a:spcBef>
              <a:spcAft>
                <a:spcPts val="500"/>
              </a:spcAft>
            </a:pPr>
            <a:r>
              <a:rPr sz="1200" b="1" i="0">
                <a:solidFill>
                  <a:srgbClr val="B85042"/>
                </a:solidFill>
                <a:latin typeface="Courier New"/>
              </a:rPr>
              <a:t>n_sp</a:t>
            </a:r>
          </a:p>
        </p:txBody>
      </p:sp>
      <p:sp>
        <p:nvSpPr>
          <p:cNvPr id="26" name="Rectangle 25"/>
          <p:cNvSpPr/>
          <p:nvPr/>
        </p:nvSpPr>
        <p:spPr>
          <a:xfrm>
            <a:off x="6080760" y="3108960"/>
            <a:ext cx="2331720" cy="457200"/>
          </a:xfrm>
          <a:prstGeom prst="rect">
            <a:avLst/>
          </a:prstGeom>
          <a:solidFill>
            <a:srgbClr val="F2ECE0"/>
          </a:solidFill>
          <a:ln w="9525">
            <a:solidFill>
              <a:srgbClr val="E3D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217920" y="3108960"/>
            <a:ext cx="2103120" cy="457200"/>
          </a:xfrm>
          <a:prstGeom prst="rect">
            <a:avLst/>
          </a:prstGeom>
          <a:noFill/>
        </p:spPr>
        <p:txBody>
          <a:bodyPr wrap="square" lIns="0" tIns="0" rIns="0" bIns="0" anchor="ctr">
            <a:spAutoFit/>
          </a:bodyPr>
          <a:lstStyle/>
          <a:p>
            <a:pPr algn="l">
              <a:spcBef>
                <a:spcPts val="0"/>
              </a:spcBef>
              <a:spcAft>
                <a:spcPts val="500"/>
              </a:spcAft>
            </a:pPr>
            <a:r>
              <a:rPr sz="1200" b="1" i="0">
                <a:solidFill>
                  <a:srgbClr val="2C4A3E"/>
                </a:solidFill>
                <a:latin typeface="Calibri"/>
              </a:rPr>
              <a:t>1.0</a:t>
            </a:r>
          </a:p>
        </p:txBody>
      </p:sp>
      <p:sp>
        <p:nvSpPr>
          <p:cNvPr id="28" name="Rectangle 27"/>
          <p:cNvSpPr/>
          <p:nvPr/>
        </p:nvSpPr>
        <p:spPr>
          <a:xfrm>
            <a:off x="8412480" y="3108960"/>
            <a:ext cx="3136392" cy="457200"/>
          </a:xfrm>
          <a:prstGeom prst="rect">
            <a:avLst/>
          </a:prstGeom>
          <a:solidFill>
            <a:srgbClr val="F2ECE0"/>
          </a:solidFill>
          <a:ln w="9525">
            <a:solidFill>
              <a:srgbClr val="E3D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549640" y="3108960"/>
            <a:ext cx="2907792" cy="457200"/>
          </a:xfrm>
          <a:prstGeom prst="rect">
            <a:avLst/>
          </a:prstGeom>
          <a:noFill/>
        </p:spPr>
        <p:txBody>
          <a:bodyPr wrap="square" lIns="0" tIns="0" rIns="0" bIns="0" anchor="ctr">
            <a:spAutoFit/>
          </a:bodyPr>
          <a:lstStyle/>
          <a:p>
            <a:pPr algn="l">
              <a:spcBef>
                <a:spcPts val="0"/>
              </a:spcBef>
              <a:spcAft>
                <a:spcPts val="500"/>
              </a:spcAft>
            </a:pPr>
            <a:r>
              <a:rPr sz="1150" b="0" i="0">
                <a:solidFill>
                  <a:srgbClr val="6E6A60"/>
                </a:solidFill>
                <a:latin typeface="Calibri"/>
              </a:rPr>
              <a:t>Whipple &amp; Tucker (1999)</a:t>
            </a:r>
          </a:p>
        </p:txBody>
      </p:sp>
      <p:sp>
        <p:nvSpPr>
          <p:cNvPr id="30" name="Rectangle 29"/>
          <p:cNvSpPr/>
          <p:nvPr/>
        </p:nvSpPr>
        <p:spPr>
          <a:xfrm>
            <a:off x="640080" y="3566160"/>
            <a:ext cx="4114800" cy="457200"/>
          </a:xfrm>
          <a:prstGeom prst="rect">
            <a:avLst/>
          </a:prstGeom>
          <a:solidFill>
            <a:srgbClr val="FBF8F2"/>
          </a:solidFill>
          <a:ln w="9525">
            <a:solidFill>
              <a:srgbClr val="E3D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777240" y="3566160"/>
            <a:ext cx="3886200" cy="457200"/>
          </a:xfrm>
          <a:prstGeom prst="rect">
            <a:avLst/>
          </a:prstGeom>
          <a:noFill/>
        </p:spPr>
        <p:txBody>
          <a:bodyPr wrap="square" lIns="0" tIns="0" rIns="0" bIns="0" anchor="ctr">
            <a:spAutoFit/>
          </a:bodyPr>
          <a:lstStyle/>
          <a:p>
            <a:pPr algn="l">
              <a:spcBef>
                <a:spcPts val="0"/>
              </a:spcBef>
              <a:spcAft>
                <a:spcPts val="500"/>
              </a:spcAft>
            </a:pPr>
            <a:r>
              <a:rPr sz="1150" b="1" i="0">
                <a:solidFill>
                  <a:srgbClr val="2B2B2B"/>
                </a:solidFill>
                <a:latin typeface="Calibri"/>
              </a:rPr>
              <a:t>Sediment cover / shield depth</a:t>
            </a:r>
          </a:p>
        </p:txBody>
      </p:sp>
      <p:sp>
        <p:nvSpPr>
          <p:cNvPr id="32" name="Rectangle 31"/>
          <p:cNvSpPr/>
          <p:nvPr/>
        </p:nvSpPr>
        <p:spPr>
          <a:xfrm>
            <a:off x="4754880" y="3566160"/>
            <a:ext cx="1325880" cy="457200"/>
          </a:xfrm>
          <a:prstGeom prst="rect">
            <a:avLst/>
          </a:prstGeom>
          <a:solidFill>
            <a:srgbClr val="FBF8F2"/>
          </a:solidFill>
          <a:ln w="9525">
            <a:solidFill>
              <a:srgbClr val="E3D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892040" y="3566160"/>
            <a:ext cx="1097280" cy="457200"/>
          </a:xfrm>
          <a:prstGeom prst="rect">
            <a:avLst/>
          </a:prstGeom>
          <a:noFill/>
        </p:spPr>
        <p:txBody>
          <a:bodyPr wrap="square" lIns="0" tIns="0" rIns="0" bIns="0" anchor="ctr">
            <a:spAutoFit/>
          </a:bodyPr>
          <a:lstStyle/>
          <a:p>
            <a:pPr algn="l">
              <a:spcBef>
                <a:spcPts val="0"/>
              </a:spcBef>
              <a:spcAft>
                <a:spcPts val="500"/>
              </a:spcAft>
            </a:pPr>
            <a:r>
              <a:rPr sz="1200" b="1" i="0">
                <a:solidFill>
                  <a:srgbClr val="B85042"/>
                </a:solidFill>
                <a:latin typeface="Courier New"/>
              </a:rPr>
              <a:t>H*</a:t>
            </a:r>
          </a:p>
        </p:txBody>
      </p:sp>
      <p:sp>
        <p:nvSpPr>
          <p:cNvPr id="34" name="Rectangle 33"/>
          <p:cNvSpPr/>
          <p:nvPr/>
        </p:nvSpPr>
        <p:spPr>
          <a:xfrm>
            <a:off x="6080760" y="3566160"/>
            <a:ext cx="2331720" cy="457200"/>
          </a:xfrm>
          <a:prstGeom prst="rect">
            <a:avLst/>
          </a:prstGeom>
          <a:solidFill>
            <a:srgbClr val="FBF8F2"/>
          </a:solidFill>
          <a:ln w="9525">
            <a:solidFill>
              <a:srgbClr val="E3D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217920" y="3566160"/>
            <a:ext cx="2103120" cy="457200"/>
          </a:xfrm>
          <a:prstGeom prst="rect">
            <a:avLst/>
          </a:prstGeom>
          <a:noFill/>
        </p:spPr>
        <p:txBody>
          <a:bodyPr wrap="square" lIns="0" tIns="0" rIns="0" bIns="0" anchor="ctr">
            <a:spAutoFit/>
          </a:bodyPr>
          <a:lstStyle/>
          <a:p>
            <a:pPr algn="l">
              <a:spcBef>
                <a:spcPts val="0"/>
              </a:spcBef>
              <a:spcAft>
                <a:spcPts val="500"/>
              </a:spcAft>
            </a:pPr>
            <a:r>
              <a:rPr sz="1200" b="1" i="0">
                <a:solidFill>
                  <a:srgbClr val="2C4A3E"/>
                </a:solidFill>
                <a:latin typeface="Calibri"/>
              </a:rPr>
              <a:t>~0.1–0.5 m</a:t>
            </a:r>
          </a:p>
        </p:txBody>
      </p:sp>
      <p:sp>
        <p:nvSpPr>
          <p:cNvPr id="36" name="Rectangle 35"/>
          <p:cNvSpPr/>
          <p:nvPr/>
        </p:nvSpPr>
        <p:spPr>
          <a:xfrm>
            <a:off x="8412480" y="3566160"/>
            <a:ext cx="3136392" cy="457200"/>
          </a:xfrm>
          <a:prstGeom prst="rect">
            <a:avLst/>
          </a:prstGeom>
          <a:solidFill>
            <a:srgbClr val="FBF8F2"/>
          </a:solidFill>
          <a:ln w="9525">
            <a:solidFill>
              <a:srgbClr val="E3D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8549640" y="3566160"/>
            <a:ext cx="2907792" cy="457200"/>
          </a:xfrm>
          <a:prstGeom prst="rect">
            <a:avLst/>
          </a:prstGeom>
          <a:noFill/>
        </p:spPr>
        <p:txBody>
          <a:bodyPr wrap="square" lIns="0" tIns="0" rIns="0" bIns="0" anchor="ctr">
            <a:spAutoFit/>
          </a:bodyPr>
          <a:lstStyle/>
          <a:p>
            <a:pPr algn="l">
              <a:spcBef>
                <a:spcPts val="0"/>
              </a:spcBef>
              <a:spcAft>
                <a:spcPts val="500"/>
              </a:spcAft>
            </a:pPr>
            <a:r>
              <a:rPr sz="1150" b="0" i="0">
                <a:solidFill>
                  <a:srgbClr val="6E6A60"/>
                </a:solidFill>
                <a:latin typeface="Calibri"/>
              </a:rPr>
              <a:t>Shobe et al. (2017)</a:t>
            </a:r>
          </a:p>
        </p:txBody>
      </p:sp>
      <p:sp>
        <p:nvSpPr>
          <p:cNvPr id="38" name="Rectangle 37"/>
          <p:cNvSpPr/>
          <p:nvPr/>
        </p:nvSpPr>
        <p:spPr>
          <a:xfrm>
            <a:off x="640080" y="4023360"/>
            <a:ext cx="4114800" cy="457200"/>
          </a:xfrm>
          <a:prstGeom prst="rect">
            <a:avLst/>
          </a:prstGeom>
          <a:solidFill>
            <a:srgbClr val="F2ECE0"/>
          </a:solidFill>
          <a:ln w="9525">
            <a:solidFill>
              <a:srgbClr val="E3D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777240" y="4023360"/>
            <a:ext cx="3886200" cy="457200"/>
          </a:xfrm>
          <a:prstGeom prst="rect">
            <a:avLst/>
          </a:prstGeom>
          <a:noFill/>
        </p:spPr>
        <p:txBody>
          <a:bodyPr wrap="square" lIns="0" tIns="0" rIns="0" bIns="0" anchor="ctr">
            <a:spAutoFit/>
          </a:bodyPr>
          <a:lstStyle/>
          <a:p>
            <a:pPr algn="l">
              <a:spcBef>
                <a:spcPts val="0"/>
              </a:spcBef>
              <a:spcAft>
                <a:spcPts val="500"/>
              </a:spcAft>
            </a:pPr>
            <a:r>
              <a:rPr sz="1150" b="1" i="0">
                <a:solidFill>
                  <a:srgbClr val="2B2B2B"/>
                </a:solidFill>
                <a:latin typeface="Calibri"/>
              </a:rPr>
              <a:t>Sediment porosity</a:t>
            </a:r>
          </a:p>
        </p:txBody>
      </p:sp>
      <p:sp>
        <p:nvSpPr>
          <p:cNvPr id="40" name="Rectangle 39"/>
          <p:cNvSpPr/>
          <p:nvPr/>
        </p:nvSpPr>
        <p:spPr>
          <a:xfrm>
            <a:off x="4754880" y="4023360"/>
            <a:ext cx="1325880" cy="457200"/>
          </a:xfrm>
          <a:prstGeom prst="rect">
            <a:avLst/>
          </a:prstGeom>
          <a:solidFill>
            <a:srgbClr val="F2ECE0"/>
          </a:solidFill>
          <a:ln w="9525">
            <a:solidFill>
              <a:srgbClr val="E3D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4892040" y="4023360"/>
            <a:ext cx="1097280" cy="457200"/>
          </a:xfrm>
          <a:prstGeom prst="rect">
            <a:avLst/>
          </a:prstGeom>
          <a:noFill/>
        </p:spPr>
        <p:txBody>
          <a:bodyPr wrap="square" lIns="0" tIns="0" rIns="0" bIns="0" anchor="ctr">
            <a:spAutoFit/>
          </a:bodyPr>
          <a:lstStyle/>
          <a:p>
            <a:pPr algn="l">
              <a:spcBef>
                <a:spcPts val="0"/>
              </a:spcBef>
              <a:spcAft>
                <a:spcPts val="500"/>
              </a:spcAft>
            </a:pPr>
            <a:r>
              <a:rPr sz="1200" b="1" i="0">
                <a:solidFill>
                  <a:srgbClr val="B85042"/>
                </a:solidFill>
                <a:latin typeface="Courier New"/>
              </a:rPr>
              <a:t>φ</a:t>
            </a:r>
          </a:p>
        </p:txBody>
      </p:sp>
      <p:sp>
        <p:nvSpPr>
          <p:cNvPr id="42" name="Rectangle 41"/>
          <p:cNvSpPr/>
          <p:nvPr/>
        </p:nvSpPr>
        <p:spPr>
          <a:xfrm>
            <a:off x="6080760" y="4023360"/>
            <a:ext cx="2331720" cy="457200"/>
          </a:xfrm>
          <a:prstGeom prst="rect">
            <a:avLst/>
          </a:prstGeom>
          <a:solidFill>
            <a:srgbClr val="F2ECE0"/>
          </a:solidFill>
          <a:ln w="9525">
            <a:solidFill>
              <a:srgbClr val="E3D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6217920" y="4023360"/>
            <a:ext cx="2103120" cy="457200"/>
          </a:xfrm>
          <a:prstGeom prst="rect">
            <a:avLst/>
          </a:prstGeom>
          <a:noFill/>
        </p:spPr>
        <p:txBody>
          <a:bodyPr wrap="square" lIns="0" tIns="0" rIns="0" bIns="0" anchor="ctr">
            <a:spAutoFit/>
          </a:bodyPr>
          <a:lstStyle/>
          <a:p>
            <a:pPr algn="l">
              <a:spcBef>
                <a:spcPts val="0"/>
              </a:spcBef>
              <a:spcAft>
                <a:spcPts val="500"/>
              </a:spcAft>
            </a:pPr>
            <a:r>
              <a:rPr sz="1200" b="1" i="0">
                <a:solidFill>
                  <a:srgbClr val="2C4A3E"/>
                </a:solidFill>
                <a:latin typeface="Calibri"/>
              </a:rPr>
              <a:t>≈ 0.3</a:t>
            </a:r>
          </a:p>
        </p:txBody>
      </p:sp>
      <p:sp>
        <p:nvSpPr>
          <p:cNvPr id="44" name="Rectangle 43"/>
          <p:cNvSpPr/>
          <p:nvPr/>
        </p:nvSpPr>
        <p:spPr>
          <a:xfrm>
            <a:off x="8412480" y="4023360"/>
            <a:ext cx="3136392" cy="457200"/>
          </a:xfrm>
          <a:prstGeom prst="rect">
            <a:avLst/>
          </a:prstGeom>
          <a:solidFill>
            <a:srgbClr val="F2ECE0"/>
          </a:solidFill>
          <a:ln w="9525">
            <a:solidFill>
              <a:srgbClr val="E3D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8549640" y="4023360"/>
            <a:ext cx="2907792" cy="457200"/>
          </a:xfrm>
          <a:prstGeom prst="rect">
            <a:avLst/>
          </a:prstGeom>
          <a:noFill/>
        </p:spPr>
        <p:txBody>
          <a:bodyPr wrap="square" lIns="0" tIns="0" rIns="0" bIns="0" anchor="ctr">
            <a:spAutoFit/>
          </a:bodyPr>
          <a:lstStyle/>
          <a:p>
            <a:pPr algn="l">
              <a:spcBef>
                <a:spcPts val="0"/>
              </a:spcBef>
              <a:spcAft>
                <a:spcPts val="500"/>
              </a:spcAft>
            </a:pPr>
            <a:r>
              <a:rPr sz="1150" b="0" i="0">
                <a:solidFill>
                  <a:srgbClr val="6E6A60"/>
                </a:solidFill>
                <a:latin typeface="Calibri"/>
              </a:rPr>
              <a:t>Shobe et al. (2017)</a:t>
            </a:r>
          </a:p>
        </p:txBody>
      </p:sp>
      <p:sp>
        <p:nvSpPr>
          <p:cNvPr id="46" name="Rectangle 45"/>
          <p:cNvSpPr/>
          <p:nvPr/>
        </p:nvSpPr>
        <p:spPr>
          <a:xfrm>
            <a:off x="640080" y="4480560"/>
            <a:ext cx="4114800" cy="457200"/>
          </a:xfrm>
          <a:prstGeom prst="rect">
            <a:avLst/>
          </a:prstGeom>
          <a:solidFill>
            <a:srgbClr val="FBF8F2"/>
          </a:solidFill>
          <a:ln w="9525">
            <a:solidFill>
              <a:srgbClr val="E3D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777240" y="4480560"/>
            <a:ext cx="3886200" cy="457200"/>
          </a:xfrm>
          <a:prstGeom prst="rect">
            <a:avLst/>
          </a:prstGeom>
          <a:noFill/>
        </p:spPr>
        <p:txBody>
          <a:bodyPr wrap="square" lIns="0" tIns="0" rIns="0" bIns="0" anchor="ctr">
            <a:spAutoFit/>
          </a:bodyPr>
          <a:lstStyle/>
          <a:p>
            <a:pPr algn="l">
              <a:spcBef>
                <a:spcPts val="0"/>
              </a:spcBef>
              <a:spcAft>
                <a:spcPts val="500"/>
              </a:spcAft>
            </a:pPr>
            <a:r>
              <a:rPr sz="1150" b="1" i="0">
                <a:solidFill>
                  <a:srgbClr val="2B2B2B"/>
                </a:solidFill>
                <a:latin typeface="Calibri"/>
              </a:rPr>
              <a:t>Soil-transport decay depth</a:t>
            </a:r>
          </a:p>
        </p:txBody>
      </p:sp>
      <p:sp>
        <p:nvSpPr>
          <p:cNvPr id="48" name="Rectangle 47"/>
          <p:cNvSpPr/>
          <p:nvPr/>
        </p:nvSpPr>
        <p:spPr>
          <a:xfrm>
            <a:off x="4754880" y="4480560"/>
            <a:ext cx="1325880" cy="457200"/>
          </a:xfrm>
          <a:prstGeom prst="rect">
            <a:avLst/>
          </a:prstGeom>
          <a:solidFill>
            <a:srgbClr val="FBF8F2"/>
          </a:solidFill>
          <a:ln w="9525">
            <a:solidFill>
              <a:srgbClr val="E3D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4892040" y="4480560"/>
            <a:ext cx="1097280" cy="457200"/>
          </a:xfrm>
          <a:prstGeom prst="rect">
            <a:avLst/>
          </a:prstGeom>
          <a:noFill/>
        </p:spPr>
        <p:txBody>
          <a:bodyPr wrap="square" lIns="0" tIns="0" rIns="0" bIns="0" anchor="ctr">
            <a:spAutoFit/>
          </a:bodyPr>
          <a:lstStyle/>
          <a:p>
            <a:pPr algn="l">
              <a:spcBef>
                <a:spcPts val="0"/>
              </a:spcBef>
              <a:spcAft>
                <a:spcPts val="500"/>
              </a:spcAft>
            </a:pPr>
            <a:r>
              <a:rPr sz="1200" b="1" i="0">
                <a:solidFill>
                  <a:srgbClr val="B85042"/>
                </a:solidFill>
                <a:latin typeface="Courier New"/>
              </a:rPr>
              <a:t>dₛ</a:t>
            </a:r>
          </a:p>
        </p:txBody>
      </p:sp>
      <p:sp>
        <p:nvSpPr>
          <p:cNvPr id="50" name="Rectangle 49"/>
          <p:cNvSpPr/>
          <p:nvPr/>
        </p:nvSpPr>
        <p:spPr>
          <a:xfrm>
            <a:off x="6080760" y="4480560"/>
            <a:ext cx="2331720" cy="457200"/>
          </a:xfrm>
          <a:prstGeom prst="rect">
            <a:avLst/>
          </a:prstGeom>
          <a:solidFill>
            <a:srgbClr val="FBF8F2"/>
          </a:solidFill>
          <a:ln w="9525">
            <a:solidFill>
              <a:srgbClr val="E3D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6217920" y="4480560"/>
            <a:ext cx="2103120" cy="457200"/>
          </a:xfrm>
          <a:prstGeom prst="rect">
            <a:avLst/>
          </a:prstGeom>
          <a:noFill/>
        </p:spPr>
        <p:txBody>
          <a:bodyPr wrap="square" lIns="0" tIns="0" rIns="0" bIns="0" anchor="ctr">
            <a:spAutoFit/>
          </a:bodyPr>
          <a:lstStyle/>
          <a:p>
            <a:pPr algn="l">
              <a:spcBef>
                <a:spcPts val="0"/>
              </a:spcBef>
              <a:spcAft>
                <a:spcPts val="500"/>
              </a:spcAft>
            </a:pPr>
            <a:r>
              <a:rPr sz="1200" b="1" i="0">
                <a:solidFill>
                  <a:srgbClr val="2C4A3E"/>
                </a:solidFill>
                <a:latin typeface="Calibri"/>
              </a:rPr>
              <a:t>~0.5 m</a:t>
            </a:r>
          </a:p>
        </p:txBody>
      </p:sp>
      <p:sp>
        <p:nvSpPr>
          <p:cNvPr id="52" name="Rectangle 51"/>
          <p:cNvSpPr/>
          <p:nvPr/>
        </p:nvSpPr>
        <p:spPr>
          <a:xfrm>
            <a:off x="8412480" y="4480560"/>
            <a:ext cx="3136392" cy="457200"/>
          </a:xfrm>
          <a:prstGeom prst="rect">
            <a:avLst/>
          </a:prstGeom>
          <a:solidFill>
            <a:srgbClr val="FBF8F2"/>
          </a:solidFill>
          <a:ln w="9525">
            <a:solidFill>
              <a:srgbClr val="E3D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8549640" y="4480560"/>
            <a:ext cx="2907792" cy="457200"/>
          </a:xfrm>
          <a:prstGeom prst="rect">
            <a:avLst/>
          </a:prstGeom>
          <a:noFill/>
        </p:spPr>
        <p:txBody>
          <a:bodyPr wrap="square" lIns="0" tIns="0" rIns="0" bIns="0" anchor="ctr">
            <a:spAutoFit/>
          </a:bodyPr>
          <a:lstStyle/>
          <a:p>
            <a:pPr algn="l">
              <a:spcBef>
                <a:spcPts val="0"/>
              </a:spcBef>
              <a:spcAft>
                <a:spcPts val="500"/>
              </a:spcAft>
            </a:pPr>
            <a:r>
              <a:rPr sz="1150" b="0" i="0">
                <a:solidFill>
                  <a:srgbClr val="6E6A60"/>
                </a:solidFill>
                <a:latin typeface="Calibri"/>
              </a:rPr>
              <a:t>model default (Johnstone &amp; Hilley 2015)</a:t>
            </a:r>
          </a:p>
        </p:txBody>
      </p:sp>
      <p:sp>
        <p:nvSpPr>
          <p:cNvPr id="54" name="Rectangle 53"/>
          <p:cNvSpPr/>
          <p:nvPr/>
        </p:nvSpPr>
        <p:spPr>
          <a:xfrm>
            <a:off x="640080" y="4937760"/>
            <a:ext cx="4114800" cy="457200"/>
          </a:xfrm>
          <a:prstGeom prst="rect">
            <a:avLst/>
          </a:prstGeom>
          <a:solidFill>
            <a:srgbClr val="F2ECE0"/>
          </a:solidFill>
          <a:ln w="9525">
            <a:solidFill>
              <a:srgbClr val="E3D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777240" y="4937760"/>
            <a:ext cx="3886200" cy="457200"/>
          </a:xfrm>
          <a:prstGeom prst="rect">
            <a:avLst/>
          </a:prstGeom>
          <a:noFill/>
        </p:spPr>
        <p:txBody>
          <a:bodyPr wrap="square" lIns="0" tIns="0" rIns="0" bIns="0" anchor="ctr">
            <a:spAutoFit/>
          </a:bodyPr>
          <a:lstStyle/>
          <a:p>
            <a:pPr algn="l">
              <a:spcBef>
                <a:spcPts val="0"/>
              </a:spcBef>
              <a:spcAft>
                <a:spcPts val="500"/>
              </a:spcAft>
            </a:pPr>
            <a:r>
              <a:rPr sz="1150" b="1" i="0">
                <a:solidFill>
                  <a:srgbClr val="2B2B2B"/>
                </a:solidFill>
                <a:latin typeface="Calibri"/>
              </a:rPr>
              <a:t>Runoff coefficient (baseline)</a:t>
            </a:r>
          </a:p>
        </p:txBody>
      </p:sp>
      <p:sp>
        <p:nvSpPr>
          <p:cNvPr id="56" name="Rectangle 55"/>
          <p:cNvSpPr/>
          <p:nvPr/>
        </p:nvSpPr>
        <p:spPr>
          <a:xfrm>
            <a:off x="4754880" y="4937760"/>
            <a:ext cx="1325880" cy="457200"/>
          </a:xfrm>
          <a:prstGeom prst="rect">
            <a:avLst/>
          </a:prstGeom>
          <a:solidFill>
            <a:srgbClr val="F2ECE0"/>
          </a:solidFill>
          <a:ln w="9525">
            <a:solidFill>
              <a:srgbClr val="E3D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4892040" y="4937760"/>
            <a:ext cx="1097280" cy="457200"/>
          </a:xfrm>
          <a:prstGeom prst="rect">
            <a:avLst/>
          </a:prstGeom>
          <a:noFill/>
        </p:spPr>
        <p:txBody>
          <a:bodyPr wrap="square" lIns="0" tIns="0" rIns="0" bIns="0" anchor="ctr">
            <a:spAutoFit/>
          </a:bodyPr>
          <a:lstStyle/>
          <a:p>
            <a:pPr algn="l">
              <a:spcBef>
                <a:spcPts val="0"/>
              </a:spcBef>
              <a:spcAft>
                <a:spcPts val="500"/>
              </a:spcAft>
            </a:pPr>
            <a:r>
              <a:rPr sz="1200" b="1" i="0">
                <a:solidFill>
                  <a:srgbClr val="B85042"/>
                </a:solidFill>
                <a:latin typeface="Courier New"/>
              </a:rPr>
              <a:t>C</a:t>
            </a:r>
          </a:p>
        </p:txBody>
      </p:sp>
      <p:sp>
        <p:nvSpPr>
          <p:cNvPr id="58" name="Rectangle 57"/>
          <p:cNvSpPr/>
          <p:nvPr/>
        </p:nvSpPr>
        <p:spPr>
          <a:xfrm>
            <a:off x="6080760" y="4937760"/>
            <a:ext cx="2331720" cy="457200"/>
          </a:xfrm>
          <a:prstGeom prst="rect">
            <a:avLst/>
          </a:prstGeom>
          <a:solidFill>
            <a:srgbClr val="F2ECE0"/>
          </a:solidFill>
          <a:ln w="9525">
            <a:solidFill>
              <a:srgbClr val="E3D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6217920" y="4937760"/>
            <a:ext cx="2103120" cy="457200"/>
          </a:xfrm>
          <a:prstGeom prst="rect">
            <a:avLst/>
          </a:prstGeom>
          <a:noFill/>
        </p:spPr>
        <p:txBody>
          <a:bodyPr wrap="square" lIns="0" tIns="0" rIns="0" bIns="0" anchor="ctr">
            <a:spAutoFit/>
          </a:bodyPr>
          <a:lstStyle/>
          <a:p>
            <a:pPr algn="l">
              <a:spcBef>
                <a:spcPts val="0"/>
              </a:spcBef>
              <a:spcAft>
                <a:spcPts val="500"/>
              </a:spcAft>
            </a:pPr>
            <a:r>
              <a:rPr sz="1200" b="1" i="0">
                <a:solidFill>
                  <a:srgbClr val="2C4A3E"/>
                </a:solidFill>
                <a:latin typeface="Calibri"/>
              </a:rPr>
              <a:t>1.0</a:t>
            </a:r>
          </a:p>
        </p:txBody>
      </p:sp>
      <p:sp>
        <p:nvSpPr>
          <p:cNvPr id="60" name="Rectangle 59"/>
          <p:cNvSpPr/>
          <p:nvPr/>
        </p:nvSpPr>
        <p:spPr>
          <a:xfrm>
            <a:off x="8412480" y="4937760"/>
            <a:ext cx="3136392" cy="457200"/>
          </a:xfrm>
          <a:prstGeom prst="rect">
            <a:avLst/>
          </a:prstGeom>
          <a:solidFill>
            <a:srgbClr val="F2ECE0"/>
          </a:solidFill>
          <a:ln w="9525">
            <a:solidFill>
              <a:srgbClr val="E3D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8549640" y="4937760"/>
            <a:ext cx="2907792" cy="457200"/>
          </a:xfrm>
          <a:prstGeom prst="rect">
            <a:avLst/>
          </a:prstGeom>
          <a:noFill/>
        </p:spPr>
        <p:txBody>
          <a:bodyPr wrap="square" lIns="0" tIns="0" rIns="0" bIns="0" anchor="ctr">
            <a:spAutoFit/>
          </a:bodyPr>
          <a:lstStyle/>
          <a:p>
            <a:pPr algn="l">
              <a:spcBef>
                <a:spcPts val="0"/>
              </a:spcBef>
              <a:spcAft>
                <a:spcPts val="500"/>
              </a:spcAft>
            </a:pPr>
            <a:r>
              <a:rPr sz="1150" b="0" i="0">
                <a:solidFill>
                  <a:srgbClr val="6E6A60"/>
                </a:solidFill>
                <a:latin typeface="Calibri"/>
              </a:rPr>
              <a:t>model normalisation</a:t>
            </a:r>
          </a:p>
        </p:txBody>
      </p:sp>
      <p:sp>
        <p:nvSpPr>
          <p:cNvPr id="62" name="TextBox 61"/>
          <p:cNvSpPr txBox="1"/>
          <p:nvPr/>
        </p:nvSpPr>
        <p:spPr>
          <a:xfrm>
            <a:off x="640080" y="5806440"/>
            <a:ext cx="10881360" cy="365760"/>
          </a:xfrm>
          <a:prstGeom prst="rect">
            <a:avLst/>
          </a:prstGeom>
          <a:noFill/>
        </p:spPr>
        <p:txBody>
          <a:bodyPr wrap="square" lIns="0" tIns="0" rIns="0" bIns="0" anchor="t">
            <a:spAutoFit/>
          </a:bodyPr>
          <a:lstStyle/>
          <a:p>
            <a:pPr algn="l">
              <a:spcBef>
                <a:spcPts val="0"/>
              </a:spcBef>
              <a:spcAft>
                <a:spcPts val="500"/>
              </a:spcAft>
            </a:pPr>
            <a:r>
              <a:rPr sz="1150" b="0" i="1">
                <a:solidFill>
                  <a:srgbClr val="6E6A60"/>
                </a:solidFill>
                <a:latin typeface="Calibri"/>
              </a:rPr>
              <a:t>Author–year sources above are listed in full on the References slide at the end.</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2E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8229600" cy="365760"/>
          </a:xfrm>
          <a:prstGeom prst="rect">
            <a:avLst/>
          </a:prstGeom>
          <a:noFill/>
        </p:spPr>
        <p:txBody>
          <a:bodyPr wrap="square" lIns="0" tIns="0" rIns="0" bIns="0" anchor="t">
            <a:spAutoFit/>
          </a:bodyPr>
          <a:lstStyle/>
          <a:p>
            <a:pPr algn="l">
              <a:spcBef>
                <a:spcPts val="0"/>
              </a:spcBef>
              <a:spcAft>
                <a:spcPts val="500"/>
              </a:spcAft>
            </a:pPr>
            <a:r>
              <a:rPr sz="1250" b="1" i="0">
                <a:solidFill>
                  <a:srgbClr val="B85042"/>
                </a:solidFill>
                <a:latin typeface="Calibri"/>
              </a:rPr>
              <a:t>CHEAT SHEET</a:t>
            </a:r>
          </a:p>
        </p:txBody>
      </p:sp>
      <p:sp>
        <p:nvSpPr>
          <p:cNvPr id="4" name="TextBox 3"/>
          <p:cNvSpPr txBox="1"/>
          <p:nvPr/>
        </p:nvSpPr>
        <p:spPr>
          <a:xfrm>
            <a:off x="640080" y="676656"/>
            <a:ext cx="10515600" cy="777240"/>
          </a:xfrm>
          <a:prstGeom prst="rect">
            <a:avLst/>
          </a:prstGeom>
          <a:noFill/>
        </p:spPr>
        <p:txBody>
          <a:bodyPr wrap="square" lIns="0" tIns="0" rIns="0" bIns="0" anchor="t">
            <a:spAutoFit/>
          </a:bodyPr>
          <a:lstStyle/>
          <a:p>
            <a:pPr algn="l">
              <a:spcBef>
                <a:spcPts val="0"/>
              </a:spcBef>
              <a:spcAft>
                <a:spcPts val="500"/>
              </a:spcAft>
            </a:pPr>
            <a:r>
              <a:rPr sz="3100" b="1" i="0">
                <a:solidFill>
                  <a:srgbClr val="2C4A3E"/>
                </a:solidFill>
                <a:latin typeface="Calibri"/>
              </a:rPr>
              <a:t>Quick Reference</a:t>
            </a:r>
          </a:p>
        </p:txBody>
      </p:sp>
      <p:sp>
        <p:nvSpPr>
          <p:cNvPr id="5" name="Rectangle 4"/>
          <p:cNvSpPr/>
          <p:nvPr/>
        </p:nvSpPr>
        <p:spPr>
          <a:xfrm>
            <a:off x="640080" y="1554480"/>
            <a:ext cx="2331720" cy="566928"/>
          </a:xfrm>
          <a:prstGeom prst="rect">
            <a:avLst/>
          </a:prstGeom>
          <a:solidFill>
            <a:srgbClr val="2C4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1554480"/>
            <a:ext cx="2103120" cy="566928"/>
          </a:xfrm>
          <a:prstGeom prst="rect">
            <a:avLst/>
          </a:prstGeom>
          <a:noFill/>
        </p:spPr>
        <p:txBody>
          <a:bodyPr wrap="square" lIns="0" tIns="0" rIns="0" bIns="0" anchor="ctr">
            <a:spAutoFit/>
          </a:bodyPr>
          <a:lstStyle/>
          <a:p>
            <a:pPr algn="l">
              <a:spcBef>
                <a:spcPts val="0"/>
              </a:spcBef>
              <a:spcAft>
                <a:spcPts val="500"/>
              </a:spcAft>
            </a:pPr>
            <a:r>
              <a:rPr sz="1250" b="1" i="0">
                <a:solidFill>
                  <a:srgbClr val="FFFFFF"/>
                </a:solidFill>
                <a:latin typeface="Calibri"/>
              </a:rPr>
              <a:t>Component</a:t>
            </a:r>
          </a:p>
        </p:txBody>
      </p:sp>
      <p:sp>
        <p:nvSpPr>
          <p:cNvPr id="7" name="Rectangle 6"/>
          <p:cNvSpPr/>
          <p:nvPr/>
        </p:nvSpPr>
        <p:spPr>
          <a:xfrm>
            <a:off x="2971800" y="1554480"/>
            <a:ext cx="1143000" cy="566928"/>
          </a:xfrm>
          <a:prstGeom prst="rect">
            <a:avLst/>
          </a:prstGeom>
          <a:solidFill>
            <a:srgbClr val="2C4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108960" y="1554480"/>
            <a:ext cx="914400" cy="566928"/>
          </a:xfrm>
          <a:prstGeom prst="rect">
            <a:avLst/>
          </a:prstGeom>
          <a:noFill/>
        </p:spPr>
        <p:txBody>
          <a:bodyPr wrap="square" lIns="0" tIns="0" rIns="0" bIns="0" anchor="ctr">
            <a:spAutoFit/>
          </a:bodyPr>
          <a:lstStyle/>
          <a:p>
            <a:pPr algn="l">
              <a:spcBef>
                <a:spcPts val="0"/>
              </a:spcBef>
              <a:spcAft>
                <a:spcPts val="500"/>
              </a:spcAft>
            </a:pPr>
            <a:r>
              <a:rPr sz="1250" b="1" i="0">
                <a:solidFill>
                  <a:srgbClr val="FFFFFF"/>
                </a:solidFill>
                <a:latin typeface="Calibri"/>
              </a:rPr>
              <a:t>Type</a:t>
            </a:r>
          </a:p>
        </p:txBody>
      </p:sp>
      <p:sp>
        <p:nvSpPr>
          <p:cNvPr id="9" name="Rectangle 8"/>
          <p:cNvSpPr/>
          <p:nvPr/>
        </p:nvSpPr>
        <p:spPr>
          <a:xfrm>
            <a:off x="4114800" y="1554480"/>
            <a:ext cx="5605272" cy="566928"/>
          </a:xfrm>
          <a:prstGeom prst="rect">
            <a:avLst/>
          </a:prstGeom>
          <a:solidFill>
            <a:srgbClr val="2C4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251960" y="1554480"/>
            <a:ext cx="5376672" cy="566928"/>
          </a:xfrm>
          <a:prstGeom prst="rect">
            <a:avLst/>
          </a:prstGeom>
          <a:noFill/>
        </p:spPr>
        <p:txBody>
          <a:bodyPr wrap="square" lIns="0" tIns="0" rIns="0" bIns="0" anchor="ctr">
            <a:spAutoFit/>
          </a:bodyPr>
          <a:lstStyle/>
          <a:p>
            <a:pPr algn="l">
              <a:spcBef>
                <a:spcPts val="0"/>
              </a:spcBef>
              <a:spcAft>
                <a:spcPts val="500"/>
              </a:spcAft>
            </a:pPr>
            <a:r>
              <a:rPr sz="1250" b="1" i="0">
                <a:solidFill>
                  <a:srgbClr val="FFFFFF"/>
                </a:solidFill>
                <a:latin typeface="Calibri"/>
              </a:rPr>
              <a:t>In plain words</a:t>
            </a:r>
          </a:p>
        </p:txBody>
      </p:sp>
      <p:sp>
        <p:nvSpPr>
          <p:cNvPr id="11" name="Rectangle 10"/>
          <p:cNvSpPr/>
          <p:nvPr/>
        </p:nvSpPr>
        <p:spPr>
          <a:xfrm>
            <a:off x="9720072" y="1554480"/>
            <a:ext cx="1828800" cy="566928"/>
          </a:xfrm>
          <a:prstGeom prst="rect">
            <a:avLst/>
          </a:prstGeom>
          <a:solidFill>
            <a:srgbClr val="2C4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857232" y="1554480"/>
            <a:ext cx="1600200" cy="566928"/>
          </a:xfrm>
          <a:prstGeom prst="rect">
            <a:avLst/>
          </a:prstGeom>
          <a:noFill/>
        </p:spPr>
        <p:txBody>
          <a:bodyPr wrap="square" lIns="0" tIns="0" rIns="0" bIns="0" anchor="ctr">
            <a:spAutoFit/>
          </a:bodyPr>
          <a:lstStyle/>
          <a:p>
            <a:pPr algn="l">
              <a:spcBef>
                <a:spcPts val="0"/>
              </a:spcBef>
              <a:spcAft>
                <a:spcPts val="500"/>
              </a:spcAft>
            </a:pPr>
            <a:r>
              <a:rPr sz="1250" b="1" i="0">
                <a:solidFill>
                  <a:srgbClr val="FFFFFF"/>
                </a:solidFill>
                <a:latin typeface="Calibri"/>
              </a:rPr>
              <a:t>Key knob</a:t>
            </a:r>
          </a:p>
        </p:txBody>
      </p:sp>
      <p:sp>
        <p:nvSpPr>
          <p:cNvPr id="13" name="Rectangle 12"/>
          <p:cNvSpPr/>
          <p:nvPr/>
        </p:nvSpPr>
        <p:spPr>
          <a:xfrm>
            <a:off x="640080" y="2121408"/>
            <a:ext cx="2331720" cy="566928"/>
          </a:xfrm>
          <a:prstGeom prst="rect">
            <a:avLst/>
          </a:prstGeom>
          <a:solidFill>
            <a:srgbClr val="FBF8F2"/>
          </a:solidFill>
          <a:ln w="9525">
            <a:solidFill>
              <a:srgbClr val="E3D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77240" y="2121408"/>
            <a:ext cx="2103120" cy="566928"/>
          </a:xfrm>
          <a:prstGeom prst="rect">
            <a:avLst/>
          </a:prstGeom>
          <a:noFill/>
        </p:spPr>
        <p:txBody>
          <a:bodyPr wrap="square" lIns="0" tIns="0" rIns="0" bIns="0" anchor="ctr">
            <a:spAutoFit/>
          </a:bodyPr>
          <a:lstStyle/>
          <a:p>
            <a:pPr algn="l">
              <a:spcBef>
                <a:spcPts val="0"/>
              </a:spcBef>
              <a:spcAft>
                <a:spcPts val="500"/>
              </a:spcAft>
            </a:pPr>
            <a:r>
              <a:rPr sz="1200" b="1" i="0">
                <a:solidFill>
                  <a:srgbClr val="2B2B2B"/>
                </a:solidFill>
                <a:latin typeface="Calibri"/>
              </a:rPr>
              <a:t>Precipitation</a:t>
            </a:r>
          </a:p>
        </p:txBody>
      </p:sp>
      <p:sp>
        <p:nvSpPr>
          <p:cNvPr id="15" name="Rectangle 14"/>
          <p:cNvSpPr/>
          <p:nvPr/>
        </p:nvSpPr>
        <p:spPr>
          <a:xfrm>
            <a:off x="2971800" y="2121408"/>
            <a:ext cx="1143000" cy="566928"/>
          </a:xfrm>
          <a:prstGeom prst="rect">
            <a:avLst/>
          </a:prstGeom>
          <a:solidFill>
            <a:srgbClr val="FBF8F2"/>
          </a:solidFill>
          <a:ln w="9525">
            <a:solidFill>
              <a:srgbClr val="E3D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108960" y="2121408"/>
            <a:ext cx="914400" cy="566928"/>
          </a:xfrm>
          <a:prstGeom prst="rect">
            <a:avLst/>
          </a:prstGeom>
          <a:noFill/>
        </p:spPr>
        <p:txBody>
          <a:bodyPr wrap="square" lIns="0" tIns="0" rIns="0" bIns="0" anchor="ctr">
            <a:spAutoFit/>
          </a:bodyPr>
          <a:lstStyle/>
          <a:p>
            <a:pPr algn="l">
              <a:spcBef>
                <a:spcPts val="0"/>
              </a:spcBef>
              <a:spcAft>
                <a:spcPts val="500"/>
              </a:spcAft>
            </a:pPr>
            <a:r>
              <a:rPr sz="1150" b="1" i="0">
                <a:solidFill>
                  <a:srgbClr val="B85042"/>
                </a:solidFill>
                <a:latin typeface="Calibri"/>
              </a:rPr>
              <a:t>Custom</a:t>
            </a:r>
          </a:p>
        </p:txBody>
      </p:sp>
      <p:sp>
        <p:nvSpPr>
          <p:cNvPr id="17" name="Rectangle 16"/>
          <p:cNvSpPr/>
          <p:nvPr/>
        </p:nvSpPr>
        <p:spPr>
          <a:xfrm>
            <a:off x="4114800" y="2121408"/>
            <a:ext cx="5605272" cy="566928"/>
          </a:xfrm>
          <a:prstGeom prst="rect">
            <a:avLst/>
          </a:prstGeom>
          <a:solidFill>
            <a:srgbClr val="FBF8F2"/>
          </a:solidFill>
          <a:ln w="9525">
            <a:solidFill>
              <a:srgbClr val="E3D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251960" y="2121408"/>
            <a:ext cx="5376672" cy="566928"/>
          </a:xfrm>
          <a:prstGeom prst="rect">
            <a:avLst/>
          </a:prstGeom>
          <a:noFill/>
        </p:spPr>
        <p:txBody>
          <a:bodyPr wrap="square" lIns="0" tIns="0" rIns="0" bIns="0" anchor="ctr">
            <a:spAutoFit/>
          </a:bodyPr>
          <a:lstStyle/>
          <a:p>
            <a:pPr algn="l">
              <a:spcBef>
                <a:spcPts val="0"/>
              </a:spcBef>
              <a:spcAft>
                <a:spcPts val="500"/>
              </a:spcAft>
            </a:pPr>
            <a:r>
              <a:rPr sz="1150" b="0" i="0">
                <a:solidFill>
                  <a:srgbClr val="2B2B2B"/>
                </a:solidFill>
                <a:latin typeface="Calibri"/>
              </a:rPr>
              <a:t>Sets the rain — Landlab's rain is storm-scale, not long-term</a:t>
            </a:r>
          </a:p>
        </p:txBody>
      </p:sp>
      <p:sp>
        <p:nvSpPr>
          <p:cNvPr id="19" name="Rectangle 18"/>
          <p:cNvSpPr/>
          <p:nvPr/>
        </p:nvSpPr>
        <p:spPr>
          <a:xfrm>
            <a:off x="9720072" y="2121408"/>
            <a:ext cx="1828800" cy="566928"/>
          </a:xfrm>
          <a:prstGeom prst="rect">
            <a:avLst/>
          </a:prstGeom>
          <a:solidFill>
            <a:srgbClr val="FBF8F2"/>
          </a:solidFill>
          <a:ln w="9525">
            <a:solidFill>
              <a:srgbClr val="E3D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857232" y="2121408"/>
            <a:ext cx="1600200" cy="566928"/>
          </a:xfrm>
          <a:prstGeom prst="rect">
            <a:avLst/>
          </a:prstGeom>
          <a:noFill/>
        </p:spPr>
        <p:txBody>
          <a:bodyPr wrap="square" lIns="0" tIns="0" rIns="0" bIns="0" anchor="ctr">
            <a:spAutoFit/>
          </a:bodyPr>
          <a:lstStyle/>
          <a:p>
            <a:pPr algn="l">
              <a:spcBef>
                <a:spcPts val="0"/>
              </a:spcBef>
              <a:spcAft>
                <a:spcPts val="500"/>
              </a:spcAft>
            </a:pPr>
            <a:r>
              <a:rPr sz="1100" b="0" i="0">
                <a:solidFill>
                  <a:srgbClr val="6E6A60"/>
                </a:solidFill>
                <a:latin typeface="Calibri"/>
              </a:rPr>
              <a:t>precipitation</a:t>
            </a:r>
          </a:p>
        </p:txBody>
      </p:sp>
      <p:sp>
        <p:nvSpPr>
          <p:cNvPr id="21" name="Rectangle 20"/>
          <p:cNvSpPr/>
          <p:nvPr/>
        </p:nvSpPr>
        <p:spPr>
          <a:xfrm>
            <a:off x="640080" y="2688336"/>
            <a:ext cx="2331720" cy="566928"/>
          </a:xfrm>
          <a:prstGeom prst="rect">
            <a:avLst/>
          </a:prstGeom>
          <a:solidFill>
            <a:srgbClr val="F2ECE0"/>
          </a:solidFill>
          <a:ln w="9525">
            <a:solidFill>
              <a:srgbClr val="E3D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77240" y="2688336"/>
            <a:ext cx="2103120" cy="566928"/>
          </a:xfrm>
          <a:prstGeom prst="rect">
            <a:avLst/>
          </a:prstGeom>
          <a:noFill/>
        </p:spPr>
        <p:txBody>
          <a:bodyPr wrap="square" lIns="0" tIns="0" rIns="0" bIns="0" anchor="ctr">
            <a:spAutoFit/>
          </a:bodyPr>
          <a:lstStyle/>
          <a:p>
            <a:pPr algn="l">
              <a:spcBef>
                <a:spcPts val="0"/>
              </a:spcBef>
              <a:spcAft>
                <a:spcPts val="500"/>
              </a:spcAft>
            </a:pPr>
            <a:r>
              <a:rPr sz="1200" b="1" i="0">
                <a:solidFill>
                  <a:srgbClr val="2B2B2B"/>
                </a:solidFill>
                <a:latin typeface="Calibri"/>
              </a:rPr>
              <a:t>Vegetation</a:t>
            </a:r>
          </a:p>
        </p:txBody>
      </p:sp>
      <p:sp>
        <p:nvSpPr>
          <p:cNvPr id="23" name="Rectangle 22"/>
          <p:cNvSpPr/>
          <p:nvPr/>
        </p:nvSpPr>
        <p:spPr>
          <a:xfrm>
            <a:off x="2971800" y="2688336"/>
            <a:ext cx="1143000" cy="566928"/>
          </a:xfrm>
          <a:prstGeom prst="rect">
            <a:avLst/>
          </a:prstGeom>
          <a:solidFill>
            <a:srgbClr val="F2ECE0"/>
          </a:solidFill>
          <a:ln w="9525">
            <a:solidFill>
              <a:srgbClr val="E3D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3108960" y="2688336"/>
            <a:ext cx="914400" cy="566928"/>
          </a:xfrm>
          <a:prstGeom prst="rect">
            <a:avLst/>
          </a:prstGeom>
          <a:noFill/>
        </p:spPr>
        <p:txBody>
          <a:bodyPr wrap="square" lIns="0" tIns="0" rIns="0" bIns="0" anchor="ctr">
            <a:spAutoFit/>
          </a:bodyPr>
          <a:lstStyle/>
          <a:p>
            <a:pPr algn="l">
              <a:spcBef>
                <a:spcPts val="0"/>
              </a:spcBef>
              <a:spcAft>
                <a:spcPts val="500"/>
              </a:spcAft>
            </a:pPr>
            <a:r>
              <a:rPr sz="1150" b="1" i="0">
                <a:solidFill>
                  <a:srgbClr val="B85042"/>
                </a:solidFill>
                <a:latin typeface="Calibri"/>
              </a:rPr>
              <a:t>Custom</a:t>
            </a:r>
          </a:p>
        </p:txBody>
      </p:sp>
      <p:sp>
        <p:nvSpPr>
          <p:cNvPr id="25" name="Rectangle 24"/>
          <p:cNvSpPr/>
          <p:nvPr/>
        </p:nvSpPr>
        <p:spPr>
          <a:xfrm>
            <a:off x="4114800" y="2688336"/>
            <a:ext cx="5605272" cy="566928"/>
          </a:xfrm>
          <a:prstGeom prst="rect">
            <a:avLst/>
          </a:prstGeom>
          <a:solidFill>
            <a:srgbClr val="F2ECE0"/>
          </a:solidFill>
          <a:ln w="9525">
            <a:solidFill>
              <a:srgbClr val="E3D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251960" y="2688336"/>
            <a:ext cx="5376672" cy="566928"/>
          </a:xfrm>
          <a:prstGeom prst="rect">
            <a:avLst/>
          </a:prstGeom>
          <a:noFill/>
        </p:spPr>
        <p:txBody>
          <a:bodyPr wrap="square" lIns="0" tIns="0" rIns="0" bIns="0" anchor="ctr">
            <a:spAutoFit/>
          </a:bodyPr>
          <a:lstStyle/>
          <a:p>
            <a:pPr algn="l">
              <a:spcBef>
                <a:spcPts val="0"/>
              </a:spcBef>
              <a:spcAft>
                <a:spcPts val="500"/>
              </a:spcAft>
            </a:pPr>
            <a:r>
              <a:rPr sz="1150" b="0" i="0">
                <a:solidFill>
                  <a:srgbClr val="2B2B2B"/>
                </a:solidFill>
                <a:latin typeface="Calibri"/>
              </a:rPr>
              <a:t>Plants tune erosion — Landlab's veg models biomass instead</a:t>
            </a:r>
          </a:p>
        </p:txBody>
      </p:sp>
      <p:sp>
        <p:nvSpPr>
          <p:cNvPr id="27" name="Rectangle 26"/>
          <p:cNvSpPr/>
          <p:nvPr/>
        </p:nvSpPr>
        <p:spPr>
          <a:xfrm>
            <a:off x="9720072" y="2688336"/>
            <a:ext cx="1828800" cy="566928"/>
          </a:xfrm>
          <a:prstGeom prst="rect">
            <a:avLst/>
          </a:prstGeom>
          <a:solidFill>
            <a:srgbClr val="F2ECE0"/>
          </a:solidFill>
          <a:ln w="9525">
            <a:solidFill>
              <a:srgbClr val="E3D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857232" y="2688336"/>
            <a:ext cx="1600200" cy="566928"/>
          </a:xfrm>
          <a:prstGeom prst="rect">
            <a:avLst/>
          </a:prstGeom>
          <a:noFill/>
        </p:spPr>
        <p:txBody>
          <a:bodyPr wrap="square" lIns="0" tIns="0" rIns="0" bIns="0" anchor="ctr">
            <a:spAutoFit/>
          </a:bodyPr>
          <a:lstStyle/>
          <a:p>
            <a:pPr algn="l">
              <a:spcBef>
                <a:spcPts val="0"/>
              </a:spcBef>
              <a:spcAft>
                <a:spcPts val="500"/>
              </a:spcAft>
            </a:pPr>
            <a:r>
              <a:rPr sz="1100" b="0" i="0">
                <a:solidFill>
                  <a:srgbClr val="6E6A60"/>
                </a:solidFill>
                <a:latin typeface="Calibri"/>
              </a:rPr>
              <a:t>veg class</a:t>
            </a:r>
          </a:p>
        </p:txBody>
      </p:sp>
      <p:sp>
        <p:nvSpPr>
          <p:cNvPr id="29" name="Rectangle 28"/>
          <p:cNvSpPr/>
          <p:nvPr/>
        </p:nvSpPr>
        <p:spPr>
          <a:xfrm>
            <a:off x="640080" y="3255263"/>
            <a:ext cx="2331720" cy="566928"/>
          </a:xfrm>
          <a:prstGeom prst="rect">
            <a:avLst/>
          </a:prstGeom>
          <a:solidFill>
            <a:srgbClr val="FBF8F2"/>
          </a:solidFill>
          <a:ln w="9525">
            <a:solidFill>
              <a:srgbClr val="E3D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77240" y="3255263"/>
            <a:ext cx="2103120" cy="566928"/>
          </a:xfrm>
          <a:prstGeom prst="rect">
            <a:avLst/>
          </a:prstGeom>
          <a:noFill/>
        </p:spPr>
        <p:txBody>
          <a:bodyPr wrap="square" lIns="0" tIns="0" rIns="0" bIns="0" anchor="ctr">
            <a:spAutoFit/>
          </a:bodyPr>
          <a:lstStyle/>
          <a:p>
            <a:pPr algn="l">
              <a:spcBef>
                <a:spcPts val="0"/>
              </a:spcBef>
              <a:spcAft>
                <a:spcPts val="500"/>
              </a:spcAft>
            </a:pPr>
            <a:r>
              <a:rPr sz="1200" b="1" i="0">
                <a:solidFill>
                  <a:srgbClr val="2B2B2B"/>
                </a:solidFill>
                <a:latin typeface="Calibri"/>
              </a:rPr>
              <a:t>Flow Accumulator</a:t>
            </a:r>
          </a:p>
        </p:txBody>
      </p:sp>
      <p:sp>
        <p:nvSpPr>
          <p:cNvPr id="31" name="Rectangle 30"/>
          <p:cNvSpPr/>
          <p:nvPr/>
        </p:nvSpPr>
        <p:spPr>
          <a:xfrm>
            <a:off x="2971800" y="3255263"/>
            <a:ext cx="1143000" cy="566928"/>
          </a:xfrm>
          <a:prstGeom prst="rect">
            <a:avLst/>
          </a:prstGeom>
          <a:solidFill>
            <a:srgbClr val="FBF8F2"/>
          </a:solidFill>
          <a:ln w="9525">
            <a:solidFill>
              <a:srgbClr val="E3D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108960" y="3255263"/>
            <a:ext cx="914400" cy="566928"/>
          </a:xfrm>
          <a:prstGeom prst="rect">
            <a:avLst/>
          </a:prstGeom>
          <a:noFill/>
        </p:spPr>
        <p:txBody>
          <a:bodyPr wrap="square" lIns="0" tIns="0" rIns="0" bIns="0" anchor="ctr">
            <a:spAutoFit/>
          </a:bodyPr>
          <a:lstStyle/>
          <a:p>
            <a:pPr algn="l">
              <a:spcBef>
                <a:spcPts val="0"/>
              </a:spcBef>
              <a:spcAft>
                <a:spcPts val="500"/>
              </a:spcAft>
            </a:pPr>
            <a:r>
              <a:rPr sz="1150" b="1" i="0">
                <a:solidFill>
                  <a:srgbClr val="6B8E5A"/>
                </a:solidFill>
                <a:latin typeface="Calibri"/>
              </a:rPr>
              <a:t>Landlab</a:t>
            </a:r>
          </a:p>
        </p:txBody>
      </p:sp>
      <p:sp>
        <p:nvSpPr>
          <p:cNvPr id="33" name="Rectangle 32"/>
          <p:cNvSpPr/>
          <p:nvPr/>
        </p:nvSpPr>
        <p:spPr>
          <a:xfrm>
            <a:off x="4114800" y="3255263"/>
            <a:ext cx="5605272" cy="566928"/>
          </a:xfrm>
          <a:prstGeom prst="rect">
            <a:avLst/>
          </a:prstGeom>
          <a:solidFill>
            <a:srgbClr val="FBF8F2"/>
          </a:solidFill>
          <a:ln w="9525">
            <a:solidFill>
              <a:srgbClr val="E3D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4251960" y="3255263"/>
            <a:ext cx="5376672" cy="566928"/>
          </a:xfrm>
          <a:prstGeom prst="rect">
            <a:avLst/>
          </a:prstGeom>
          <a:noFill/>
        </p:spPr>
        <p:txBody>
          <a:bodyPr wrap="square" lIns="0" tIns="0" rIns="0" bIns="0" anchor="ctr">
            <a:spAutoFit/>
          </a:bodyPr>
          <a:lstStyle/>
          <a:p>
            <a:pPr algn="l">
              <a:spcBef>
                <a:spcPts val="0"/>
              </a:spcBef>
              <a:spcAft>
                <a:spcPts val="500"/>
              </a:spcAft>
            </a:pPr>
            <a:r>
              <a:rPr sz="1150" b="0" i="0">
                <a:solidFill>
                  <a:srgbClr val="2B2B2B"/>
                </a:solidFill>
                <a:latin typeface="Calibri"/>
              </a:rPr>
              <a:t>Routes water downhill, finds the rivers</a:t>
            </a:r>
          </a:p>
        </p:txBody>
      </p:sp>
      <p:sp>
        <p:nvSpPr>
          <p:cNvPr id="35" name="Rectangle 34"/>
          <p:cNvSpPr/>
          <p:nvPr/>
        </p:nvSpPr>
        <p:spPr>
          <a:xfrm>
            <a:off x="9720072" y="3255263"/>
            <a:ext cx="1828800" cy="566928"/>
          </a:xfrm>
          <a:prstGeom prst="rect">
            <a:avLst/>
          </a:prstGeom>
          <a:solidFill>
            <a:srgbClr val="FBF8F2"/>
          </a:solidFill>
          <a:ln w="9525">
            <a:solidFill>
              <a:srgbClr val="E3D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9857232" y="3255263"/>
            <a:ext cx="1600200" cy="566928"/>
          </a:xfrm>
          <a:prstGeom prst="rect">
            <a:avLst/>
          </a:prstGeom>
          <a:noFill/>
        </p:spPr>
        <p:txBody>
          <a:bodyPr wrap="square" lIns="0" tIns="0" rIns="0" bIns="0" anchor="ctr">
            <a:spAutoFit/>
          </a:bodyPr>
          <a:lstStyle/>
          <a:p>
            <a:pPr algn="l">
              <a:spcBef>
                <a:spcPts val="0"/>
              </a:spcBef>
              <a:spcAft>
                <a:spcPts val="500"/>
              </a:spcAft>
            </a:pPr>
            <a:r>
              <a:rPr sz="1100" b="0" i="0">
                <a:solidFill>
                  <a:srgbClr val="6E6A60"/>
                </a:solidFill>
                <a:latin typeface="Calibri"/>
              </a:rPr>
              <a:t>flow_director</a:t>
            </a:r>
          </a:p>
        </p:txBody>
      </p:sp>
      <p:sp>
        <p:nvSpPr>
          <p:cNvPr id="37" name="Rectangle 36"/>
          <p:cNvSpPr/>
          <p:nvPr/>
        </p:nvSpPr>
        <p:spPr>
          <a:xfrm>
            <a:off x="640080" y="3822191"/>
            <a:ext cx="2331720" cy="566928"/>
          </a:xfrm>
          <a:prstGeom prst="rect">
            <a:avLst/>
          </a:prstGeom>
          <a:solidFill>
            <a:srgbClr val="F2ECE0"/>
          </a:solidFill>
          <a:ln w="9525">
            <a:solidFill>
              <a:srgbClr val="E3D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777240" y="3822191"/>
            <a:ext cx="2103120" cy="566928"/>
          </a:xfrm>
          <a:prstGeom prst="rect">
            <a:avLst/>
          </a:prstGeom>
          <a:noFill/>
        </p:spPr>
        <p:txBody>
          <a:bodyPr wrap="square" lIns="0" tIns="0" rIns="0" bIns="0" anchor="ctr">
            <a:spAutoFit/>
          </a:bodyPr>
          <a:lstStyle/>
          <a:p>
            <a:pPr algn="l">
              <a:spcBef>
                <a:spcPts val="0"/>
              </a:spcBef>
              <a:spcAft>
                <a:spcPts val="500"/>
              </a:spcAft>
            </a:pPr>
            <a:r>
              <a:rPr sz="1200" b="1" i="0">
                <a:solidFill>
                  <a:srgbClr val="2B2B2B"/>
                </a:solidFill>
                <a:latin typeface="Calibri"/>
              </a:rPr>
              <a:t>Diffuser</a:t>
            </a:r>
          </a:p>
        </p:txBody>
      </p:sp>
      <p:sp>
        <p:nvSpPr>
          <p:cNvPr id="39" name="Rectangle 38"/>
          <p:cNvSpPr/>
          <p:nvPr/>
        </p:nvSpPr>
        <p:spPr>
          <a:xfrm>
            <a:off x="2971800" y="3822191"/>
            <a:ext cx="1143000" cy="566928"/>
          </a:xfrm>
          <a:prstGeom prst="rect">
            <a:avLst/>
          </a:prstGeom>
          <a:solidFill>
            <a:srgbClr val="F2ECE0"/>
          </a:solidFill>
          <a:ln w="9525">
            <a:solidFill>
              <a:srgbClr val="E3D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3108960" y="3822191"/>
            <a:ext cx="914400" cy="566928"/>
          </a:xfrm>
          <a:prstGeom prst="rect">
            <a:avLst/>
          </a:prstGeom>
          <a:noFill/>
        </p:spPr>
        <p:txBody>
          <a:bodyPr wrap="square" lIns="0" tIns="0" rIns="0" bIns="0" anchor="ctr">
            <a:spAutoFit/>
          </a:bodyPr>
          <a:lstStyle/>
          <a:p>
            <a:pPr algn="l">
              <a:spcBef>
                <a:spcPts val="0"/>
              </a:spcBef>
              <a:spcAft>
                <a:spcPts val="500"/>
              </a:spcAft>
            </a:pPr>
            <a:r>
              <a:rPr sz="1150" b="1" i="0">
                <a:solidFill>
                  <a:srgbClr val="6B8E5A"/>
                </a:solidFill>
                <a:latin typeface="Calibri"/>
              </a:rPr>
              <a:t>Landlab</a:t>
            </a:r>
          </a:p>
        </p:txBody>
      </p:sp>
      <p:sp>
        <p:nvSpPr>
          <p:cNvPr id="41" name="Rectangle 40"/>
          <p:cNvSpPr/>
          <p:nvPr/>
        </p:nvSpPr>
        <p:spPr>
          <a:xfrm>
            <a:off x="4114800" y="3822191"/>
            <a:ext cx="5605272" cy="566928"/>
          </a:xfrm>
          <a:prstGeom prst="rect">
            <a:avLst/>
          </a:prstGeom>
          <a:solidFill>
            <a:srgbClr val="F2ECE0"/>
          </a:solidFill>
          <a:ln w="9525">
            <a:solidFill>
              <a:srgbClr val="E3D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4251960" y="3822191"/>
            <a:ext cx="5376672" cy="566928"/>
          </a:xfrm>
          <a:prstGeom prst="rect">
            <a:avLst/>
          </a:prstGeom>
          <a:noFill/>
        </p:spPr>
        <p:txBody>
          <a:bodyPr wrap="square" lIns="0" tIns="0" rIns="0" bIns="0" anchor="ctr">
            <a:spAutoFit/>
          </a:bodyPr>
          <a:lstStyle/>
          <a:p>
            <a:pPr algn="l">
              <a:spcBef>
                <a:spcPts val="0"/>
              </a:spcBef>
              <a:spcAft>
                <a:spcPts val="500"/>
              </a:spcAft>
            </a:pPr>
            <a:r>
              <a:rPr sz="1150" b="0" i="0">
                <a:solidFill>
                  <a:srgbClr val="2B2B2B"/>
                </a:solidFill>
                <a:latin typeface="Calibri"/>
              </a:rPr>
              <a:t>Soil slowly creeps down slopes</a:t>
            </a:r>
          </a:p>
        </p:txBody>
      </p:sp>
      <p:sp>
        <p:nvSpPr>
          <p:cNvPr id="43" name="Rectangle 42"/>
          <p:cNvSpPr/>
          <p:nvPr/>
        </p:nvSpPr>
        <p:spPr>
          <a:xfrm>
            <a:off x="9720072" y="3822191"/>
            <a:ext cx="1828800" cy="566928"/>
          </a:xfrm>
          <a:prstGeom prst="rect">
            <a:avLst/>
          </a:prstGeom>
          <a:solidFill>
            <a:srgbClr val="F2ECE0"/>
          </a:solidFill>
          <a:ln w="9525">
            <a:solidFill>
              <a:srgbClr val="E3D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9857232" y="3822191"/>
            <a:ext cx="1600200" cy="566928"/>
          </a:xfrm>
          <a:prstGeom prst="rect">
            <a:avLst/>
          </a:prstGeom>
          <a:noFill/>
        </p:spPr>
        <p:txBody>
          <a:bodyPr wrap="square" lIns="0" tIns="0" rIns="0" bIns="0" anchor="ctr">
            <a:spAutoFit/>
          </a:bodyPr>
          <a:lstStyle/>
          <a:p>
            <a:pPr algn="l">
              <a:spcBef>
                <a:spcPts val="0"/>
              </a:spcBef>
              <a:spcAft>
                <a:spcPts val="500"/>
              </a:spcAft>
            </a:pPr>
            <a:r>
              <a:rPr sz="1100" b="0" i="0">
                <a:solidFill>
                  <a:srgbClr val="6E6A60"/>
                </a:solidFill>
                <a:latin typeface="Calibri"/>
              </a:rPr>
              <a:t>linear_diffusivity</a:t>
            </a:r>
          </a:p>
        </p:txBody>
      </p:sp>
      <p:sp>
        <p:nvSpPr>
          <p:cNvPr id="45" name="Rectangle 44"/>
          <p:cNvSpPr/>
          <p:nvPr/>
        </p:nvSpPr>
        <p:spPr>
          <a:xfrm>
            <a:off x="640080" y="4389120"/>
            <a:ext cx="2331720" cy="566928"/>
          </a:xfrm>
          <a:prstGeom prst="rect">
            <a:avLst/>
          </a:prstGeom>
          <a:solidFill>
            <a:srgbClr val="FBF8F2"/>
          </a:solidFill>
          <a:ln w="9525">
            <a:solidFill>
              <a:srgbClr val="E3D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777240" y="4389120"/>
            <a:ext cx="2103120" cy="566928"/>
          </a:xfrm>
          <a:prstGeom prst="rect">
            <a:avLst/>
          </a:prstGeom>
          <a:noFill/>
        </p:spPr>
        <p:txBody>
          <a:bodyPr wrap="square" lIns="0" tIns="0" rIns="0" bIns="0" anchor="ctr">
            <a:spAutoFit/>
          </a:bodyPr>
          <a:lstStyle/>
          <a:p>
            <a:pPr algn="l">
              <a:spcBef>
                <a:spcPts val="0"/>
              </a:spcBef>
              <a:spcAft>
                <a:spcPts val="500"/>
              </a:spcAft>
            </a:pPr>
            <a:r>
              <a:rPr sz="1200" b="1" i="0">
                <a:solidFill>
                  <a:srgbClr val="2B2B2B"/>
                </a:solidFill>
                <a:latin typeface="Calibri"/>
              </a:rPr>
              <a:t>SPACE Eroder</a:t>
            </a:r>
          </a:p>
        </p:txBody>
      </p:sp>
      <p:sp>
        <p:nvSpPr>
          <p:cNvPr id="47" name="Rectangle 46"/>
          <p:cNvSpPr/>
          <p:nvPr/>
        </p:nvSpPr>
        <p:spPr>
          <a:xfrm>
            <a:off x="2971800" y="4389120"/>
            <a:ext cx="1143000" cy="566928"/>
          </a:xfrm>
          <a:prstGeom prst="rect">
            <a:avLst/>
          </a:prstGeom>
          <a:solidFill>
            <a:srgbClr val="FBF8F2"/>
          </a:solidFill>
          <a:ln w="9525">
            <a:solidFill>
              <a:srgbClr val="E3D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3108960" y="4389120"/>
            <a:ext cx="914400" cy="566928"/>
          </a:xfrm>
          <a:prstGeom prst="rect">
            <a:avLst/>
          </a:prstGeom>
          <a:noFill/>
        </p:spPr>
        <p:txBody>
          <a:bodyPr wrap="square" lIns="0" tIns="0" rIns="0" bIns="0" anchor="ctr">
            <a:spAutoFit/>
          </a:bodyPr>
          <a:lstStyle/>
          <a:p>
            <a:pPr algn="l">
              <a:spcBef>
                <a:spcPts val="0"/>
              </a:spcBef>
              <a:spcAft>
                <a:spcPts val="500"/>
              </a:spcAft>
            </a:pPr>
            <a:r>
              <a:rPr sz="1150" b="1" i="0">
                <a:solidFill>
                  <a:srgbClr val="6B8E5A"/>
                </a:solidFill>
                <a:latin typeface="Calibri"/>
              </a:rPr>
              <a:t>Landlab</a:t>
            </a:r>
          </a:p>
        </p:txBody>
      </p:sp>
      <p:sp>
        <p:nvSpPr>
          <p:cNvPr id="49" name="Rectangle 48"/>
          <p:cNvSpPr/>
          <p:nvPr/>
        </p:nvSpPr>
        <p:spPr>
          <a:xfrm>
            <a:off x="4114800" y="4389120"/>
            <a:ext cx="5605272" cy="566928"/>
          </a:xfrm>
          <a:prstGeom prst="rect">
            <a:avLst/>
          </a:prstGeom>
          <a:solidFill>
            <a:srgbClr val="FBF8F2"/>
          </a:solidFill>
          <a:ln w="9525">
            <a:solidFill>
              <a:srgbClr val="E3D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4251960" y="4389120"/>
            <a:ext cx="5376672" cy="566928"/>
          </a:xfrm>
          <a:prstGeom prst="rect">
            <a:avLst/>
          </a:prstGeom>
          <a:noFill/>
        </p:spPr>
        <p:txBody>
          <a:bodyPr wrap="square" lIns="0" tIns="0" rIns="0" bIns="0" anchor="ctr">
            <a:spAutoFit/>
          </a:bodyPr>
          <a:lstStyle/>
          <a:p>
            <a:pPr algn="l">
              <a:spcBef>
                <a:spcPts val="0"/>
              </a:spcBef>
              <a:spcAft>
                <a:spcPts val="500"/>
              </a:spcAft>
            </a:pPr>
            <a:r>
              <a:rPr sz="1150" b="0" i="0">
                <a:solidFill>
                  <a:srgbClr val="2B2B2B"/>
                </a:solidFill>
                <a:latin typeface="Calibri"/>
              </a:rPr>
              <a:t>Rivers carve rock &amp; move sediment</a:t>
            </a:r>
          </a:p>
        </p:txBody>
      </p:sp>
      <p:sp>
        <p:nvSpPr>
          <p:cNvPr id="51" name="Rectangle 50"/>
          <p:cNvSpPr/>
          <p:nvPr/>
        </p:nvSpPr>
        <p:spPr>
          <a:xfrm>
            <a:off x="9720072" y="4389120"/>
            <a:ext cx="1828800" cy="566928"/>
          </a:xfrm>
          <a:prstGeom prst="rect">
            <a:avLst/>
          </a:prstGeom>
          <a:solidFill>
            <a:srgbClr val="FBF8F2"/>
          </a:solidFill>
          <a:ln w="9525">
            <a:solidFill>
              <a:srgbClr val="E3D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9857232" y="4389120"/>
            <a:ext cx="1600200" cy="566928"/>
          </a:xfrm>
          <a:prstGeom prst="rect">
            <a:avLst/>
          </a:prstGeom>
          <a:noFill/>
        </p:spPr>
        <p:txBody>
          <a:bodyPr wrap="square" lIns="0" tIns="0" rIns="0" bIns="0" anchor="ctr">
            <a:spAutoFit/>
          </a:bodyPr>
          <a:lstStyle/>
          <a:p>
            <a:pPr algn="l">
              <a:spcBef>
                <a:spcPts val="0"/>
              </a:spcBef>
              <a:spcAft>
                <a:spcPts val="500"/>
              </a:spcAft>
            </a:pPr>
            <a:r>
              <a:rPr sz="1100" b="0" i="0">
                <a:solidFill>
                  <a:srgbClr val="6E6A60"/>
                </a:solidFill>
                <a:latin typeface="Calibri"/>
              </a:rPr>
              <a:t>K_br, K_sed</a:t>
            </a:r>
          </a:p>
        </p:txBody>
      </p:sp>
      <p:sp>
        <p:nvSpPr>
          <p:cNvPr id="53" name="Rectangle 52"/>
          <p:cNvSpPr/>
          <p:nvPr/>
        </p:nvSpPr>
        <p:spPr>
          <a:xfrm>
            <a:off x="640080" y="4956048"/>
            <a:ext cx="2331720" cy="566928"/>
          </a:xfrm>
          <a:prstGeom prst="rect">
            <a:avLst/>
          </a:prstGeom>
          <a:solidFill>
            <a:srgbClr val="F2ECE0"/>
          </a:solidFill>
          <a:ln w="9525">
            <a:solidFill>
              <a:srgbClr val="E3D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777240" y="4956048"/>
            <a:ext cx="2103120" cy="566928"/>
          </a:xfrm>
          <a:prstGeom prst="rect">
            <a:avLst/>
          </a:prstGeom>
          <a:noFill/>
        </p:spPr>
        <p:txBody>
          <a:bodyPr wrap="square" lIns="0" tIns="0" rIns="0" bIns="0" anchor="ctr">
            <a:spAutoFit/>
          </a:bodyPr>
          <a:lstStyle/>
          <a:p>
            <a:pPr algn="l">
              <a:spcBef>
                <a:spcPts val="0"/>
              </a:spcBef>
              <a:spcAft>
                <a:spcPts val="500"/>
              </a:spcAft>
            </a:pPr>
            <a:r>
              <a:rPr sz="1200" b="1" i="0">
                <a:solidFill>
                  <a:srgbClr val="2B2B2B"/>
                </a:solidFill>
                <a:latin typeface="Calibri"/>
              </a:rPr>
              <a:t>LithoLayers</a:t>
            </a:r>
          </a:p>
        </p:txBody>
      </p:sp>
      <p:sp>
        <p:nvSpPr>
          <p:cNvPr id="55" name="Rectangle 54"/>
          <p:cNvSpPr/>
          <p:nvPr/>
        </p:nvSpPr>
        <p:spPr>
          <a:xfrm>
            <a:off x="2971800" y="4956048"/>
            <a:ext cx="1143000" cy="566928"/>
          </a:xfrm>
          <a:prstGeom prst="rect">
            <a:avLst/>
          </a:prstGeom>
          <a:solidFill>
            <a:srgbClr val="F2ECE0"/>
          </a:solidFill>
          <a:ln w="9525">
            <a:solidFill>
              <a:srgbClr val="E3D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3108960" y="4956048"/>
            <a:ext cx="914400" cy="566928"/>
          </a:xfrm>
          <a:prstGeom prst="rect">
            <a:avLst/>
          </a:prstGeom>
          <a:noFill/>
        </p:spPr>
        <p:txBody>
          <a:bodyPr wrap="square" lIns="0" tIns="0" rIns="0" bIns="0" anchor="ctr">
            <a:spAutoFit/>
          </a:bodyPr>
          <a:lstStyle/>
          <a:p>
            <a:pPr algn="l">
              <a:spcBef>
                <a:spcPts val="0"/>
              </a:spcBef>
              <a:spcAft>
                <a:spcPts val="500"/>
              </a:spcAft>
            </a:pPr>
            <a:r>
              <a:rPr sz="1150" b="1" i="0">
                <a:solidFill>
                  <a:srgbClr val="6B8E5A"/>
                </a:solidFill>
                <a:latin typeface="Calibri"/>
              </a:rPr>
              <a:t>Landlab</a:t>
            </a:r>
          </a:p>
        </p:txBody>
      </p:sp>
      <p:sp>
        <p:nvSpPr>
          <p:cNvPr id="57" name="Rectangle 56"/>
          <p:cNvSpPr/>
          <p:nvPr/>
        </p:nvSpPr>
        <p:spPr>
          <a:xfrm>
            <a:off x="4114800" y="4956048"/>
            <a:ext cx="5605272" cy="566928"/>
          </a:xfrm>
          <a:prstGeom prst="rect">
            <a:avLst/>
          </a:prstGeom>
          <a:solidFill>
            <a:srgbClr val="F2ECE0"/>
          </a:solidFill>
          <a:ln w="9525">
            <a:solidFill>
              <a:srgbClr val="E3D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4251960" y="4956048"/>
            <a:ext cx="5376672" cy="566928"/>
          </a:xfrm>
          <a:prstGeom prst="rect">
            <a:avLst/>
          </a:prstGeom>
          <a:noFill/>
        </p:spPr>
        <p:txBody>
          <a:bodyPr wrap="square" lIns="0" tIns="0" rIns="0" bIns="0" anchor="ctr">
            <a:spAutoFit/>
          </a:bodyPr>
          <a:lstStyle/>
          <a:p>
            <a:pPr algn="l">
              <a:spcBef>
                <a:spcPts val="0"/>
              </a:spcBef>
              <a:spcAft>
                <a:spcPts val="500"/>
              </a:spcAft>
            </a:pPr>
            <a:r>
              <a:rPr sz="1150" b="0" i="0">
                <a:solidFill>
                  <a:srgbClr val="2B2B2B"/>
                </a:solidFill>
                <a:latin typeface="Calibri"/>
              </a:rPr>
              <a:t>Exposes layered rock of different hardness</a:t>
            </a:r>
          </a:p>
        </p:txBody>
      </p:sp>
      <p:sp>
        <p:nvSpPr>
          <p:cNvPr id="59" name="Rectangle 58"/>
          <p:cNvSpPr/>
          <p:nvPr/>
        </p:nvSpPr>
        <p:spPr>
          <a:xfrm>
            <a:off x="9720072" y="4956048"/>
            <a:ext cx="1828800" cy="566928"/>
          </a:xfrm>
          <a:prstGeom prst="rect">
            <a:avLst/>
          </a:prstGeom>
          <a:solidFill>
            <a:srgbClr val="F2ECE0"/>
          </a:solidFill>
          <a:ln w="9525">
            <a:solidFill>
              <a:srgbClr val="E3D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9857232" y="4956048"/>
            <a:ext cx="1600200" cy="566928"/>
          </a:xfrm>
          <a:prstGeom prst="rect">
            <a:avLst/>
          </a:prstGeom>
          <a:noFill/>
        </p:spPr>
        <p:txBody>
          <a:bodyPr wrap="square" lIns="0" tIns="0" rIns="0" bIns="0" anchor="ctr">
            <a:spAutoFit/>
          </a:bodyPr>
          <a:lstStyle/>
          <a:p>
            <a:pPr algn="l">
              <a:spcBef>
                <a:spcPts val="0"/>
              </a:spcBef>
              <a:spcAft>
                <a:spcPts val="500"/>
              </a:spcAft>
            </a:pPr>
            <a:r>
              <a:rPr sz="1100" b="0" i="0">
                <a:solidFill>
                  <a:srgbClr val="6E6A60"/>
                </a:solidFill>
                <a:latin typeface="Calibri"/>
              </a:rPr>
              <a:t>z0s, ids</a:t>
            </a:r>
          </a:p>
        </p:txBody>
      </p:sp>
      <p:sp>
        <p:nvSpPr>
          <p:cNvPr id="61" name="Rectangle 60"/>
          <p:cNvSpPr/>
          <p:nvPr/>
        </p:nvSpPr>
        <p:spPr>
          <a:xfrm>
            <a:off x="640080" y="5522976"/>
            <a:ext cx="2331720" cy="566928"/>
          </a:xfrm>
          <a:prstGeom prst="rect">
            <a:avLst/>
          </a:prstGeom>
          <a:solidFill>
            <a:srgbClr val="FBF8F2"/>
          </a:solidFill>
          <a:ln w="9525">
            <a:solidFill>
              <a:srgbClr val="E3D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777240" y="5522976"/>
            <a:ext cx="2103120" cy="566928"/>
          </a:xfrm>
          <a:prstGeom prst="rect">
            <a:avLst/>
          </a:prstGeom>
          <a:noFill/>
        </p:spPr>
        <p:txBody>
          <a:bodyPr wrap="square" lIns="0" tIns="0" rIns="0" bIns="0" anchor="ctr">
            <a:spAutoFit/>
          </a:bodyPr>
          <a:lstStyle/>
          <a:p>
            <a:pPr algn="l">
              <a:spcBef>
                <a:spcPts val="0"/>
              </a:spcBef>
              <a:spcAft>
                <a:spcPts val="500"/>
              </a:spcAft>
            </a:pPr>
            <a:r>
              <a:rPr sz="1200" b="1" i="0">
                <a:solidFill>
                  <a:srgbClr val="2B2B2B"/>
                </a:solidFill>
                <a:latin typeface="Calibri"/>
              </a:rPr>
              <a:t>Tectonics</a:t>
            </a:r>
          </a:p>
        </p:txBody>
      </p:sp>
      <p:sp>
        <p:nvSpPr>
          <p:cNvPr id="63" name="Rectangle 62"/>
          <p:cNvSpPr/>
          <p:nvPr/>
        </p:nvSpPr>
        <p:spPr>
          <a:xfrm>
            <a:off x="2971800" y="5522976"/>
            <a:ext cx="1143000" cy="566928"/>
          </a:xfrm>
          <a:prstGeom prst="rect">
            <a:avLst/>
          </a:prstGeom>
          <a:solidFill>
            <a:srgbClr val="FBF8F2"/>
          </a:solidFill>
          <a:ln w="9525">
            <a:solidFill>
              <a:srgbClr val="E3D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3108960" y="5522976"/>
            <a:ext cx="914400" cy="566928"/>
          </a:xfrm>
          <a:prstGeom prst="rect">
            <a:avLst/>
          </a:prstGeom>
          <a:noFill/>
        </p:spPr>
        <p:txBody>
          <a:bodyPr wrap="square" lIns="0" tIns="0" rIns="0" bIns="0" anchor="ctr">
            <a:spAutoFit/>
          </a:bodyPr>
          <a:lstStyle/>
          <a:p>
            <a:pPr algn="l">
              <a:spcBef>
                <a:spcPts val="0"/>
              </a:spcBef>
              <a:spcAft>
                <a:spcPts val="500"/>
              </a:spcAft>
            </a:pPr>
            <a:r>
              <a:rPr sz="1150" b="1" i="0">
                <a:solidFill>
                  <a:srgbClr val="B85042"/>
                </a:solidFill>
                <a:latin typeface="Calibri"/>
              </a:rPr>
              <a:t>Custom</a:t>
            </a:r>
          </a:p>
        </p:txBody>
      </p:sp>
      <p:sp>
        <p:nvSpPr>
          <p:cNvPr id="65" name="Rectangle 64"/>
          <p:cNvSpPr/>
          <p:nvPr/>
        </p:nvSpPr>
        <p:spPr>
          <a:xfrm>
            <a:off x="4114800" y="5522976"/>
            <a:ext cx="5605272" cy="566928"/>
          </a:xfrm>
          <a:prstGeom prst="rect">
            <a:avLst/>
          </a:prstGeom>
          <a:solidFill>
            <a:srgbClr val="FBF8F2"/>
          </a:solidFill>
          <a:ln w="9525">
            <a:solidFill>
              <a:srgbClr val="E3D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4251960" y="5522976"/>
            <a:ext cx="5376672" cy="566928"/>
          </a:xfrm>
          <a:prstGeom prst="rect">
            <a:avLst/>
          </a:prstGeom>
          <a:noFill/>
        </p:spPr>
        <p:txBody>
          <a:bodyPr wrap="square" lIns="0" tIns="0" rIns="0" bIns="0" anchor="ctr">
            <a:spAutoFit/>
          </a:bodyPr>
          <a:lstStyle/>
          <a:p>
            <a:pPr algn="l">
              <a:spcBef>
                <a:spcPts val="0"/>
              </a:spcBef>
              <a:spcAft>
                <a:spcPts val="500"/>
              </a:spcAft>
            </a:pPr>
            <a:r>
              <a:rPr sz="1150" b="0" i="0">
                <a:solidFill>
                  <a:srgbClr val="2B2B2B"/>
                </a:solidFill>
                <a:latin typeface="Calibri"/>
              </a:rPr>
              <a:t>Raises the land — Landlab's tectonics model faults, not uplift rate</a:t>
            </a:r>
          </a:p>
        </p:txBody>
      </p:sp>
      <p:sp>
        <p:nvSpPr>
          <p:cNvPr id="67" name="Rectangle 66"/>
          <p:cNvSpPr/>
          <p:nvPr/>
        </p:nvSpPr>
        <p:spPr>
          <a:xfrm>
            <a:off x="9720072" y="5522976"/>
            <a:ext cx="1828800" cy="566928"/>
          </a:xfrm>
          <a:prstGeom prst="rect">
            <a:avLst/>
          </a:prstGeom>
          <a:solidFill>
            <a:srgbClr val="FBF8F2"/>
          </a:solidFill>
          <a:ln w="9525">
            <a:solidFill>
              <a:srgbClr val="E3D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9857232" y="5522976"/>
            <a:ext cx="1600200" cy="566928"/>
          </a:xfrm>
          <a:prstGeom prst="rect">
            <a:avLst/>
          </a:prstGeom>
          <a:noFill/>
        </p:spPr>
        <p:txBody>
          <a:bodyPr wrap="square" lIns="0" tIns="0" rIns="0" bIns="0" anchor="ctr">
            <a:spAutoFit/>
          </a:bodyPr>
          <a:lstStyle/>
          <a:p>
            <a:pPr algn="l">
              <a:spcBef>
                <a:spcPts val="0"/>
              </a:spcBef>
              <a:spcAft>
                <a:spcPts val="500"/>
              </a:spcAft>
            </a:pPr>
            <a:r>
              <a:rPr sz="1100" b="0" i="0">
                <a:solidFill>
                  <a:srgbClr val="6E6A60"/>
                </a:solidFill>
                <a:latin typeface="Calibri"/>
              </a:rPr>
              <a:t>uplift_rate</a:t>
            </a:r>
          </a:p>
        </p:txBody>
      </p:sp>
      <p:sp>
        <p:nvSpPr>
          <p:cNvPr id="69" name="TextBox 68"/>
          <p:cNvSpPr txBox="1"/>
          <p:nvPr/>
        </p:nvSpPr>
        <p:spPr>
          <a:xfrm>
            <a:off x="640080" y="6126480"/>
            <a:ext cx="10881360" cy="457200"/>
          </a:xfrm>
          <a:prstGeom prst="rect">
            <a:avLst/>
          </a:prstGeom>
          <a:noFill/>
        </p:spPr>
        <p:txBody>
          <a:bodyPr wrap="square" lIns="0" tIns="0" rIns="0" bIns="0" anchor="t">
            <a:spAutoFit/>
          </a:bodyPr>
          <a:lstStyle/>
          <a:p>
            <a:pPr algn="l">
              <a:spcBef>
                <a:spcPts val="0"/>
              </a:spcBef>
              <a:spcAft>
                <a:spcPts val="500"/>
              </a:spcAft>
            </a:pPr>
            <a:r>
              <a:rPr sz="1250" b="0" i="1">
                <a:solidFill>
                  <a:srgbClr val="6E6A60"/>
                </a:solidFill>
                <a:latin typeface="Calibri"/>
              </a:rPr>
              <a:t>Built mostly on Landlab; custom pieces cover the three jobs Landlab's own components don't fit — climate, vegetation, and uplift.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2C4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5760720"/>
            <a:ext cx="13258800" cy="365760"/>
          </a:xfrm>
          <a:prstGeom prst="rect">
            <a:avLst/>
          </a:prstGeom>
          <a:solidFill>
            <a:srgbClr val="6B8E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57200" y="6080760"/>
            <a:ext cx="13258800" cy="822960"/>
          </a:xfrm>
          <a:prstGeom prst="rect">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60" y="1325880"/>
            <a:ext cx="10515600" cy="457200"/>
          </a:xfrm>
          <a:prstGeom prst="rect">
            <a:avLst/>
          </a:prstGeom>
          <a:noFill/>
        </p:spPr>
        <p:txBody>
          <a:bodyPr wrap="square" lIns="0" tIns="0" rIns="0" bIns="0" anchor="t">
            <a:spAutoFit/>
          </a:bodyPr>
          <a:lstStyle/>
          <a:p>
            <a:pPr algn="l">
              <a:spcBef>
                <a:spcPts val="0"/>
              </a:spcBef>
              <a:spcAft>
                <a:spcPts val="500"/>
              </a:spcAft>
            </a:pPr>
            <a:r>
              <a:rPr sz="1500" b="1" i="0">
                <a:solidFill>
                  <a:srgbClr val="9CC486"/>
                </a:solidFill>
                <a:latin typeface="Calibri"/>
              </a:rPr>
              <a:t>THE WHOLE PICTURE</a:t>
            </a:r>
          </a:p>
        </p:txBody>
      </p:sp>
      <p:sp>
        <p:nvSpPr>
          <p:cNvPr id="6" name="TextBox 5"/>
          <p:cNvSpPr txBox="1"/>
          <p:nvPr/>
        </p:nvSpPr>
        <p:spPr>
          <a:xfrm>
            <a:off x="777240" y="1828800"/>
            <a:ext cx="10607040" cy="1463040"/>
          </a:xfrm>
          <a:prstGeom prst="rect">
            <a:avLst/>
          </a:prstGeom>
          <a:noFill/>
        </p:spPr>
        <p:txBody>
          <a:bodyPr wrap="square" lIns="0" tIns="0" rIns="0" bIns="0" anchor="t">
            <a:spAutoFit/>
          </a:bodyPr>
          <a:lstStyle/>
          <a:p>
            <a:pPr algn="l">
              <a:spcBef>
                <a:spcPts val="0"/>
              </a:spcBef>
              <a:spcAft>
                <a:spcPts val="500"/>
              </a:spcAft>
            </a:pPr>
            <a:r>
              <a:rPr sz="3000" b="1" i="0">
                <a:solidFill>
                  <a:srgbClr val="FFFFFF"/>
                </a:solidFill>
                <a:latin typeface="Calibri"/>
              </a:rPr>
              <a:t>Seven processes, one shared landscape,
stepped forward through time.</a:t>
            </a:r>
          </a:p>
        </p:txBody>
      </p:sp>
      <p:sp>
        <p:nvSpPr>
          <p:cNvPr id="7" name="Oval 6"/>
          <p:cNvSpPr/>
          <p:nvPr/>
        </p:nvSpPr>
        <p:spPr>
          <a:xfrm>
            <a:off x="868680" y="3694176"/>
            <a:ext cx="237744" cy="237744"/>
          </a:xfrm>
          <a:prstGeom prst="ellipse">
            <a:avLst/>
          </a:prstGeom>
          <a:solidFill>
            <a:srgbClr val="D984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298448" y="3657600"/>
            <a:ext cx="10058400" cy="411480"/>
          </a:xfrm>
          <a:prstGeom prst="rect">
            <a:avLst/>
          </a:prstGeom>
          <a:noFill/>
        </p:spPr>
        <p:txBody>
          <a:bodyPr wrap="square" lIns="0" tIns="0" rIns="0" bIns="0" anchor="t">
            <a:spAutoFit/>
          </a:bodyPr>
          <a:lstStyle/>
          <a:p>
            <a:pPr algn="l">
              <a:spcBef>
                <a:spcPts val="0"/>
              </a:spcBef>
              <a:spcAft>
                <a:spcPts val="500"/>
              </a:spcAft>
            </a:pPr>
            <a:r>
              <a:rPr sz="1500" b="0" i="0">
                <a:solidFill>
                  <a:srgbClr val="E7E3D7"/>
                </a:solidFill>
                <a:latin typeface="Calibri"/>
              </a:rPr>
              <a:t>One simple idea: erosion = softness × water × steepness</a:t>
            </a:r>
          </a:p>
        </p:txBody>
      </p:sp>
      <p:sp>
        <p:nvSpPr>
          <p:cNvPr id="9" name="Oval 8"/>
          <p:cNvSpPr/>
          <p:nvPr/>
        </p:nvSpPr>
        <p:spPr>
          <a:xfrm>
            <a:off x="868680" y="4169663"/>
            <a:ext cx="237744" cy="237744"/>
          </a:xfrm>
          <a:prstGeom prst="ellipse">
            <a:avLst/>
          </a:prstGeom>
          <a:solidFill>
            <a:srgbClr val="D984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298448" y="4133087"/>
            <a:ext cx="10058400" cy="411480"/>
          </a:xfrm>
          <a:prstGeom prst="rect">
            <a:avLst/>
          </a:prstGeom>
          <a:noFill/>
        </p:spPr>
        <p:txBody>
          <a:bodyPr wrap="square" lIns="0" tIns="0" rIns="0" bIns="0" anchor="t">
            <a:spAutoFit/>
          </a:bodyPr>
          <a:lstStyle/>
          <a:p>
            <a:pPr algn="l">
              <a:spcBef>
                <a:spcPts val="0"/>
              </a:spcBef>
              <a:spcAft>
                <a:spcPts val="500"/>
              </a:spcAft>
            </a:pPr>
            <a:r>
              <a:rPr sz="1500" b="0" i="0">
                <a:solidFill>
                  <a:srgbClr val="E7E3D7"/>
                </a:solidFill>
                <a:latin typeface="Calibri"/>
              </a:rPr>
              <a:t>Mostly Landlab: Flow, SPACE, Diffuser, Lithology</a:t>
            </a:r>
          </a:p>
        </p:txBody>
      </p:sp>
      <p:sp>
        <p:nvSpPr>
          <p:cNvPr id="11" name="Oval 10"/>
          <p:cNvSpPr/>
          <p:nvPr/>
        </p:nvSpPr>
        <p:spPr>
          <a:xfrm>
            <a:off x="868680" y="4645152"/>
            <a:ext cx="237744" cy="237744"/>
          </a:xfrm>
          <a:prstGeom prst="ellipse">
            <a:avLst/>
          </a:prstGeom>
          <a:solidFill>
            <a:srgbClr val="D984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298448" y="4608576"/>
            <a:ext cx="10058400" cy="411480"/>
          </a:xfrm>
          <a:prstGeom prst="rect">
            <a:avLst/>
          </a:prstGeom>
          <a:noFill/>
        </p:spPr>
        <p:txBody>
          <a:bodyPr wrap="square" lIns="0" tIns="0" rIns="0" bIns="0" anchor="t">
            <a:spAutoFit/>
          </a:bodyPr>
          <a:lstStyle/>
          <a:p>
            <a:pPr algn="l">
              <a:spcBef>
                <a:spcPts val="0"/>
              </a:spcBef>
              <a:spcAft>
                <a:spcPts val="500"/>
              </a:spcAft>
            </a:pPr>
            <a:r>
              <a:rPr sz="1500" b="0" i="0">
                <a:solidFill>
                  <a:srgbClr val="E7E3D7"/>
                </a:solidFill>
                <a:latin typeface="Calibri"/>
              </a:rPr>
              <a:t>Custom where Landlab's own pieces don't fit: rain, plants, uplift</a:t>
            </a:r>
          </a:p>
        </p:txBody>
      </p:sp>
      <p:sp>
        <p:nvSpPr>
          <p:cNvPr id="13" name="Oval 12"/>
          <p:cNvSpPr/>
          <p:nvPr/>
        </p:nvSpPr>
        <p:spPr>
          <a:xfrm>
            <a:off x="868680" y="5120640"/>
            <a:ext cx="237744" cy="237744"/>
          </a:xfrm>
          <a:prstGeom prst="ellipse">
            <a:avLst/>
          </a:prstGeom>
          <a:solidFill>
            <a:srgbClr val="D984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298448" y="5084064"/>
            <a:ext cx="10058400" cy="411480"/>
          </a:xfrm>
          <a:prstGeom prst="rect">
            <a:avLst/>
          </a:prstGeom>
          <a:noFill/>
        </p:spPr>
        <p:txBody>
          <a:bodyPr wrap="square" lIns="0" tIns="0" rIns="0" bIns="0" anchor="t">
            <a:spAutoFit/>
          </a:bodyPr>
          <a:lstStyle/>
          <a:p>
            <a:pPr algn="l">
              <a:spcBef>
                <a:spcPts val="0"/>
              </a:spcBef>
              <a:spcAft>
                <a:spcPts val="500"/>
              </a:spcAft>
            </a:pPr>
            <a:r>
              <a:rPr sz="1500" b="0" i="0">
                <a:solidFill>
                  <a:srgbClr val="E7E3D7"/>
                </a:solidFill>
                <a:latin typeface="Calibri"/>
              </a:rPr>
              <a:t>They never call each other — they share one landscape, in order</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2E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8229600" cy="365760"/>
          </a:xfrm>
          <a:prstGeom prst="rect">
            <a:avLst/>
          </a:prstGeom>
          <a:noFill/>
        </p:spPr>
        <p:txBody>
          <a:bodyPr wrap="square" lIns="0" tIns="0" rIns="0" bIns="0" anchor="t">
            <a:spAutoFit/>
          </a:bodyPr>
          <a:lstStyle/>
          <a:p>
            <a:pPr algn="l">
              <a:spcBef>
                <a:spcPts val="0"/>
              </a:spcBef>
              <a:spcAft>
                <a:spcPts val="500"/>
              </a:spcAft>
            </a:pPr>
            <a:r>
              <a:rPr sz="1250" b="1" i="0">
                <a:solidFill>
                  <a:srgbClr val="B85042"/>
                </a:solidFill>
                <a:latin typeface="Calibri"/>
              </a:rPr>
              <a:t>SOURCES</a:t>
            </a:r>
          </a:p>
        </p:txBody>
      </p:sp>
      <p:sp>
        <p:nvSpPr>
          <p:cNvPr id="4" name="TextBox 3"/>
          <p:cNvSpPr txBox="1"/>
          <p:nvPr/>
        </p:nvSpPr>
        <p:spPr>
          <a:xfrm>
            <a:off x="640080" y="676656"/>
            <a:ext cx="10515600" cy="777240"/>
          </a:xfrm>
          <a:prstGeom prst="rect">
            <a:avLst/>
          </a:prstGeom>
          <a:noFill/>
        </p:spPr>
        <p:txBody>
          <a:bodyPr wrap="square" lIns="0" tIns="0" rIns="0" bIns="0" anchor="t">
            <a:spAutoFit/>
          </a:bodyPr>
          <a:lstStyle/>
          <a:p>
            <a:pPr algn="l">
              <a:spcBef>
                <a:spcPts val="0"/>
              </a:spcBef>
              <a:spcAft>
                <a:spcPts val="500"/>
              </a:spcAft>
            </a:pPr>
            <a:r>
              <a:rPr sz="3100" b="1" i="0">
                <a:solidFill>
                  <a:srgbClr val="2C4A3E"/>
                </a:solidFill>
                <a:latin typeface="Calibri"/>
              </a:rPr>
              <a:t>References</a:t>
            </a:r>
          </a:p>
        </p:txBody>
      </p:sp>
      <p:sp>
        <p:nvSpPr>
          <p:cNvPr id="5" name="TextBox 4"/>
          <p:cNvSpPr txBox="1"/>
          <p:nvPr/>
        </p:nvSpPr>
        <p:spPr>
          <a:xfrm>
            <a:off x="640080" y="1554480"/>
            <a:ext cx="10972800" cy="310896"/>
          </a:xfrm>
          <a:prstGeom prst="rect">
            <a:avLst/>
          </a:prstGeom>
          <a:noFill/>
        </p:spPr>
        <p:txBody>
          <a:bodyPr wrap="square" lIns="0" tIns="0" rIns="0" bIns="0" anchor="t">
            <a:spAutoFit/>
          </a:bodyPr>
          <a:lstStyle/>
          <a:p>
            <a:pPr algn="l">
              <a:spcBef>
                <a:spcPts val="0"/>
              </a:spcBef>
              <a:spcAft>
                <a:spcPts val="500"/>
              </a:spcAft>
            </a:pPr>
            <a:r>
              <a:rPr sz="1250" b="1" i="0">
                <a:solidFill>
                  <a:srgbClr val="3E6B8C"/>
                </a:solidFill>
                <a:latin typeface="Calibri"/>
              </a:rPr>
              <a:t>LANDLAB FRAMEWORK</a:t>
            </a:r>
          </a:p>
        </p:txBody>
      </p:sp>
      <p:sp>
        <p:nvSpPr>
          <p:cNvPr id="6" name="TextBox 5"/>
          <p:cNvSpPr txBox="1"/>
          <p:nvPr/>
        </p:nvSpPr>
        <p:spPr>
          <a:xfrm>
            <a:off x="640080" y="1920240"/>
            <a:ext cx="10972800" cy="2743200"/>
          </a:xfrm>
          <a:prstGeom prst="rect">
            <a:avLst/>
          </a:prstGeom>
          <a:noFill/>
        </p:spPr>
        <p:txBody>
          <a:bodyPr wrap="square" lIns="0" tIns="0" rIns="0" bIns="0" anchor="t">
            <a:spAutoFit/>
          </a:bodyPr>
          <a:lstStyle/>
          <a:p>
            <a:pPr algn="l">
              <a:spcBef>
                <a:spcPts val="0"/>
              </a:spcBef>
              <a:spcAft>
                <a:spcPts val="700"/>
              </a:spcAft>
            </a:pPr>
            <a:r>
              <a:rPr sz="1150" b="0" i="0">
                <a:solidFill>
                  <a:srgbClr val="2B2B2B"/>
                </a:solidFill>
                <a:latin typeface="Calibri"/>
              </a:rPr>
              <a:t>Hobley, D.E.J. et al. (2017). Creative computing with Landlab. Earth Surf. Dynam. 5, 21–46.</a:t>
            </a:r>
          </a:p>
          <a:p>
            <a:pPr algn="l">
              <a:spcBef>
                <a:spcPts val="0"/>
              </a:spcBef>
              <a:spcAft>
                <a:spcPts val="700"/>
              </a:spcAft>
            </a:pPr>
            <a:r>
              <a:rPr sz="1150" b="0" i="0">
                <a:solidFill>
                  <a:srgbClr val="2B2B2B"/>
                </a:solidFill>
                <a:latin typeface="Calibri"/>
              </a:rPr>
              <a:t>Barnhart, K.R. et al. (2020). Landlab v2.0. Earth Surf. Dynam. 8, 379–397.</a:t>
            </a:r>
          </a:p>
        </p:txBody>
      </p:sp>
      <p:sp>
        <p:nvSpPr>
          <p:cNvPr id="7" name="TextBox 6"/>
          <p:cNvSpPr txBox="1"/>
          <p:nvPr/>
        </p:nvSpPr>
        <p:spPr>
          <a:xfrm>
            <a:off x="640080" y="2743200"/>
            <a:ext cx="10972800" cy="310896"/>
          </a:xfrm>
          <a:prstGeom prst="rect">
            <a:avLst/>
          </a:prstGeom>
          <a:noFill/>
        </p:spPr>
        <p:txBody>
          <a:bodyPr wrap="square" lIns="0" tIns="0" rIns="0" bIns="0" anchor="t">
            <a:spAutoFit/>
          </a:bodyPr>
          <a:lstStyle/>
          <a:p>
            <a:pPr algn="l">
              <a:spcBef>
                <a:spcPts val="0"/>
              </a:spcBef>
              <a:spcAft>
                <a:spcPts val="500"/>
              </a:spcAft>
            </a:pPr>
            <a:r>
              <a:rPr sz="1250" b="1" i="0">
                <a:solidFill>
                  <a:srgbClr val="3E6B8C"/>
                </a:solidFill>
                <a:latin typeface="Calibri"/>
              </a:rPr>
              <a:t>COMPONENTS USED</a:t>
            </a:r>
          </a:p>
        </p:txBody>
      </p:sp>
      <p:sp>
        <p:nvSpPr>
          <p:cNvPr id="8" name="TextBox 7"/>
          <p:cNvSpPr txBox="1"/>
          <p:nvPr/>
        </p:nvSpPr>
        <p:spPr>
          <a:xfrm>
            <a:off x="640080" y="3108960"/>
            <a:ext cx="10972800" cy="2743200"/>
          </a:xfrm>
          <a:prstGeom prst="rect">
            <a:avLst/>
          </a:prstGeom>
          <a:noFill/>
        </p:spPr>
        <p:txBody>
          <a:bodyPr wrap="square" lIns="0" tIns="0" rIns="0" bIns="0" anchor="t">
            <a:spAutoFit/>
          </a:bodyPr>
          <a:lstStyle/>
          <a:p>
            <a:pPr algn="l">
              <a:spcBef>
                <a:spcPts val="0"/>
              </a:spcBef>
              <a:spcAft>
                <a:spcPts val="700"/>
              </a:spcAft>
            </a:pPr>
            <a:r>
              <a:rPr sz="1150" b="0" i="0">
                <a:solidFill>
                  <a:srgbClr val="2B2B2B"/>
                </a:solidFill>
                <a:latin typeface="Calibri"/>
              </a:rPr>
              <a:t>Shobe, C.M., Tucker, G.E. &amp; Barnhart, K.R. (2017). The SPACE 1.0 model. Geosci. Model Dev. 10, 4577–4604.   [SPACE eroder]</a:t>
            </a:r>
          </a:p>
          <a:p>
            <a:pPr algn="l">
              <a:spcBef>
                <a:spcPts val="0"/>
              </a:spcBef>
              <a:spcAft>
                <a:spcPts val="700"/>
              </a:spcAft>
            </a:pPr>
            <a:r>
              <a:rPr sz="1150" b="0" i="0">
                <a:solidFill>
                  <a:srgbClr val="2B2B2B"/>
                </a:solidFill>
                <a:latin typeface="Calibri"/>
              </a:rPr>
              <a:t>Barnes, R., Lehman, C. &amp; Mulla, D. (2014). Priority-flood depression filling. Computers &amp; Geosciences 62, 117–127.   [LakeMapperBarnes]</a:t>
            </a:r>
          </a:p>
          <a:p>
            <a:pPr algn="l">
              <a:spcBef>
                <a:spcPts val="0"/>
              </a:spcBef>
              <a:spcAft>
                <a:spcPts val="700"/>
              </a:spcAft>
            </a:pPr>
            <a:r>
              <a:rPr sz="1150" b="0" i="0">
                <a:solidFill>
                  <a:srgbClr val="2B2B2B"/>
                </a:solidFill>
                <a:latin typeface="Calibri"/>
              </a:rPr>
              <a:t>Barnhart, K.R., Glade, R.C., Shobe, C.M. &amp; Tucker, G.E. (2018). Lithology Landlab submodule. J. Open Source Softw. 3(30), 979.   [LithoLayers]</a:t>
            </a:r>
          </a:p>
          <a:p>
            <a:pPr algn="l">
              <a:spcBef>
                <a:spcPts val="0"/>
              </a:spcBef>
              <a:spcAft>
                <a:spcPts val="700"/>
              </a:spcAft>
            </a:pPr>
            <a:r>
              <a:rPr sz="1150" b="0" i="0">
                <a:solidFill>
                  <a:srgbClr val="2B2B2B"/>
                </a:solidFill>
                <a:latin typeface="Calibri"/>
              </a:rPr>
              <a:t>Johnstone, S.A. &amp; Hilley, G.E. (2015). Lithologic control on hillslope form. Geology 43(1), 83–86.   [DepthDependentDiffuser]</a:t>
            </a:r>
          </a:p>
          <a:p>
            <a:pPr algn="l">
              <a:spcBef>
                <a:spcPts val="0"/>
              </a:spcBef>
              <a:spcAft>
                <a:spcPts val="700"/>
              </a:spcAft>
            </a:pPr>
            <a:r>
              <a:rPr sz="1150" b="0" i="0">
                <a:solidFill>
                  <a:srgbClr val="2B2B2B"/>
                </a:solidFill>
                <a:latin typeface="Calibri"/>
              </a:rPr>
              <a:t>Barnhart, K.R., Glade, R.C., Shobe, C.M. &amp; Tucker, G.E. (2019). terrainbento 1.0. Geosci. Model Dev. 12, 1267–1297.   [parameter defaults]</a:t>
            </a:r>
          </a:p>
        </p:txBody>
      </p:sp>
      <p:sp>
        <p:nvSpPr>
          <p:cNvPr id="9" name="TextBox 8"/>
          <p:cNvSpPr txBox="1"/>
          <p:nvPr/>
        </p:nvSpPr>
        <p:spPr>
          <a:xfrm>
            <a:off x="640080" y="5166360"/>
            <a:ext cx="10972800" cy="310896"/>
          </a:xfrm>
          <a:prstGeom prst="rect">
            <a:avLst/>
          </a:prstGeom>
          <a:noFill/>
        </p:spPr>
        <p:txBody>
          <a:bodyPr wrap="square" lIns="0" tIns="0" rIns="0" bIns="0" anchor="t">
            <a:spAutoFit/>
          </a:bodyPr>
          <a:lstStyle/>
          <a:p>
            <a:pPr algn="l">
              <a:spcBef>
                <a:spcPts val="0"/>
              </a:spcBef>
              <a:spcAft>
                <a:spcPts val="500"/>
              </a:spcAft>
            </a:pPr>
            <a:r>
              <a:rPr sz="1250" b="1" i="0">
                <a:solidFill>
                  <a:srgbClr val="3E6B8C"/>
                </a:solidFill>
                <a:latin typeface="Calibri"/>
              </a:rPr>
              <a:t>THEORY &amp; STANDARD PARAMETER VALUES</a:t>
            </a:r>
          </a:p>
        </p:txBody>
      </p:sp>
      <p:sp>
        <p:nvSpPr>
          <p:cNvPr id="10" name="TextBox 9"/>
          <p:cNvSpPr txBox="1"/>
          <p:nvPr/>
        </p:nvSpPr>
        <p:spPr>
          <a:xfrm>
            <a:off x="640080" y="5532120"/>
            <a:ext cx="10972800" cy="2743200"/>
          </a:xfrm>
          <a:prstGeom prst="rect">
            <a:avLst/>
          </a:prstGeom>
          <a:noFill/>
        </p:spPr>
        <p:txBody>
          <a:bodyPr wrap="square" lIns="0" tIns="0" rIns="0" bIns="0" anchor="t">
            <a:spAutoFit/>
          </a:bodyPr>
          <a:lstStyle/>
          <a:p>
            <a:pPr algn="l">
              <a:spcBef>
                <a:spcPts val="0"/>
              </a:spcBef>
              <a:spcAft>
                <a:spcPts val="700"/>
              </a:spcAft>
            </a:pPr>
            <a:r>
              <a:rPr sz="1150" b="0" i="0">
                <a:solidFill>
                  <a:srgbClr val="2B2B2B"/>
                </a:solidFill>
                <a:latin typeface="Calibri"/>
              </a:rPr>
              <a:t>Howard, A.D. (1994). A detachment-limited model of drainage-basin evolution. Water Resour. Res. 30(7), 2261–2285.</a:t>
            </a:r>
          </a:p>
          <a:p>
            <a:pPr algn="l">
              <a:spcBef>
                <a:spcPts val="0"/>
              </a:spcBef>
              <a:spcAft>
                <a:spcPts val="700"/>
              </a:spcAft>
            </a:pPr>
            <a:r>
              <a:rPr sz="1150" b="0" i="0">
                <a:solidFill>
                  <a:srgbClr val="2B2B2B"/>
                </a:solidFill>
                <a:latin typeface="Calibri"/>
              </a:rPr>
              <a:t>Whipple, K.X. &amp; Tucker, G.E. (1999). Dynamics of the stream-power incision model. J. Geophys. Res. 104(B8), 17661–17674.</a:t>
            </a:r>
          </a:p>
          <a:p>
            <a:pPr algn="l">
              <a:spcBef>
                <a:spcPts val="0"/>
              </a:spcBef>
              <a:spcAft>
                <a:spcPts val="700"/>
              </a:spcAft>
            </a:pPr>
            <a:r>
              <a:rPr sz="1150" b="0" i="0">
                <a:solidFill>
                  <a:srgbClr val="2B2B2B"/>
                </a:solidFill>
                <a:latin typeface="Calibri"/>
              </a:rPr>
              <a:t>Wobus, C. et al. (2006). Tectonics from topography. GSA Special Paper 398, 55–74.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3950</Words>
  <Application>Microsoft Macintosh PowerPoint</Application>
  <PresentationFormat>Widescreen</PresentationFormat>
  <Paragraphs>419</Paragraphs>
  <Slides>18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Vinuri Piyathilake</cp:lastModifiedBy>
  <cp:revision>2</cp:revision>
  <dcterms:created xsi:type="dcterms:W3CDTF">2013-01-27T09:14:16Z</dcterms:created>
  <dcterms:modified xsi:type="dcterms:W3CDTF">2026-06-23T06:34:32Z</dcterms:modified>
  <cp:category/>
</cp:coreProperties>
</file>