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EFEL adds three linked processes to LandEvolve: a slowly slipping fault, earthquakes on it, and the landslides those earthquakes trigger. This deck explains each with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part feeds the next: the fault defines where earthquakes can happen, and earthquakes trigger the landslides.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old Tectonic Uplift process only raised the land at a constant rate. EFEL replaces that with the real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panel: how fast the ground rises between earthquakes. Bottom: the fault plane underground. The block above the plane (hanging wall) is pushed up along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depth zones matter later: earthquakes can only start in the middle zone. EFEL uses the okada4py solver for Okada's elastic-dislocation equations.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the Tectonics animation is built from: uplift as colour, sideways motion as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sideways shift uses a numerical advection scheme (a conveyor belt). The reference surface is deformed identically but never eroded.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a steady uplift rate is a simplification: real landscapes feel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catalogue is generated once, then each quake is applied in the time step it falls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Scaling from Leonard (2014). A deeper earthquake zone widens the fault and raises the cap, but only once the fault is long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Colour shows depth of the fault plane. The dotted lines mark the earthquake zone (1 to 8 km deep in this run).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EFEL plot from the BT28 run. Distances are in metres from the DEM's west and north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 3 and 4 follow Newmark's sliding-block method, as used for coseismic landslides by Jibson (2007).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Newmark idea: a block stays put until acceleration exceeds a threshold. Each excursion above it slides the block a little; the total is the permanent displacement.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Upper rows: what the earthquake delivers. Lower rows: what the slope can resist.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 from a run on the BT28 DEM resampled to 4 m: cohesion 10 kPa, friction 45 degrees, wetness 0.3, threshold 5 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earthquake and landslide steps do nothing in time steps without an earthquake.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earthquakes are far from your DEM, a diamond is pinned to the map edge instead of a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a short (8 km) fault the biggest possible quake is Mw 5.7 whatever the depth, because length is the limit. Depth only helps once the fault is long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model simplifications, not bugs, but worth knowing when you read the maps.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Figures on the fault, quake-size and shaking slides come from EFEL and Landlab code run for this deck; result figures come from the BT28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812779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58A66"/>
                </a:solidFill>
                <a:latin typeface="Arial"/>
              </a:rPr>
              <a:t>LANDEVOLVE · EXPLAINER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779" y="2412939"/>
            <a:ext cx="888977" cy="50798"/>
          </a:xfrm>
          <a:prstGeom prst="rect">
            <a:avLst/>
          </a:prstGeom>
          <a:solidFill>
            <a:srgbClr val="E58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2779" y="2666933"/>
            <a:ext cx="10566135" cy="1396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0" b="1">
                <a:solidFill>
                  <a:srgbClr val="F6F3EC"/>
                </a:solidFill>
                <a:latin typeface="Georgia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779" y="4063898"/>
            <a:ext cx="8254793" cy="8889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C9D3D6"/>
                </a:solidFill>
                <a:latin typeface="Arial"/>
              </a:rPr>
              <a:t>Faults, earthquakes and landslides in a landscape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" y="5968850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A9B7BD"/>
                </a:solidFill>
                <a:latin typeface="Arial"/>
              </a:rPr>
              <a:t>Figures from EFEL itself and from a run on the BT28 LiDAR DEM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Three parts, one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" y="2031949"/>
            <a:ext cx="3047923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773" y="2285942"/>
            <a:ext cx="2539936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773" y="2603434"/>
            <a:ext cx="2539936" cy="444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F2A2E"/>
                </a:solidFill>
                <a:latin typeface="Georgia"/>
              </a:rPr>
              <a:t>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73" y="3174920"/>
            <a:ext cx="2539936" cy="8889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F2A2E"/>
                </a:solidFill>
                <a:latin typeface="Arial"/>
              </a:rPr>
              <a:t>A crack that slowly slips, all the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73" y="4127396"/>
            <a:ext cx="2539936" cy="76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6B73"/>
                </a:solidFill>
                <a:latin typeface="Arial"/>
              </a:rPr>
              <a:t>Lifts and shifts the land a little every year.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3099" y="3397165"/>
            <a:ext cx="406389" cy="279393"/>
          </a:xfrm>
          <a:prstGeom prst="rightArrow">
            <a:avLst/>
          </a:prstGeom>
          <a:solidFill>
            <a:srgbClr val="C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1885" y="2031949"/>
            <a:ext cx="3047923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5879" y="2285942"/>
            <a:ext cx="2539936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5879" y="2603434"/>
            <a:ext cx="2539936" cy="444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F2A2E"/>
                </a:solidFill>
                <a:latin typeface="Georgia"/>
              </a:rPr>
              <a:t>Earthquakes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5879" y="3174920"/>
            <a:ext cx="2539936" cy="8889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F2A2E"/>
                </a:solidFill>
                <a:latin typeface="Arial"/>
              </a:rPr>
              <a:t>The same slip, released in sudden jumps.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5879" y="4127396"/>
            <a:ext cx="2539936" cy="76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6B73"/>
                </a:solidFill>
                <a:latin typeface="Arial"/>
              </a:rPr>
              <a:t>Steps in height and position, a few times a century.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72205" y="3397165"/>
            <a:ext cx="406389" cy="279393"/>
          </a:xfrm>
          <a:prstGeom prst="rightArrow">
            <a:avLst/>
          </a:prstGeom>
          <a:solidFill>
            <a:srgbClr val="C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30991" y="2031949"/>
            <a:ext cx="3047923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4985" y="2285942"/>
            <a:ext cx="2539936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84985" y="2603434"/>
            <a:ext cx="2539936" cy="444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F2A2E"/>
                </a:solidFill>
                <a:latin typeface="Georgia"/>
              </a:rPr>
              <a:t>Landslides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84985" y="3174920"/>
            <a:ext cx="2539936" cy="8889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F2A2E"/>
                </a:solidFill>
                <a:latin typeface="Arial"/>
              </a:rPr>
              <a:t>Shaking makes steep slopes fail.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4985" y="4127396"/>
            <a:ext cx="2539936" cy="76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6B73"/>
                </a:solidFill>
                <a:latin typeface="Arial"/>
              </a:rPr>
              <a:t>Soil and rock slide downhill and pile up below.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779" y="5397365"/>
            <a:ext cx="10566135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F7A78"/>
                </a:solidFill>
                <a:latin typeface="Arial"/>
              </a:rPr>
              <a:t>EFEL</a:t>
            </a:r>
            <a:r>
              <a:rPr sz="1700" b="0">
                <a:solidFill>
                  <a:srgbClr val="5B6B73"/>
                </a:solidFill>
                <a:latin typeface="Arial"/>
              </a:rPr>
              <a:t> = Elastic Fault, Earthquake and Landslide: components for the Landlab modelling toolkit, written by A. Forte (LSU).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WHY BOTHER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What a fault adds to a landscape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" y="2158946"/>
            <a:ext cx="3384465" cy="2920926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2172" y="2438339"/>
            <a:ext cx="2825679" cy="1079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F2A2E"/>
                </a:solidFill>
                <a:latin typeface="Georgia"/>
              </a:rPr>
              <a:t>Uplift isn't only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172" y="3682907"/>
            <a:ext cx="2825679" cy="126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F2A2E"/>
                </a:solidFill>
                <a:latin typeface="Arial"/>
              </a:rPr>
              <a:t>Faulting also moves land sideways. A simple uplift rate misses that.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0439" y="2158946"/>
            <a:ext cx="3384465" cy="2920926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833" y="2438339"/>
            <a:ext cx="2825679" cy="1079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F2A2E"/>
                </a:solidFill>
                <a:latin typeface="Georgia"/>
              </a:rPr>
              <a:t>Real faults jerk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9833" y="3682907"/>
            <a:ext cx="2825679" cy="126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F2A2E"/>
                </a:solidFill>
                <a:latin typeface="Arial"/>
              </a:rPr>
              <a:t>Much of the slip happens in earthquakes, not as a steady creep.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8100" y="2158946"/>
            <a:ext cx="3384465" cy="2920926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493" y="2438339"/>
            <a:ext cx="2825679" cy="1079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F2A2E"/>
                </a:solidFill>
                <a:latin typeface="Georgia"/>
              </a:rPr>
              <a:t>Shaking makes sediment pulses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493" y="3682907"/>
            <a:ext cx="2825679" cy="126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F2A2E"/>
                </a:solidFill>
                <a:latin typeface="Arial"/>
              </a:rPr>
              <a:t>One earthquake can drop years' worth of debris into the rivers.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1 · THE 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A crack in the ground that slowly slips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" y="2158946"/>
            <a:ext cx="3809904" cy="3301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900" b="1">
                <a:solidFill>
                  <a:srgbClr val="C2542D"/>
                </a:solidFill>
                <a:latin typeface="Arial"/>
              </a:rPr>
              <a:t>Strike</a:t>
            </a:r>
            <a:r>
              <a:rPr sz="1900" b="0">
                <a:solidFill>
                  <a:srgbClr val="1F2A2E"/>
                </a:solidFill>
                <a:latin typeface="Arial"/>
              </a:rPr>
              <a:t> the direction the crack runs.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900" b="1">
                <a:solidFill>
                  <a:srgbClr val="C2542D"/>
                </a:solidFill>
                <a:latin typeface="Arial"/>
              </a:rPr>
              <a:t>Dip</a:t>
            </a:r>
            <a:r>
              <a:rPr sz="1900" b="0">
                <a:solidFill>
                  <a:srgbClr val="1F2A2E"/>
                </a:solidFill>
                <a:latin typeface="Arial"/>
              </a:rPr>
              <a:t> how steeply it tilts under the land.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900" b="1">
                <a:solidFill>
                  <a:srgbClr val="C2542D"/>
                </a:solidFill>
                <a:latin typeface="Arial"/>
              </a:rPr>
              <a:t>Hanging wall</a:t>
            </a:r>
            <a:r>
              <a:rPr sz="1900" b="0">
                <a:solidFill>
                  <a:srgbClr val="1F2A2E"/>
                </a:solidFill>
                <a:latin typeface="Arial"/>
              </a:rPr>
              <a:t> the block above the fault plane.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900" b="1">
                <a:solidFill>
                  <a:srgbClr val="C2542D"/>
                </a:solidFill>
                <a:latin typeface="Arial"/>
              </a:rPr>
              <a:t>Footwall</a:t>
            </a:r>
            <a:r>
              <a:rPr sz="1900" b="0">
                <a:solidFill>
                  <a:srgbClr val="1F2A2E"/>
                </a:solidFill>
                <a:latin typeface="Arial"/>
              </a:rPr>
              <a:t> the block below it.</a:t>
            </a:r>
          </a:p>
          <a:p>
            <a:pPr algn="l">
              <a:lnSpc>
                <a:spcPct val="115000"/>
              </a:lnSpc>
            </a:pPr>
            <a:r>
              <a:rPr sz="1900" b="1">
                <a:solidFill>
                  <a:srgbClr val="C2542D"/>
                </a:solidFill>
                <a:latin typeface="Arial"/>
              </a:rPr>
              <a:t>Slip rate</a:t>
            </a:r>
            <a:r>
              <a:rPr sz="1900" b="0">
                <a:solidFill>
                  <a:srgbClr val="1F2A2E"/>
                </a:solidFill>
                <a:latin typeface="Arial"/>
              </a:rPr>
              <a:t> how fast the two sides slide past each other.</a:t>
            </a:r>
          </a:p>
        </p:txBody>
      </p:sp>
      <p:pic>
        <p:nvPicPr>
          <p:cNvPr id="7" name="Picture 6" descr="fault_section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374" y="1904952"/>
            <a:ext cx="6095847" cy="378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16374" y="5754691"/>
            <a:ext cx="6095847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Real EFEL output: a 30° thrust fault slipping 5 mm per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1 · THE 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The ground behaves like a stretched rubber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" y="2285942"/>
            <a:ext cx="5206869" cy="3301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100" b="0">
                <a:solidFill>
                  <a:srgbClr val="1F2A2E"/>
                </a:solidFill>
                <a:latin typeface="Arial"/>
              </a:rPr>
              <a:t>Rock bends before it breaks, so the ground keeps moving between earthquakes.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100" b="0">
                <a:solidFill>
                  <a:srgbClr val="1F2A2E"/>
                </a:solidFill>
                <a:latin typeface="Arial"/>
              </a:rPr>
              <a:t>Near the surface the fault sticks; deeper down it slides smoothly.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100" b="0">
                <a:solidFill>
                  <a:srgbClr val="1F2A2E"/>
                </a:solidFill>
                <a:latin typeface="Arial"/>
              </a:rPr>
              <a:t>The stuck part drags the ground above it up and sideways.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1F7A78"/>
                </a:solidFill>
                <a:latin typeface="Arial"/>
              </a:rPr>
              <a:t>Okada (1992)</a:t>
            </a:r>
            <a:r>
              <a:rPr sz="2100" b="0">
                <a:solidFill>
                  <a:srgbClr val="1F2A2E"/>
                </a:solidFill>
                <a:latin typeface="Arial"/>
              </a:rPr>
              <a:t> gives the maths: fault in, ground motion at every cell out.</a:t>
            </a:r>
          </a:p>
        </p:txBody>
      </p:sp>
      <p:pic>
        <p:nvPicPr>
          <p:cNvPr id="7" name="Picture 6" descr="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336" y="1841453"/>
            <a:ext cx="4825879" cy="38918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1 · THE 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What a thrust fault does to the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okada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79" y="1841453"/>
            <a:ext cx="5079873" cy="40638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243" y="2222444"/>
            <a:ext cx="5130671" cy="3301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1">
                <a:solidFill>
                  <a:srgbClr val="2166AC"/>
                </a:solidFill>
                <a:latin typeface="Arial"/>
              </a:rPr>
              <a:t>Blue</a:t>
            </a:r>
            <a:r>
              <a:rPr sz="2000" b="0">
                <a:solidFill>
                  <a:srgbClr val="1F2A2E"/>
                </a:solidFill>
                <a:latin typeface="Arial"/>
              </a:rPr>
              <a:t>: land rising. </a:t>
            </a:r>
            <a:r>
              <a:rPr sz="2000" b="1">
                <a:solidFill>
                  <a:srgbClr val="C2542D"/>
                </a:solidFill>
                <a:latin typeface="Arial"/>
              </a:rPr>
              <a:t>Red</a:t>
            </a:r>
            <a:r>
              <a:rPr sz="2000" b="0">
                <a:solidFill>
                  <a:srgbClr val="1F2A2E"/>
                </a:solidFill>
                <a:latin typeface="Arial"/>
              </a:rPr>
              <a:t>: land sinking.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1">
                <a:solidFill>
                  <a:srgbClr val="1F2A2E"/>
                </a:solidFill>
                <a:latin typeface="Arial"/>
              </a:rPr>
              <a:t>Arrows</a:t>
            </a:r>
            <a:r>
              <a:rPr sz="2000" b="0">
                <a:solidFill>
                  <a:srgbClr val="1F2A2E"/>
                </a:solidFill>
                <a:latin typeface="Arial"/>
              </a:rPr>
              <a:t>: the land also slides sideways, toward the fault.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0">
                <a:solidFill>
                  <a:srgbClr val="1F2A2E"/>
                </a:solidFill>
                <a:latin typeface="Arial"/>
              </a:rPr>
              <a:t>The biggest uplift is above the fault's deep part, not at the surface trace.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F2A2E"/>
                </a:solidFill>
                <a:latin typeface="Arial"/>
              </a:rPr>
              <a:t>A plain uplift rate can't show any of this.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8243" y="5524361"/>
            <a:ext cx="5130671" cy="38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Real EFEL output: 20 km fault, 30° dip, 5 mm per year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1 · THE 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How the terrain is moved each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" y="1968450"/>
            <a:ext cx="3384465" cy="2222444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773" y="2158946"/>
            <a:ext cx="634984" cy="444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C2542D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773" y="2730431"/>
            <a:ext cx="2857428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F2A2E"/>
                </a:solidFill>
                <a:latin typeface="Arial"/>
              </a:rPr>
              <a:t>Ask the 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73" y="3111422"/>
            <a:ext cx="2857428" cy="76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EFEL gives the up and sideways motion for every cell.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0439" y="1968450"/>
            <a:ext cx="3384465" cy="2222444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433" y="2158946"/>
            <a:ext cx="634984" cy="444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C2542D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433" y="2730431"/>
            <a:ext cx="2857428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F2A2E"/>
                </a:solidFill>
                <a:latin typeface="Arial"/>
              </a:rPr>
              <a:t>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433" y="3111422"/>
            <a:ext cx="2857428" cy="76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Raise the terrain by the vertical part.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8100" y="1968450"/>
            <a:ext cx="3384465" cy="2222444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2093" y="2158946"/>
            <a:ext cx="634984" cy="444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C2542D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2093" y="2730431"/>
            <a:ext cx="2857428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F2A2E"/>
                </a:solidFill>
                <a:latin typeface="Arial"/>
              </a:rPr>
              <a:t>Slide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2093" y="3111422"/>
            <a:ext cx="2857428" cy="76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Shift the terrain sideways by the horizontal part.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" y="4444888"/>
            <a:ext cx="10566135" cy="1460463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2700">
            <a:solidFill>
              <a:srgbClr val="E9D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" y="4609984"/>
            <a:ext cx="10032749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F2A2E"/>
                </a:solidFill>
                <a:latin typeface="Arial"/>
              </a:rPr>
              <a:t>The catch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172" y="4990975"/>
            <a:ext cx="10032749" cy="82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Erosion maps would show this movement as fake erosion. LandEvolve keeps a copy of the DEM that only tectonics moves, and subtracts it, so erosion maps show erosion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2 · EARTHQUAKES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The same slip, in sudden jumps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" y="2412939"/>
            <a:ext cx="3555911" cy="2666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400"/>
              </a:spcAft>
            </a:pPr>
            <a:r>
              <a:rPr sz="2100" b="0">
                <a:solidFill>
                  <a:srgbClr val="1F2A2E"/>
                </a:solidFill>
                <a:latin typeface="Arial"/>
              </a:rPr>
              <a:t>The fault loads up slowly, then slips in one jump.</a:t>
            </a:r>
          </a:p>
          <a:p>
            <a:pPr algn="l">
              <a:lnSpc>
                <a:spcPct val="115000"/>
              </a:lnSpc>
              <a:spcAft>
                <a:spcPts val="2400"/>
              </a:spcAft>
            </a:pPr>
            <a:r>
              <a:rPr sz="2100" b="0">
                <a:solidFill>
                  <a:srgbClr val="1F2A2E"/>
                </a:solidFill>
                <a:latin typeface="Arial"/>
              </a:rPr>
              <a:t>Over decades the total is similar to steady creep. The rhythm is what changes.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1F2A2E"/>
                </a:solidFill>
                <a:latin typeface="Arial"/>
              </a:rPr>
              <a:t>Each jump lifts and shifts the land in a single time step.</a:t>
            </a:r>
          </a:p>
        </p:txBody>
      </p:sp>
      <p:pic>
        <p:nvPicPr>
          <p:cNvPr id="7" name="Picture 6" descr="sawtoo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281" y="2095447"/>
            <a:ext cx="6603834" cy="33693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24281" y="5515549"/>
            <a:ext cx="6603834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Illustration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2 · EARTHQUAKES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The quake catalogue is made before the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catalog_si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3" y="1841453"/>
            <a:ext cx="6095847" cy="23355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47923" y="4227826"/>
            <a:ext cx="6095847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Real catalogue from the BT28 run: 300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779" y="4635384"/>
            <a:ext cx="3403514" cy="1206469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5974" y="4800479"/>
            <a:ext cx="2997125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A2E"/>
                </a:solidFill>
                <a:latin typeface="Arial"/>
              </a:rPr>
              <a:t>Many small, few large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" y="5181470"/>
            <a:ext cx="299712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2E"/>
                </a:solidFill>
                <a:latin typeface="Arial"/>
              </a:rPr>
              <a:t>Like real catalogues.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4090" y="4635384"/>
            <a:ext cx="3403514" cy="1206469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85" y="4800479"/>
            <a:ext cx="2997125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A2E"/>
                </a:solidFill>
                <a:latin typeface="Arial"/>
              </a:rPr>
              <a:t>Matches the slip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85" y="5181470"/>
            <a:ext cx="299712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2E"/>
                </a:solidFill>
                <a:latin typeface="Arial"/>
              </a:rPr>
              <a:t>Total quake energy fits the fault's slip.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5400" y="4635384"/>
            <a:ext cx="3403514" cy="1206469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8595" y="4800479"/>
            <a:ext cx="2997125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A2E"/>
                </a:solidFill>
                <a:latin typeface="Arial"/>
              </a:rPr>
              <a:t>Timing you choose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595" y="5181470"/>
            <a:ext cx="299712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2E"/>
                </a:solidFill>
                <a:latin typeface="Arial"/>
              </a:rPr>
              <a:t>Random or clustered; aftershocks optional.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2 · EARTHQUAKES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How big can a quake be? The fault decides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" y="2412939"/>
            <a:ext cx="4190895" cy="2920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0">
                <a:solidFill>
                  <a:srgbClr val="1F2A2E"/>
                </a:solidFill>
                <a:latin typeface="Arial"/>
              </a:rPr>
              <a:t>Bigger rupture patch, bigger earthquake.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0">
                <a:solidFill>
                  <a:srgbClr val="1F2A2E"/>
                </a:solidFill>
                <a:latin typeface="Arial"/>
              </a:rPr>
              <a:t>Capped by the fault's </a:t>
            </a:r>
            <a:r>
              <a:rPr sz="2000" b="1">
                <a:solidFill>
                  <a:srgbClr val="1F2A2E"/>
                </a:solidFill>
                <a:latin typeface="Arial"/>
              </a:rPr>
              <a:t>length</a:t>
            </a:r>
            <a:r>
              <a:rPr sz="2000" b="0">
                <a:solidFill>
                  <a:srgbClr val="1F2A2E"/>
                </a:solidFill>
                <a:latin typeface="Arial"/>
              </a:rPr>
              <a:t> and its </a:t>
            </a:r>
            <a:r>
              <a:rPr sz="2000" b="1">
                <a:solidFill>
                  <a:srgbClr val="1F2A2E"/>
                </a:solidFill>
                <a:latin typeface="Arial"/>
              </a:rPr>
              <a:t>width</a:t>
            </a:r>
            <a:r>
              <a:rPr sz="2000" b="0">
                <a:solidFill>
                  <a:srgbClr val="1F2A2E"/>
                </a:solidFill>
                <a:latin typeface="Arial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0">
                <a:solidFill>
                  <a:srgbClr val="1F2A2E"/>
                </a:solidFill>
                <a:latin typeface="Arial"/>
              </a:rPr>
              <a:t>Past about 12 km long, width is the limit.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F2A2E"/>
                </a:solidFill>
                <a:latin typeface="Arial"/>
              </a:rPr>
              <a:t>Too short, and no quake reaches your minimum size.</a:t>
            </a:r>
          </a:p>
        </p:txBody>
      </p:sp>
      <p:pic>
        <p:nvPicPr>
          <p:cNvPr id="7" name="Picture 6" descr="mag_leng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365" y="1968450"/>
            <a:ext cx="5968850" cy="3372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7365" y="5391481"/>
            <a:ext cx="5968850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Real EFEL numbers: 30° dip, earthquake zone 1 to 5 km deep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2 · EARTHQUAKES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Your DEM is a speck on the 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footprint_vs_d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936" y="1841453"/>
            <a:ext cx="7111822" cy="3105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9968" y="5137548"/>
            <a:ext cx="9651758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F2A2E"/>
                </a:solidFill>
                <a:latin typeface="Arial"/>
              </a:rPr>
              <a:t>An 8 km fault reaching about 10 km deep. Quakes can break any patch of it. The DEM feels them all as shaking: nearer means stronger.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2 · EARTHQUAKES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41 earthquakes, 41 patches of slip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" y="2108147"/>
            <a:ext cx="6857828" cy="33188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ptures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78" y="2158946"/>
            <a:ext cx="6756231" cy="32172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75400" y="2285942"/>
            <a:ext cx="3301917" cy="317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800" b="0">
                <a:solidFill>
                  <a:srgbClr val="1F2A2E"/>
                </a:solidFill>
                <a:latin typeface="Arial"/>
              </a:rPr>
              <a:t>Each green box is one earthquake's patch of slip.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800" b="0">
                <a:solidFill>
                  <a:srgbClr val="1F2A2E"/>
                </a:solidFill>
                <a:latin typeface="Arial"/>
              </a:rPr>
              <a:t>Dotted lines: blue above the quake zone, red inside it, black below.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800" b="0">
                <a:solidFill>
                  <a:srgbClr val="1F2A2E"/>
                </a:solidFill>
                <a:latin typeface="Arial"/>
              </a:rPr>
              <a:t>Small dot: where the rupture started.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1F2A2E"/>
                </a:solidFill>
                <a:latin typeface="Arial"/>
              </a:rPr>
              <a:t>The little box at the left is your DEM.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3 · LANDSLIDES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From shaking to sliding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" y="2031949"/>
            <a:ext cx="1991310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575" y="2209744"/>
            <a:ext cx="761980" cy="38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C2542D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" y="2666933"/>
            <a:ext cx="1635719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A2E"/>
                </a:solidFill>
                <a:latin typeface="Arial"/>
              </a:rPr>
              <a:t>Shaking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75" y="3492412"/>
            <a:ext cx="1635719" cy="1396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A2E"/>
                </a:solidFill>
                <a:latin typeface="Arial"/>
              </a:rPr>
              <a:t>How hard each cell shakes: size, distance, soil.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6486" y="2031949"/>
            <a:ext cx="1991310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4281" y="2209744"/>
            <a:ext cx="761980" cy="38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C2542D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4281" y="2666933"/>
            <a:ext cx="1635719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A2E"/>
                </a:solidFill>
                <a:latin typeface="Arial"/>
              </a:rPr>
              <a:t>Strength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4281" y="3492412"/>
            <a:ext cx="1635719" cy="1396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A2E"/>
                </a:solidFill>
                <a:latin typeface="Arial"/>
              </a:rPr>
              <a:t>How well the slope holds: steepness, cohesion, friction, wetness.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0192" y="2031949"/>
            <a:ext cx="1991310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7988" y="2209744"/>
            <a:ext cx="761980" cy="38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C2542D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988" y="2666933"/>
            <a:ext cx="1635719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A2E"/>
                </a:solidFill>
                <a:latin typeface="Arial"/>
              </a:rPr>
              <a:t>Breaking 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7988" y="3492412"/>
            <a:ext cx="1635719" cy="1396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A2E"/>
                </a:solidFill>
                <a:latin typeface="Arial"/>
              </a:rPr>
              <a:t>The shaking needed to start it sliding.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3898" y="2031949"/>
            <a:ext cx="1991310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1694" y="2209744"/>
            <a:ext cx="761980" cy="38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C2542D"/>
                </a:solidFill>
                <a:latin typeface="Georg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1694" y="2666933"/>
            <a:ext cx="1635719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A2E"/>
                </a:solidFill>
                <a:latin typeface="Arial"/>
              </a:rPr>
              <a:t>Slide distance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1694" y="3492412"/>
            <a:ext cx="1635719" cy="1396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A2E"/>
                </a:solidFill>
                <a:latin typeface="Arial"/>
              </a:rPr>
              <a:t>Add up the slip while shaking exceeds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05" y="2031949"/>
            <a:ext cx="1991310" cy="298442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65400" y="2209744"/>
            <a:ext cx="761980" cy="38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C2542D"/>
                </a:solidFill>
                <a:latin typeface="Georgia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65400" y="2666933"/>
            <a:ext cx="1635719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A2E"/>
                </a:solidFill>
                <a:latin typeface="Arial"/>
              </a:rPr>
              <a:t>Fail and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5400" y="3492412"/>
            <a:ext cx="1635719" cy="1396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A2E"/>
                </a:solidFill>
                <a:latin typeface="Arial"/>
              </a:rPr>
              <a:t>Cells that slide too far fail; debris runs downhill.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79" y="5270368"/>
            <a:ext cx="10566135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B6B73"/>
                </a:solidFill>
                <a:latin typeface="Arial"/>
              </a:rPr>
              <a:t>Debris routing uses Landlab's BedrockLandslider (Campforts et al., 2020).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3 · LANDSLIDES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Only strong shaking moves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new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6933" y="1841453"/>
            <a:ext cx="6857828" cy="282215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2779" y="4825879"/>
            <a:ext cx="3403514" cy="1142971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3274" y="5016374"/>
            <a:ext cx="3022524" cy="8889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Shaking pushes the block back and forth.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090" y="4825879"/>
            <a:ext cx="3403514" cy="1142971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4585" y="5016374"/>
            <a:ext cx="3022524" cy="8889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Only shaking above the breaking point moves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5400" y="4825879"/>
            <a:ext cx="3403514" cy="1142971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895" y="5016374"/>
            <a:ext cx="3022524" cy="8889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Add up those slips: more than about 5 cm and the cell fails.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3 · LANDSLIDES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What sets the shaking and the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12779" y="1904952"/>
          <a:ext cx="10566135" cy="373370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7195"/>
                <a:gridCol w="4226454"/>
                <a:gridCol w="3592486"/>
              </a:tblGrid>
              <a:tr h="533386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114297" marR="114297" marT="63498" marB="63498" anchor="ctr">
                    <a:solidFill>
                      <a:srgbClr val="1F7A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114297" marR="114297" marT="63498" marB="63498" anchor="ctr">
                    <a:solidFill>
                      <a:srgbClr val="1F7A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Arial"/>
                        </a:rPr>
                        <a:t>Setting in LandEvolve</a:t>
                      </a:r>
                    </a:p>
                  </a:txBody>
                  <a:tcPr marL="114297" marR="114297" marT="63498" marB="63498" anchor="ctr">
                    <a:solidFill>
                      <a:srgbClr val="1F7A7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1F2A2E"/>
                          </a:solidFill>
                          <a:latin typeface="Arial"/>
                        </a:rPr>
                        <a:t>Quake size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Bigger means stronger shaking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Smallest and largest earthquake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1F2A2E"/>
                          </a:solidFill>
                          <a:latin typeface="Arial"/>
                        </a:rPr>
                        <a:t>Distance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Nearer the rupture means stronger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Fault position and length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1F2A2E"/>
                          </a:solidFill>
                          <a:latin typeface="Arial"/>
                        </a:rPr>
                        <a:t>Soil stiffness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Soft ground shakes more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Vs30 method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1F2A2E"/>
                          </a:solidFill>
                          <a:latin typeface="Arial"/>
                        </a:rPr>
                        <a:t>Shaking model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Equations for your tectonic setting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Active, subduction or stable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1F2A2E"/>
                          </a:solidFill>
                          <a:latin typeface="Arial"/>
                        </a:rPr>
                        <a:t>Cohesion, friction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The strength holding the slope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Cohesion, friction angle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1F2A2E"/>
                          </a:solidFill>
                          <a:latin typeface="Arial"/>
                        </a:rPr>
                        <a:t>Wetness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Wet ground fails sooner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F2A2E"/>
                          </a:solidFill>
                          <a:latin typeface="Arial"/>
                        </a:rPr>
                        <a:t>Ground wetness, 0 to 1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3 · LANDSLIDES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On BT28: where the slides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" y="1854153"/>
            <a:ext cx="5498962" cy="387597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dslides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78" y="1904952"/>
            <a:ext cx="5397365" cy="37743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9234" y="2095447"/>
            <a:ext cx="4749681" cy="34289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1">
                <a:solidFill>
                  <a:srgbClr val="1F2A2E"/>
                </a:solidFill>
                <a:latin typeface="Arial"/>
              </a:rPr>
              <a:t>300 years</a:t>
            </a:r>
            <a:r>
              <a:rPr sz="2000" b="0">
                <a:solidFill>
                  <a:srgbClr val="1F2A2E"/>
                </a:solidFill>
                <a:latin typeface="Arial"/>
              </a:rPr>
              <a:t>, 41 earthquakes (Mw 5.0 to 5.7).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0">
                <a:solidFill>
                  <a:srgbClr val="1F2A2E"/>
                </a:solidFill>
                <a:latin typeface="Arial"/>
              </a:rPr>
              <a:t>About </a:t>
            </a:r>
            <a:r>
              <a:rPr sz="2000" b="1">
                <a:solidFill>
                  <a:srgbClr val="1F2A2E"/>
                </a:solidFill>
                <a:latin typeface="Arial"/>
              </a:rPr>
              <a:t>3,000 slides</a:t>
            </a:r>
            <a:r>
              <a:rPr sz="2000" b="0">
                <a:solidFill>
                  <a:srgbClr val="1F2A2E"/>
                </a:solidFill>
                <a:latin typeface="Arial"/>
              </a:rPr>
              <a:t> touched roughly </a:t>
            </a:r>
            <a:r>
              <a:rPr sz="2000" b="1">
                <a:solidFill>
                  <a:srgbClr val="1F2A2E"/>
                </a:solidFill>
                <a:latin typeface="Arial"/>
              </a:rPr>
              <a:t>27%</a:t>
            </a:r>
            <a:r>
              <a:rPr sz="2000" b="0">
                <a:solidFill>
                  <a:srgbClr val="1F2A2E"/>
                </a:solidFill>
                <a:latin typeface="Arial"/>
              </a:rPr>
              <a:t> of the DEM.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2000" b="1">
                <a:solidFill>
                  <a:srgbClr val="C2542D"/>
                </a:solidFill>
                <a:latin typeface="Arial"/>
              </a:rPr>
              <a:t>Red</a:t>
            </a:r>
            <a:r>
              <a:rPr sz="2000" b="0">
                <a:solidFill>
                  <a:srgbClr val="1F2A2E"/>
                </a:solidFill>
                <a:latin typeface="Arial"/>
              </a:rPr>
              <a:t>: scars where material was lost. </a:t>
            </a:r>
            <a:r>
              <a:rPr sz="2000" b="1">
                <a:solidFill>
                  <a:srgbClr val="2166AC"/>
                </a:solidFill>
                <a:latin typeface="Arial"/>
              </a:rPr>
              <a:t>Blue</a:t>
            </a:r>
            <a:r>
              <a:rPr sz="2000" b="0">
                <a:solidFill>
                  <a:srgbClr val="1F2A2E"/>
                </a:solidFill>
                <a:latin typeface="Arial"/>
              </a:rPr>
              <a:t>: debris piled below.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F2A2E"/>
                </a:solidFill>
                <a:latin typeface="Arial"/>
              </a:rPr>
              <a:t>Drier ground (wetness 0): about 950 slides, 15%.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234" y="5937101"/>
            <a:ext cx="4749681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4 m resolution test. Results depend on the settings.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IN LANDEVOLVE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What happens in each time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" y="1904952"/>
            <a:ext cx="2298642" cy="1396965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575" y="2095447"/>
            <a:ext cx="1943051" cy="507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F2A2E"/>
                </a:solidFill>
                <a:latin typeface="Arial"/>
              </a:rPr>
              <a:t>Rivers and slopes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" y="2666933"/>
            <a:ext cx="1943051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6B73"/>
                </a:solidFill>
                <a:latin typeface="Arial"/>
              </a:rPr>
              <a:t>Erosion and soil creep.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13019" y="2508187"/>
            <a:ext cx="253993" cy="190495"/>
          </a:xfrm>
          <a:prstGeom prst="rightArrow">
            <a:avLst/>
          </a:prstGeom>
          <a:solidFill>
            <a:srgbClr val="5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8610" y="1904952"/>
            <a:ext cx="2298642" cy="1396965"/>
          </a:xfrm>
          <a:prstGeom prst="roundRect">
            <a:avLst>
              <a:gd name="adj" fmla="val 5000"/>
            </a:avLst>
          </a:prstGeom>
          <a:solidFill>
            <a:srgbClr val="FBEFE9"/>
          </a:solidFill>
          <a:ln w="12700">
            <a:solidFill>
              <a:srgbClr val="C254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6406" y="2095447"/>
            <a:ext cx="1943051" cy="507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F2A2E"/>
                </a:solidFill>
                <a:latin typeface="Arial"/>
              </a:rPr>
              <a:t>Fault creeps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6406" y="2666933"/>
            <a:ext cx="1943051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6B73"/>
                </a:solidFill>
                <a:latin typeface="Arial"/>
              </a:rPr>
              <a:t>Lift and shift the land.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68850" y="2508187"/>
            <a:ext cx="253993" cy="190495"/>
          </a:xfrm>
          <a:prstGeom prst="rightArrow">
            <a:avLst/>
          </a:prstGeom>
          <a:solidFill>
            <a:srgbClr val="5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24441" y="1904952"/>
            <a:ext cx="2298642" cy="1396965"/>
          </a:xfrm>
          <a:prstGeom prst="roundRect">
            <a:avLst>
              <a:gd name="adj" fmla="val 5000"/>
            </a:avLst>
          </a:prstGeom>
          <a:solidFill>
            <a:srgbClr val="FBEFE9"/>
          </a:solidFill>
          <a:ln w="12700">
            <a:solidFill>
              <a:srgbClr val="C254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2237" y="2095447"/>
            <a:ext cx="1943051" cy="507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F2A2E"/>
                </a:solidFill>
                <a:latin typeface="Arial"/>
              </a:rPr>
              <a:t>Earthquake?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2237" y="2666933"/>
            <a:ext cx="1943051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6B73"/>
                </a:solidFill>
                <a:latin typeface="Arial"/>
              </a:rPr>
              <a:t>Only if one is due this step.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24681" y="2508187"/>
            <a:ext cx="253993" cy="190495"/>
          </a:xfrm>
          <a:prstGeom prst="rightArrow">
            <a:avLst/>
          </a:prstGeom>
          <a:solidFill>
            <a:srgbClr val="5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80272" y="1904952"/>
            <a:ext cx="2298642" cy="1396965"/>
          </a:xfrm>
          <a:prstGeom prst="roundRect">
            <a:avLst>
              <a:gd name="adj" fmla="val 5000"/>
            </a:avLst>
          </a:prstGeom>
          <a:solidFill>
            <a:srgbClr val="FBEFE9"/>
          </a:solidFill>
          <a:ln w="12700">
            <a:solidFill>
              <a:srgbClr val="C254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068" y="2095447"/>
            <a:ext cx="1943051" cy="507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F2A2E"/>
                </a:solidFill>
                <a:latin typeface="Arial"/>
              </a:rPr>
              <a:t>Landslides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068" y="2666933"/>
            <a:ext cx="1943051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6B73"/>
                </a:solidFill>
                <a:latin typeface="Arial"/>
              </a:rPr>
              <a:t>Only after a quake.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779" y="3936901"/>
            <a:ext cx="3403514" cy="1523961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5974" y="4127396"/>
            <a:ext cx="2997125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A2E"/>
                </a:solidFill>
                <a:latin typeface="Arial"/>
              </a:rPr>
              <a:t>Plain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" y="4571885"/>
            <a:ext cx="2997125" cy="82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2E"/>
                </a:solidFill>
                <a:latin typeface="Arial"/>
              </a:rPr>
              <a:t>Compass strike, thrust or normal, right or left lateral.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94090" y="3936901"/>
            <a:ext cx="3403514" cy="1523961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7285" y="4127396"/>
            <a:ext cx="2997125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A2E"/>
                </a:solidFill>
                <a:latin typeface="Arial"/>
              </a:rPr>
              <a:t>Honest maps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7285" y="4571885"/>
            <a:ext cx="2997125" cy="82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2E"/>
                </a:solidFill>
                <a:latin typeface="Arial"/>
              </a:rPr>
              <a:t>A tectonics-only reference keeps erosion maps clean.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5400" y="3936901"/>
            <a:ext cx="3403514" cy="1523961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E4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8595" y="4127396"/>
            <a:ext cx="2997125" cy="317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A2E"/>
                </a:solidFill>
                <a:latin typeface="Arial"/>
              </a:rPr>
              <a:t>Animations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8595" y="4571885"/>
            <a:ext cx="2997125" cy="82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2E"/>
                </a:solidFill>
                <a:latin typeface="Arial"/>
              </a:rPr>
              <a:t>Tectonics and Fault Section tabs show what the fault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USING THE ANIMATIONS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Reading the Tectonics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779" y="2095447"/>
            <a:ext cx="152396" cy="457188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5175" y="2095447"/>
            <a:ext cx="152396" cy="4571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7572" y="2095447"/>
            <a:ext cx="152396" cy="457188"/>
          </a:xfrm>
          <a:prstGeom prst="rect">
            <a:avLst/>
          </a:prstGeom>
          <a:solidFill>
            <a:srgbClr val="2166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2364" y="2120846"/>
            <a:ext cx="4381390" cy="444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Land raised (blue) or lowered (red) by tectonics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79" y="2920926"/>
            <a:ext cx="457188" cy="457188"/>
          </a:xfrm>
          <a:prstGeom prst="roundRect">
            <a:avLst>
              <a:gd name="adj" fmla="val 20000"/>
            </a:avLst>
          </a:prstGeom>
          <a:solidFill>
            <a:srgbClr val="E7E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888977" y="3060623"/>
            <a:ext cx="304792" cy="177795"/>
          </a:xfrm>
          <a:prstGeom prst="rightArrow">
            <a:avLst/>
          </a:prstGeom>
          <a:solidFill>
            <a:srgbClr val="1F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2364" y="2946326"/>
            <a:ext cx="4381390" cy="444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Arrows: sideways ground motion since the start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" y="3746406"/>
            <a:ext cx="457188" cy="457188"/>
          </a:xfrm>
          <a:prstGeom prst="roundRect">
            <a:avLst>
              <a:gd name="adj" fmla="val 20000"/>
            </a:avLst>
          </a:prstGeom>
          <a:solidFill>
            <a:srgbClr val="E7E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3274" y="3771805"/>
            <a:ext cx="76198" cy="40638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2364" y="3771805"/>
            <a:ext cx="4381390" cy="444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Black line: the fault trace, with an arrow for its dip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9841" y="2095447"/>
            <a:ext cx="457188" cy="457188"/>
          </a:xfrm>
          <a:prstGeom prst="roundRect">
            <a:avLst>
              <a:gd name="adj" fmla="val 20000"/>
            </a:avLst>
          </a:prstGeom>
          <a:solidFill>
            <a:srgbClr val="D93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5-Point Star 16"/>
          <p:cNvSpPr/>
          <p:nvPr/>
        </p:nvSpPr>
        <p:spPr>
          <a:xfrm>
            <a:off x="6438739" y="2184345"/>
            <a:ext cx="279393" cy="279393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9426" y="2120846"/>
            <a:ext cx="4381390" cy="444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Star and red stretch of fault: an earthquake this step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1" y="2920926"/>
            <a:ext cx="228594" cy="457188"/>
          </a:xfrm>
          <a:prstGeom prst="rect">
            <a:avLst/>
          </a:prstGeom>
          <a:solidFill>
            <a:srgbClr val="8B45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78435" y="2920926"/>
            <a:ext cx="228594" cy="457188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59426" y="2946326"/>
            <a:ext cx="4381390" cy="444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Brown scars, green debris: landslides so far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9841" y="3746406"/>
            <a:ext cx="457188" cy="457188"/>
          </a:xfrm>
          <a:prstGeom prst="roundRect">
            <a:avLst>
              <a:gd name="adj" fmla="val 20000"/>
            </a:avLst>
          </a:prstGeom>
          <a:solidFill>
            <a:srgbClr val="E7E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639" y="4025799"/>
            <a:ext cx="38099" cy="139696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6838" y="3911502"/>
            <a:ext cx="38099" cy="253993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53036" y="3975000"/>
            <a:ext cx="38099" cy="190495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29234" y="3835304"/>
            <a:ext cx="38099" cy="330191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5432" y="4063898"/>
            <a:ext cx="38099" cy="101597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9426" y="3771805"/>
            <a:ext cx="4381390" cy="444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F2A2E"/>
                </a:solidFill>
                <a:latin typeface="Arial"/>
              </a:rPr>
              <a:t>Strip below: every quake by time and size. Click one to jump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79" y="4952876"/>
            <a:ext cx="10566135" cy="63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5B6B73"/>
                </a:solidFill>
                <a:latin typeface="Arial"/>
              </a:rPr>
              <a:t>Click a name in the legend to hide or show that layer. The Fault Section tab shows the same story along one line across the fault.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USING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What to change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12779" y="1841453"/>
          <a:ext cx="10566134" cy="373370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52856"/>
                <a:gridCol w="2747195"/>
                <a:gridCol w="4966083"/>
              </a:tblGrid>
              <a:tr h="533386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 marL="114297" marR="114297" marT="63498" marB="63498" anchor="ctr">
                    <a:solidFill>
                      <a:srgbClr val="1F7A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Try</a:t>
                      </a:r>
                    </a:p>
                  </a:txBody>
                  <a:tcPr marL="114297" marR="114297" marT="63498" marB="63498" anchor="ctr">
                    <a:solidFill>
                      <a:srgbClr val="1F7A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Effect</a:t>
                      </a:r>
                    </a:p>
                  </a:txBody>
                  <a:tcPr marL="114297" marR="114297" marT="63498" marB="63498" anchor="ctr">
                    <a:solidFill>
                      <a:srgbClr val="1F7A7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F2A2E"/>
                          </a:solidFill>
                          <a:latin typeface="Arial"/>
                        </a:rPr>
                        <a:t>Fault length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5 to 12 km, small DEM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More quakes reach the DEM; bigger quakes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F2A2E"/>
                          </a:solidFill>
                          <a:latin typeface="Arial"/>
                        </a:rPr>
                        <a:t>Earthquake zone depth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Deeper, on long faults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20 km fault: cap rises from Mw 5.9 to 6.4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F2A2E"/>
                          </a:solidFill>
                          <a:latin typeface="Arial"/>
                        </a:rPr>
                        <a:t>Slip rate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2 to 10 mm per year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Faster uplift and more quakes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F2A2E"/>
                          </a:solidFill>
                          <a:latin typeface="Arial"/>
                        </a:rPr>
                        <a:t>Smallest earthquake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Mw 5.0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Lower means many more events, slower runs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F2A2E"/>
                          </a:solidFill>
                          <a:latin typeface="Arial"/>
                        </a:rPr>
                        <a:t>Cohesion, friction, wetness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10 kPa, 45°, 0 to 0.5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Weaker or wetter means more landslides</a:t>
                      </a:r>
                    </a:p>
                  </a:txBody>
                  <a:tcPr marL="114297" marR="114297" marT="63498" marB="63498" anchor="ctr">
                    <a:solidFill>
                      <a:srgbClr val="FFFDF8"/>
                    </a:solidFill>
                  </a:tcPr>
                </a:tc>
              </a:tr>
              <a:tr h="533386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F2A2E"/>
                          </a:solidFill>
                          <a:latin typeface="Arial"/>
                        </a:rPr>
                        <a:t>Time step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5 years (whole years)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F2A2E"/>
                          </a:solidFill>
                          <a:latin typeface="Arial"/>
                        </a:rPr>
                        <a:t>Smoother animation, longer run</a:t>
                      </a:r>
                    </a:p>
                  </a:txBody>
                  <a:tcPr marL="114297" marR="114297" marT="63498" marB="63498" anchor="ctr">
                    <a:solidFill>
                      <a:srgbClr val="EFE9D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2542D"/>
                </a:solidFill>
                <a:latin typeface="Arial"/>
              </a:rPr>
              <a:t>GOOD TO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F2A2E"/>
                </a:solidFill>
                <a:latin typeface="Georgia"/>
              </a:rPr>
              <a:t>Limits to keep in 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5B6B73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" y="2095447"/>
            <a:ext cx="10566135" cy="3555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800"/>
              </a:spcAft>
            </a:pPr>
            <a:r>
              <a:rPr sz="2100" b="1">
                <a:solidFill>
                  <a:srgbClr val="C2542D"/>
                </a:solidFill>
                <a:latin typeface="Arial"/>
              </a:rPr>
              <a:t>Edges.</a:t>
            </a:r>
            <a:r>
              <a:rPr sz="2100" b="0">
                <a:solidFill>
                  <a:srgbClr val="1F2A2E"/>
                </a:solidFill>
                <a:latin typeface="Arial"/>
              </a:rPr>
              <a:t> Cells at the map edge can show artefacts where a fixed boundary meets moving terrain. The animations hide them.</a:t>
            </a:r>
          </a:p>
          <a:p>
            <a:pPr algn="l">
              <a:lnSpc>
                <a:spcPct val="120000"/>
              </a:lnSpc>
              <a:spcAft>
                <a:spcPts val="2800"/>
              </a:spcAft>
            </a:pPr>
            <a:r>
              <a:rPr sz="2100" b="1">
                <a:solidFill>
                  <a:srgbClr val="C2542D"/>
                </a:solidFill>
                <a:latin typeface="Arial"/>
              </a:rPr>
              <a:t>Distance.</a:t>
            </a:r>
            <a:r>
              <a:rPr sz="2100" b="0">
                <a:solidFill>
                  <a:srgbClr val="1F2A2E"/>
                </a:solidFill>
                <a:latin typeface="Arial"/>
              </a:rPr>
              <a:t> Quakes far from the DEM matter little: shaking fades with distance.</a:t>
            </a:r>
          </a:p>
          <a:p>
            <a:pPr algn="l">
              <a:lnSpc>
                <a:spcPct val="120000"/>
              </a:lnSpc>
              <a:spcAft>
                <a:spcPts val="2800"/>
              </a:spcAft>
            </a:pPr>
            <a:r>
              <a:rPr sz="2100" b="1">
                <a:solidFill>
                  <a:srgbClr val="C2542D"/>
                </a:solidFill>
                <a:latin typeface="Arial"/>
              </a:rPr>
              <a:t>No weathering.</a:t>
            </a:r>
            <a:r>
              <a:rPr sz="2100" b="0">
                <a:solidFill>
                  <a:srgbClr val="1F2A2E"/>
                </a:solidFill>
                <a:latin typeface="Arial"/>
              </a:rPr>
              <a:t> Soil isn't rebuilt after landslides, and rock-layer maps don't move with the terrain.</a:t>
            </a:r>
          </a:p>
          <a:p>
            <a:pPr algn="l">
              <a:lnSpc>
                <a:spcPct val="120000"/>
              </a:lnSpc>
              <a:spcAft>
                <a:spcPts val="2800"/>
              </a:spcAft>
            </a:pPr>
            <a:r>
              <a:rPr sz="2100" b="1">
                <a:solidFill>
                  <a:srgbClr val="C2542D"/>
                </a:solidFill>
                <a:latin typeface="Arial"/>
              </a:rPr>
              <a:t>Speed.</a:t>
            </a:r>
            <a:r>
              <a:rPr sz="2100" b="0">
                <a:solidFill>
                  <a:srgbClr val="1F2A2E"/>
                </a:solidFill>
                <a:latin typeface="Arial"/>
              </a:rPr>
              <a:t> Big DEMs are slow: the 1 m BT28 (370,000 cells) takes tens of minutes.</a:t>
            </a:r>
          </a:p>
          <a:p>
            <a:pPr algn="l">
              <a:lnSpc>
                <a:spcPct val="120000"/>
              </a:lnSpc>
            </a:pPr>
            <a:r>
              <a:rPr sz="2100" b="1">
                <a:solidFill>
                  <a:srgbClr val="C2542D"/>
                </a:solidFill>
                <a:latin typeface="Arial"/>
              </a:rPr>
              <a:t>Time step.</a:t>
            </a:r>
            <a:r>
              <a:rPr sz="2100" b="0">
                <a:solidFill>
                  <a:srgbClr val="1F2A2E"/>
                </a:solidFill>
                <a:latin typeface="Arial"/>
              </a:rPr>
              <a:t> Earthquakes need whole years (1, 5, 10).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779" y="584185"/>
            <a:ext cx="10566135" cy="253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E58A66"/>
                </a:solidFill>
                <a:latin typeface="Arial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779" y="863578"/>
            <a:ext cx="10566135" cy="571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6F3EC"/>
                </a:solidFill>
                <a:latin typeface="Georgia"/>
              </a:rPr>
              <a:t>Where this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6349841"/>
            <a:ext cx="444488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A9B7BD"/>
                </a:solidFill>
                <a:latin typeface="Arial"/>
              </a:rPr>
              <a:t>How EFEL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8947" y="6349841"/>
            <a:ext cx="1269968" cy="215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A9B7BD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" y="1968450"/>
            <a:ext cx="10566135" cy="4063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800" b="1">
                <a:solidFill>
                  <a:srgbClr val="E58A66"/>
                </a:solidFill>
                <a:latin typeface="Arial"/>
              </a:rPr>
              <a:t>EFEL 1.0</a:t>
            </a:r>
            <a:r>
              <a:rPr sz="1800" b="0">
                <a:solidFill>
                  <a:srgbClr val="F6F3EC"/>
                </a:solidFill>
                <a:latin typeface="Arial"/>
              </a:rPr>
              <a:t>  A. M. Forte. Geoscientific Model Development (in review). github.com/amforte/elastic_fault_earthquake_and_landslide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800" b="1">
                <a:solidFill>
                  <a:srgbClr val="E58A66"/>
                </a:solidFill>
                <a:latin typeface="Arial"/>
              </a:rPr>
              <a:t>Okada (1992)</a:t>
            </a:r>
            <a:r>
              <a:rPr sz="1800" b="0">
                <a:solidFill>
                  <a:srgbClr val="F6F3EC"/>
                </a:solidFill>
                <a:latin typeface="Arial"/>
              </a:rPr>
              <a:t>  Internal deformation due to shear and tensile faults in a half-space. BSSA 82(2).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800" b="1">
                <a:solidFill>
                  <a:srgbClr val="E58A66"/>
                </a:solidFill>
                <a:latin typeface="Arial"/>
              </a:rPr>
              <a:t>okada4py</a:t>
            </a:r>
            <a:r>
              <a:rPr sz="1800" b="0">
                <a:solidFill>
                  <a:srgbClr val="F6F3EC"/>
                </a:solidFill>
                <a:latin typeface="Arial"/>
              </a:rPr>
              <a:t>  R. Jolivet. Compiled solver for Okada's equations.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800" b="1">
                <a:solidFill>
                  <a:srgbClr val="E58A66"/>
                </a:solidFill>
                <a:latin typeface="Arial"/>
              </a:rPr>
              <a:t>Leonard (2014)</a:t>
            </a:r>
            <a:r>
              <a:rPr sz="1800" b="0">
                <a:solidFill>
                  <a:srgbClr val="F6F3EC"/>
                </a:solidFill>
                <a:latin typeface="Arial"/>
              </a:rPr>
              <a:t>  Earthquake fault scaling relations. BSSA 104(6).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800" b="1">
                <a:solidFill>
                  <a:srgbClr val="E58A66"/>
                </a:solidFill>
                <a:latin typeface="Arial"/>
              </a:rPr>
              <a:t>Jibson (2007)</a:t>
            </a:r>
            <a:r>
              <a:rPr sz="1800" b="0">
                <a:solidFill>
                  <a:srgbClr val="F6F3EC"/>
                </a:solidFill>
                <a:latin typeface="Arial"/>
              </a:rPr>
              <a:t>  Regression models for coseismic landslide displacement. Engineering Geology 91.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800" b="1">
                <a:solidFill>
                  <a:srgbClr val="E58A66"/>
                </a:solidFill>
                <a:latin typeface="Arial"/>
              </a:rPr>
              <a:t>HyLands 1.0</a:t>
            </a:r>
            <a:r>
              <a:rPr sz="1800" b="0">
                <a:solidFill>
                  <a:srgbClr val="F6F3EC"/>
                </a:solidFill>
                <a:latin typeface="Arial"/>
              </a:rPr>
              <a:t>  Campforts et al. (2020). Basis of Landlab's BedrockLandslider.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E58A66"/>
                </a:solidFill>
                <a:latin typeface="Arial"/>
              </a:rPr>
              <a:t>Landlab</a:t>
            </a:r>
            <a:r>
              <a:rPr sz="1800" b="0">
                <a:solidFill>
                  <a:srgbClr val="F6F3EC"/>
                </a:solidFill>
                <a:latin typeface="Arial"/>
              </a:rPr>
              <a:t>  Hobley et al. (2017); Barnhart et al. (2020).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