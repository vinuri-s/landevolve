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08"/>
    <p:restoredTop sz="94646"/>
  </p:normalViewPr>
  <p:slideViewPr>
    <p:cSldViewPr snapToGrid="0" snapToObjects="1">
      <p:cViewPr varScale="1">
        <p:scale>
          <a:sx n="108" d="100"/>
          <a:sy n="108" d="100"/>
        </p:scale>
        <p:origin x="760" y="19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795441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Introduces LandEvolve, explains what it lacked, introduces EFEL and its components, then shows a sample run on a Kaikoura DEM.</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LandEvolve is a desktop app (Python and PyQt6) for Mac and Windows, built on Landlab.</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Before this work LandEvolve only had a simple uplift option, which raises the land at a set rate.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EFEL 1.0 by Adam M. Forte (Louisiana State University); described in a paper in review at Geoscientific Model Development.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Each component feeds the next: the fault defines where earthquakes can happen, and earthquakes trigger the landslides.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DippingFault handles thrust and normal faults; VerticalFault handles strike-slip faults and can have bends. Both use okada4py, a compiled solver for Okada's 1992 equations.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Sizes come from the fault's dimensions using Leonard (2014) scaling. Total energy matches the fault's slip budget. The catalogue is made with one of three methods: variable, fixed or largest-possible magnitude.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Follows Newmark's sliding-block method, as used for coseismic landslides by Jibson (2007). Debris movement uses Landlab's BedrockLandslider. EFEL takes cohesion in pascals; LandEvolve shows kPa. It also needs slope and flow-direction fields on the grid, which LandEvolve provides from its flow routing.</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EFEL's code is included in the app (app/engine/efel); LandEvolve wraps its classes in app/engine/tectonics.py. It needs the compiled okada4py package.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Extent in NZTM (EPSG:2193): x 1,670,164 to 1,670,883, y 5,324,895 to 5,325,410. About 173.850 to 173.859 E and 42.225 to 42.220 S. The satellite image can be captured from the Location Preview in LandEvolve.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Simulation 59. Tectonics (fault, earthquakes, landslides) was simulated together with flow routing, erosion and sediment transport, and hillslope diffusion. The parameter values are placeholders chosen only to exercise the components, not calibrated to Kaikoura.</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Placeholder for tectonics_timeline.html from simulation 59.</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Placeholder for fault_section.html from simulation 59.</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Placeholder for terrain_timeline.html from simulation 59.</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Placeholder for sediment_timeline.html from simulation 59.</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9/26/26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6232B"/>
        </a:solidFill>
        <a:effectLst/>
      </p:bgPr>
    </p:bg>
    <p:spTree>
      <p:nvGrpSpPr>
        <p:cNvPr id="1" name=""/>
        <p:cNvGrpSpPr/>
        <p:nvPr/>
      </p:nvGrpSpPr>
      <p:grpSpPr>
        <a:xfrm>
          <a:off x="0" y="0"/>
          <a:ext cx="0" cy="0"/>
          <a:chOff x="0" y="0"/>
          <a:chExt cx="0" cy="0"/>
        </a:xfrm>
      </p:grpSpPr>
      <p:sp>
        <p:nvSpPr>
          <p:cNvPr id="3" name="Rectangle 2"/>
          <p:cNvSpPr/>
          <p:nvPr/>
        </p:nvSpPr>
        <p:spPr>
          <a:xfrm>
            <a:off x="812779" y="2095447"/>
            <a:ext cx="888977" cy="50798"/>
          </a:xfrm>
          <a:prstGeom prst="rect">
            <a:avLst/>
          </a:prstGeom>
          <a:solidFill>
            <a:srgbClr val="E58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12779" y="2349441"/>
            <a:ext cx="10159746" cy="1396965"/>
          </a:xfrm>
          <a:prstGeom prst="rect">
            <a:avLst/>
          </a:prstGeom>
          <a:noFill/>
        </p:spPr>
        <p:txBody>
          <a:bodyPr wrap="square" lIns="0" tIns="0" rIns="0" bIns="0" anchor="t">
            <a:spAutoFit/>
          </a:bodyPr>
          <a:lstStyle/>
          <a:p>
            <a:pPr algn="l">
              <a:lnSpc>
                <a:spcPct val="110000"/>
              </a:lnSpc>
            </a:pPr>
            <a:r>
              <a:rPr sz="4600" b="1">
                <a:solidFill>
                  <a:srgbClr val="F6F3EC"/>
                </a:solidFill>
                <a:latin typeface="Georgia"/>
              </a:rPr>
              <a:t>Introduction to EFEL and integrating it into LandEvolve</a:t>
            </a:r>
          </a:p>
        </p:txBody>
      </p:sp>
      <p:sp>
        <p:nvSpPr>
          <p:cNvPr id="5" name="TextBox 4"/>
          <p:cNvSpPr txBox="1"/>
          <p:nvPr/>
        </p:nvSpPr>
        <p:spPr>
          <a:xfrm>
            <a:off x="812779" y="4063898"/>
            <a:ext cx="8889777" cy="634984"/>
          </a:xfrm>
          <a:prstGeom prst="rect">
            <a:avLst/>
          </a:prstGeom>
          <a:noFill/>
        </p:spPr>
        <p:txBody>
          <a:bodyPr wrap="square" lIns="0" tIns="0" rIns="0" bIns="0" anchor="t">
            <a:spAutoFit/>
          </a:bodyPr>
          <a:lstStyle/>
          <a:p>
            <a:pPr algn="l">
              <a:lnSpc>
                <a:spcPct val="110000"/>
              </a:lnSpc>
            </a:pPr>
            <a:r>
              <a:rPr sz="2400" b="0" dirty="0">
                <a:solidFill>
                  <a:srgbClr val="C9D3D6"/>
                </a:solidFill>
                <a:latin typeface="Arial"/>
              </a:rPr>
              <a:t>Adding faults, earthquakes and earthquake-triggered landslides to a landscape evolution tool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3EC"/>
        </a:solidFill>
        <a:effectLst/>
      </p:bgPr>
    </p:bg>
    <p:spTree>
      <p:nvGrpSpPr>
        <p:cNvPr id="1" name=""/>
        <p:cNvGrpSpPr/>
        <p:nvPr/>
      </p:nvGrpSpPr>
      <p:grpSpPr>
        <a:xfrm>
          <a:off x="0" y="0"/>
          <a:ext cx="0" cy="0"/>
          <a:chOff x="0" y="0"/>
          <a:chExt cx="0" cy="0"/>
        </a:xfrm>
      </p:grpSpPr>
      <p:sp>
        <p:nvSpPr>
          <p:cNvPr id="2" name="TextBox 1"/>
          <p:cNvSpPr txBox="1"/>
          <p:nvPr/>
        </p:nvSpPr>
        <p:spPr>
          <a:xfrm>
            <a:off x="812779" y="584185"/>
            <a:ext cx="10566135" cy="253993"/>
          </a:xfrm>
          <a:prstGeom prst="rect">
            <a:avLst/>
          </a:prstGeom>
          <a:noFill/>
        </p:spPr>
        <p:txBody>
          <a:bodyPr wrap="square" lIns="0" tIns="0" rIns="0" bIns="0" anchor="t">
            <a:spAutoFit/>
          </a:bodyPr>
          <a:lstStyle/>
          <a:p>
            <a:pPr algn="l">
              <a:lnSpc>
                <a:spcPct val="110000"/>
              </a:lnSpc>
            </a:pPr>
            <a:r>
              <a:rPr sz="1300" b="1">
                <a:solidFill>
                  <a:srgbClr val="C2542D"/>
                </a:solidFill>
                <a:latin typeface="Arial"/>
              </a:rPr>
              <a:t>BACKGROUND</a:t>
            </a:r>
          </a:p>
        </p:txBody>
      </p:sp>
      <p:sp>
        <p:nvSpPr>
          <p:cNvPr id="3" name="TextBox 2"/>
          <p:cNvSpPr txBox="1"/>
          <p:nvPr/>
        </p:nvSpPr>
        <p:spPr>
          <a:xfrm>
            <a:off x="812779" y="863578"/>
            <a:ext cx="10566135" cy="571485"/>
          </a:xfrm>
          <a:prstGeom prst="rect">
            <a:avLst/>
          </a:prstGeom>
          <a:noFill/>
        </p:spPr>
        <p:txBody>
          <a:bodyPr wrap="square" lIns="0" tIns="0" rIns="0" bIns="0" anchor="t">
            <a:spAutoFit/>
          </a:bodyPr>
          <a:lstStyle/>
          <a:p>
            <a:pPr algn="l">
              <a:lnSpc>
                <a:spcPct val="110000"/>
              </a:lnSpc>
            </a:pPr>
            <a:r>
              <a:rPr sz="3000" b="1">
                <a:solidFill>
                  <a:srgbClr val="1F2A2E"/>
                </a:solidFill>
                <a:latin typeface="Georgia"/>
              </a:rPr>
              <a:t>LandEvolve</a:t>
            </a:r>
          </a:p>
        </p:txBody>
      </p:sp>
      <p:sp>
        <p:nvSpPr>
          <p:cNvPr id="5" name="TextBox 4"/>
          <p:cNvSpPr txBox="1"/>
          <p:nvPr/>
        </p:nvSpPr>
        <p:spPr>
          <a:xfrm>
            <a:off x="10108947" y="6349841"/>
            <a:ext cx="1269968" cy="215894"/>
          </a:xfrm>
          <a:prstGeom prst="rect">
            <a:avLst/>
          </a:prstGeom>
          <a:noFill/>
        </p:spPr>
        <p:txBody>
          <a:bodyPr wrap="square" lIns="0" tIns="0" rIns="0" bIns="0" anchor="t">
            <a:spAutoFit/>
          </a:bodyPr>
          <a:lstStyle/>
          <a:p>
            <a:pPr algn="r">
              <a:lnSpc>
                <a:spcPct val="110000"/>
              </a:lnSpc>
            </a:pPr>
            <a:r>
              <a:rPr sz="1200" b="0">
                <a:solidFill>
                  <a:srgbClr val="5B6B73"/>
                </a:solidFill>
                <a:latin typeface="Arial"/>
              </a:rPr>
              <a:t>2</a:t>
            </a:r>
          </a:p>
        </p:txBody>
      </p:sp>
      <p:sp>
        <p:nvSpPr>
          <p:cNvPr id="6" name="TextBox 5"/>
          <p:cNvSpPr txBox="1"/>
          <p:nvPr/>
        </p:nvSpPr>
        <p:spPr>
          <a:xfrm>
            <a:off x="812779" y="1841453"/>
            <a:ext cx="10943792" cy="768224"/>
          </a:xfrm>
          <a:prstGeom prst="rect">
            <a:avLst/>
          </a:prstGeom>
          <a:noFill/>
        </p:spPr>
        <p:txBody>
          <a:bodyPr wrap="square" lIns="0" tIns="0" rIns="0" bIns="0" anchor="t">
            <a:spAutoFit/>
          </a:bodyPr>
          <a:lstStyle/>
          <a:p>
            <a:pPr algn="l">
              <a:lnSpc>
                <a:spcPct val="125000"/>
              </a:lnSpc>
            </a:pPr>
            <a:r>
              <a:rPr sz="2100" b="0" dirty="0">
                <a:solidFill>
                  <a:srgbClr val="1F2A2E"/>
                </a:solidFill>
                <a:latin typeface="Arial"/>
              </a:rPr>
              <a:t>A </a:t>
            </a:r>
            <a:r>
              <a:rPr sz="2100" b="1" dirty="0">
                <a:solidFill>
                  <a:srgbClr val="1F2A2E"/>
                </a:solidFill>
                <a:latin typeface="Arial"/>
              </a:rPr>
              <a:t>desktop app</a:t>
            </a:r>
            <a:r>
              <a:rPr sz="2100" b="0" dirty="0">
                <a:solidFill>
                  <a:srgbClr val="1F2A2E"/>
                </a:solidFill>
                <a:latin typeface="Arial"/>
              </a:rPr>
              <a:t> for simulating </a:t>
            </a:r>
            <a:r>
              <a:rPr sz="2100" b="1" dirty="0">
                <a:solidFill>
                  <a:srgbClr val="1F2A2E"/>
                </a:solidFill>
                <a:latin typeface="Arial"/>
              </a:rPr>
              <a:t>erosion and sediment transport</a:t>
            </a:r>
            <a:r>
              <a:rPr sz="2100" b="0" dirty="0">
                <a:solidFill>
                  <a:srgbClr val="1F2A2E"/>
                </a:solidFill>
                <a:latin typeface="Arial"/>
              </a:rPr>
              <a:t> as a landscape evolves over time, built on </a:t>
            </a:r>
            <a:r>
              <a:rPr sz="2100" b="1" dirty="0" err="1">
                <a:solidFill>
                  <a:srgbClr val="1F2A2E"/>
                </a:solidFill>
                <a:latin typeface="Arial"/>
              </a:rPr>
              <a:t>Landlab</a:t>
            </a:r>
            <a:r>
              <a:rPr sz="2100" b="0" dirty="0">
                <a:solidFill>
                  <a:srgbClr val="1F2A2E"/>
                </a:solidFill>
                <a:latin typeface="Arial"/>
              </a:rPr>
              <a:t>, an open-source Python toolkit for landscape </a:t>
            </a:r>
            <a:r>
              <a:rPr lang="en-US" sz="2100" b="0" dirty="0">
                <a:solidFill>
                  <a:srgbClr val="1F2A2E"/>
                </a:solidFill>
                <a:latin typeface="Arial"/>
              </a:rPr>
              <a:t>evolution </a:t>
            </a:r>
            <a:r>
              <a:rPr sz="2100" b="0" dirty="0">
                <a:solidFill>
                  <a:srgbClr val="1F2A2E"/>
                </a:solidFill>
                <a:latin typeface="Arial"/>
              </a:rPr>
              <a:t>models.</a:t>
            </a:r>
          </a:p>
        </p:txBody>
      </p:sp>
      <p:sp>
        <p:nvSpPr>
          <p:cNvPr id="7" name="Rounded Rectangle 6"/>
          <p:cNvSpPr/>
          <p:nvPr/>
        </p:nvSpPr>
        <p:spPr>
          <a:xfrm>
            <a:off x="812779" y="2793930"/>
            <a:ext cx="2298642" cy="2095447"/>
          </a:xfrm>
          <a:prstGeom prst="roundRect">
            <a:avLst>
              <a:gd name="adj" fmla="val 5000"/>
            </a:avLst>
          </a:prstGeom>
          <a:solidFill>
            <a:srgbClr val="FFFDF8"/>
          </a:solidFill>
          <a:ln w="12700">
            <a:solidFill>
              <a:srgbClr val="E4DD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90575" y="2997125"/>
            <a:ext cx="1943051" cy="253993"/>
          </a:xfrm>
          <a:prstGeom prst="rect">
            <a:avLst/>
          </a:prstGeom>
          <a:noFill/>
        </p:spPr>
        <p:txBody>
          <a:bodyPr wrap="square" lIns="0" tIns="0" rIns="0" bIns="0" anchor="t">
            <a:spAutoFit/>
          </a:bodyPr>
          <a:lstStyle/>
          <a:p>
            <a:pPr algn="l">
              <a:lnSpc>
                <a:spcPct val="110000"/>
              </a:lnSpc>
            </a:pPr>
            <a:r>
              <a:rPr sz="1200" b="1">
                <a:solidFill>
                  <a:srgbClr val="C2542D"/>
                </a:solidFill>
                <a:latin typeface="Arial"/>
              </a:rPr>
              <a:t>STEP 1</a:t>
            </a:r>
          </a:p>
        </p:txBody>
      </p:sp>
      <p:sp>
        <p:nvSpPr>
          <p:cNvPr id="9" name="TextBox 8"/>
          <p:cNvSpPr txBox="1"/>
          <p:nvPr/>
        </p:nvSpPr>
        <p:spPr>
          <a:xfrm>
            <a:off x="990575" y="3276518"/>
            <a:ext cx="1943051" cy="554062"/>
          </a:xfrm>
          <a:prstGeom prst="rect">
            <a:avLst/>
          </a:prstGeom>
          <a:noFill/>
        </p:spPr>
        <p:txBody>
          <a:bodyPr wrap="square" lIns="0" tIns="0" rIns="0" bIns="0" anchor="t">
            <a:spAutoFit/>
          </a:bodyPr>
          <a:lstStyle/>
          <a:p>
            <a:pPr algn="l">
              <a:lnSpc>
                <a:spcPct val="110000"/>
              </a:lnSpc>
            </a:pPr>
            <a:r>
              <a:rPr lang="en-US" sz="1700" b="1" dirty="0">
                <a:solidFill>
                  <a:srgbClr val="1F2A2E"/>
                </a:solidFill>
                <a:latin typeface="Georgia"/>
              </a:rPr>
              <a:t>Select </a:t>
            </a:r>
            <a:r>
              <a:rPr sz="1700" b="1" dirty="0">
                <a:solidFill>
                  <a:srgbClr val="1F2A2E"/>
                </a:solidFill>
                <a:latin typeface="Georgia"/>
              </a:rPr>
              <a:t>Input</a:t>
            </a:r>
            <a:r>
              <a:rPr lang="en-US" sz="1700" b="1" dirty="0">
                <a:solidFill>
                  <a:srgbClr val="1F2A2E"/>
                </a:solidFill>
                <a:latin typeface="Georgia"/>
              </a:rPr>
              <a:t> &amp; Duration</a:t>
            </a:r>
            <a:endParaRPr sz="1700" b="1" dirty="0">
              <a:solidFill>
                <a:srgbClr val="1F2A2E"/>
              </a:solidFill>
              <a:latin typeface="Georgia"/>
            </a:endParaRPr>
          </a:p>
        </p:txBody>
      </p:sp>
      <p:sp>
        <p:nvSpPr>
          <p:cNvPr id="10" name="TextBox 9"/>
          <p:cNvSpPr txBox="1"/>
          <p:nvPr/>
        </p:nvSpPr>
        <p:spPr>
          <a:xfrm>
            <a:off x="990575" y="3809904"/>
            <a:ext cx="2044649" cy="969946"/>
          </a:xfrm>
          <a:prstGeom prst="rect">
            <a:avLst/>
          </a:prstGeom>
          <a:noFill/>
        </p:spPr>
        <p:txBody>
          <a:bodyPr wrap="square" lIns="0" tIns="0" rIns="0" bIns="0" anchor="t">
            <a:spAutoFit/>
          </a:bodyPr>
          <a:lstStyle/>
          <a:p>
            <a:pPr algn="l">
              <a:lnSpc>
                <a:spcPct val="115000"/>
              </a:lnSpc>
            </a:pPr>
            <a:r>
              <a:rPr sz="1400" b="0" dirty="0">
                <a:solidFill>
                  <a:srgbClr val="1F2A2E"/>
                </a:solidFill>
                <a:latin typeface="Arial"/>
              </a:rPr>
              <a:t>A DEM: a grid of ground heights, e.g. from LiDAR</a:t>
            </a:r>
            <a:endParaRPr lang="en-US" sz="1400" b="0" dirty="0">
              <a:solidFill>
                <a:srgbClr val="1F2A2E"/>
              </a:solidFill>
              <a:latin typeface="Arial"/>
            </a:endParaRPr>
          </a:p>
          <a:p>
            <a:pPr algn="l">
              <a:lnSpc>
                <a:spcPct val="115000"/>
              </a:lnSpc>
            </a:pPr>
            <a:r>
              <a:rPr lang="en-US" sz="1400" dirty="0">
                <a:solidFill>
                  <a:srgbClr val="1F2A2E"/>
                </a:solidFill>
                <a:latin typeface="Arial"/>
              </a:rPr>
              <a:t>Select total simulation duration and timestep</a:t>
            </a:r>
            <a:endParaRPr sz="1400" b="0" dirty="0">
              <a:solidFill>
                <a:srgbClr val="1F2A2E"/>
              </a:solidFill>
              <a:latin typeface="Arial"/>
            </a:endParaRPr>
          </a:p>
        </p:txBody>
      </p:sp>
      <p:sp>
        <p:nvSpPr>
          <p:cNvPr id="11" name="Right Arrow 10"/>
          <p:cNvSpPr/>
          <p:nvPr/>
        </p:nvSpPr>
        <p:spPr>
          <a:xfrm>
            <a:off x="3213019" y="3714657"/>
            <a:ext cx="253993" cy="190495"/>
          </a:xfrm>
          <a:prstGeom prst="rightArrow">
            <a:avLst/>
          </a:prstGeom>
          <a:solidFill>
            <a:srgbClr val="5B6B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3568610" y="2793930"/>
            <a:ext cx="2298642" cy="2095447"/>
          </a:xfrm>
          <a:prstGeom prst="roundRect">
            <a:avLst>
              <a:gd name="adj" fmla="val 5000"/>
            </a:avLst>
          </a:prstGeom>
          <a:solidFill>
            <a:srgbClr val="FFFDF8"/>
          </a:solidFill>
          <a:ln w="12700">
            <a:solidFill>
              <a:srgbClr val="E4DD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746406" y="2997125"/>
            <a:ext cx="1943051" cy="253993"/>
          </a:xfrm>
          <a:prstGeom prst="rect">
            <a:avLst/>
          </a:prstGeom>
          <a:noFill/>
        </p:spPr>
        <p:txBody>
          <a:bodyPr wrap="square" lIns="0" tIns="0" rIns="0" bIns="0" anchor="t">
            <a:spAutoFit/>
          </a:bodyPr>
          <a:lstStyle/>
          <a:p>
            <a:pPr algn="l">
              <a:lnSpc>
                <a:spcPct val="110000"/>
              </a:lnSpc>
            </a:pPr>
            <a:r>
              <a:rPr sz="1200" b="1">
                <a:solidFill>
                  <a:srgbClr val="C2542D"/>
                </a:solidFill>
                <a:latin typeface="Arial"/>
              </a:rPr>
              <a:t>STEP 2</a:t>
            </a:r>
          </a:p>
        </p:txBody>
      </p:sp>
      <p:sp>
        <p:nvSpPr>
          <p:cNvPr id="14" name="TextBox 13"/>
          <p:cNvSpPr txBox="1"/>
          <p:nvPr/>
        </p:nvSpPr>
        <p:spPr>
          <a:xfrm>
            <a:off x="3746406" y="3276518"/>
            <a:ext cx="1943051" cy="266291"/>
          </a:xfrm>
          <a:prstGeom prst="rect">
            <a:avLst/>
          </a:prstGeom>
          <a:noFill/>
        </p:spPr>
        <p:txBody>
          <a:bodyPr wrap="square" lIns="0" tIns="0" rIns="0" bIns="0" anchor="t">
            <a:spAutoFit/>
          </a:bodyPr>
          <a:lstStyle/>
          <a:p>
            <a:pPr algn="l">
              <a:lnSpc>
                <a:spcPct val="110000"/>
              </a:lnSpc>
            </a:pPr>
            <a:r>
              <a:rPr lang="en-US" sz="1700" b="1" dirty="0">
                <a:solidFill>
                  <a:srgbClr val="1F2A2E"/>
                </a:solidFill>
                <a:latin typeface="Georgia"/>
              </a:rPr>
              <a:t>Select </a:t>
            </a:r>
            <a:r>
              <a:rPr sz="1700" b="1" dirty="0">
                <a:solidFill>
                  <a:srgbClr val="1F2A2E"/>
                </a:solidFill>
                <a:latin typeface="Georgia"/>
              </a:rPr>
              <a:t>Processes</a:t>
            </a:r>
          </a:p>
        </p:txBody>
      </p:sp>
      <p:sp>
        <p:nvSpPr>
          <p:cNvPr id="15" name="TextBox 14"/>
          <p:cNvSpPr txBox="1"/>
          <p:nvPr/>
        </p:nvSpPr>
        <p:spPr>
          <a:xfrm>
            <a:off x="3746406" y="3809904"/>
            <a:ext cx="1943051" cy="474425"/>
          </a:xfrm>
          <a:prstGeom prst="rect">
            <a:avLst/>
          </a:prstGeom>
          <a:noFill/>
        </p:spPr>
        <p:txBody>
          <a:bodyPr wrap="square" lIns="0" tIns="0" rIns="0" bIns="0" anchor="t">
            <a:spAutoFit/>
          </a:bodyPr>
          <a:lstStyle/>
          <a:p>
            <a:pPr algn="l">
              <a:lnSpc>
                <a:spcPct val="115000"/>
              </a:lnSpc>
            </a:pPr>
            <a:r>
              <a:rPr sz="1400" b="0" dirty="0">
                <a:solidFill>
                  <a:srgbClr val="1F2A2E"/>
                </a:solidFill>
                <a:latin typeface="Arial"/>
              </a:rPr>
              <a:t>Erosion, sediment transport, </a:t>
            </a:r>
            <a:r>
              <a:rPr lang="en-US" sz="1400" dirty="0">
                <a:solidFill>
                  <a:srgbClr val="1F2A2E"/>
                </a:solidFill>
                <a:latin typeface="Arial"/>
              </a:rPr>
              <a:t>Diffusion </a:t>
            </a:r>
            <a:r>
              <a:rPr lang="en-US" sz="1400" dirty="0" err="1">
                <a:solidFill>
                  <a:srgbClr val="1F2A2E"/>
                </a:solidFill>
                <a:latin typeface="Arial"/>
              </a:rPr>
              <a:t>etc</a:t>
            </a:r>
            <a:endParaRPr sz="1400" b="0" dirty="0">
              <a:solidFill>
                <a:srgbClr val="1F2A2E"/>
              </a:solidFill>
              <a:latin typeface="Arial"/>
            </a:endParaRPr>
          </a:p>
        </p:txBody>
      </p:sp>
      <p:sp>
        <p:nvSpPr>
          <p:cNvPr id="16" name="Right Arrow 15"/>
          <p:cNvSpPr/>
          <p:nvPr/>
        </p:nvSpPr>
        <p:spPr>
          <a:xfrm>
            <a:off x="5968850" y="3714657"/>
            <a:ext cx="253993" cy="190495"/>
          </a:xfrm>
          <a:prstGeom prst="rightArrow">
            <a:avLst/>
          </a:prstGeom>
          <a:solidFill>
            <a:srgbClr val="5B6B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324441" y="2793930"/>
            <a:ext cx="2298642" cy="2095447"/>
          </a:xfrm>
          <a:prstGeom prst="roundRect">
            <a:avLst>
              <a:gd name="adj" fmla="val 5000"/>
            </a:avLst>
          </a:prstGeom>
          <a:solidFill>
            <a:srgbClr val="FFFDF8"/>
          </a:solidFill>
          <a:ln w="12700">
            <a:solidFill>
              <a:srgbClr val="E4DD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502237" y="2997125"/>
            <a:ext cx="1943051" cy="253993"/>
          </a:xfrm>
          <a:prstGeom prst="rect">
            <a:avLst/>
          </a:prstGeom>
          <a:noFill/>
        </p:spPr>
        <p:txBody>
          <a:bodyPr wrap="square" lIns="0" tIns="0" rIns="0" bIns="0" anchor="t">
            <a:spAutoFit/>
          </a:bodyPr>
          <a:lstStyle/>
          <a:p>
            <a:pPr algn="l">
              <a:lnSpc>
                <a:spcPct val="110000"/>
              </a:lnSpc>
            </a:pPr>
            <a:r>
              <a:rPr sz="1200" b="1">
                <a:solidFill>
                  <a:srgbClr val="C2542D"/>
                </a:solidFill>
                <a:latin typeface="Arial"/>
              </a:rPr>
              <a:t>STEP 3</a:t>
            </a:r>
          </a:p>
        </p:txBody>
      </p:sp>
      <p:sp>
        <p:nvSpPr>
          <p:cNvPr id="19" name="TextBox 18"/>
          <p:cNvSpPr txBox="1"/>
          <p:nvPr/>
        </p:nvSpPr>
        <p:spPr>
          <a:xfrm>
            <a:off x="6502237" y="3276518"/>
            <a:ext cx="1943051" cy="380990"/>
          </a:xfrm>
          <a:prstGeom prst="rect">
            <a:avLst/>
          </a:prstGeom>
          <a:noFill/>
        </p:spPr>
        <p:txBody>
          <a:bodyPr wrap="square" lIns="0" tIns="0" rIns="0" bIns="0" anchor="t">
            <a:spAutoFit/>
          </a:bodyPr>
          <a:lstStyle/>
          <a:p>
            <a:pPr algn="l">
              <a:lnSpc>
                <a:spcPct val="110000"/>
              </a:lnSpc>
            </a:pPr>
            <a:r>
              <a:rPr sz="1700" b="1" dirty="0">
                <a:solidFill>
                  <a:srgbClr val="1F2A2E"/>
                </a:solidFill>
                <a:latin typeface="Georgia"/>
              </a:rPr>
              <a:t>Simulate</a:t>
            </a:r>
          </a:p>
        </p:txBody>
      </p:sp>
      <p:sp>
        <p:nvSpPr>
          <p:cNvPr id="20" name="TextBox 19"/>
          <p:cNvSpPr txBox="1"/>
          <p:nvPr/>
        </p:nvSpPr>
        <p:spPr>
          <a:xfrm>
            <a:off x="6502237" y="3809904"/>
            <a:ext cx="1943051" cy="969946"/>
          </a:xfrm>
          <a:prstGeom prst="rect">
            <a:avLst/>
          </a:prstGeom>
          <a:noFill/>
        </p:spPr>
        <p:txBody>
          <a:bodyPr wrap="square" lIns="0" tIns="0" rIns="0" bIns="0" anchor="t">
            <a:spAutoFit/>
          </a:bodyPr>
          <a:lstStyle/>
          <a:p>
            <a:pPr algn="l">
              <a:lnSpc>
                <a:spcPct val="115000"/>
              </a:lnSpc>
            </a:pPr>
            <a:r>
              <a:rPr sz="1400" b="0" dirty="0">
                <a:solidFill>
                  <a:srgbClr val="1F2A2E"/>
                </a:solidFill>
                <a:latin typeface="Arial"/>
              </a:rPr>
              <a:t>The model steps through </a:t>
            </a:r>
            <a:r>
              <a:rPr lang="en-US" sz="1400" dirty="0">
                <a:solidFill>
                  <a:srgbClr val="1F2A2E"/>
                </a:solidFill>
                <a:latin typeface="Arial"/>
              </a:rPr>
              <a:t>duration using the timestep</a:t>
            </a:r>
            <a:r>
              <a:rPr sz="1400" b="0" dirty="0">
                <a:solidFill>
                  <a:srgbClr val="1F2A2E"/>
                </a:solidFill>
                <a:latin typeface="Arial"/>
              </a:rPr>
              <a:t>, e.g. every 10 years</a:t>
            </a:r>
          </a:p>
        </p:txBody>
      </p:sp>
      <p:sp>
        <p:nvSpPr>
          <p:cNvPr id="21" name="Right Arrow 20"/>
          <p:cNvSpPr/>
          <p:nvPr/>
        </p:nvSpPr>
        <p:spPr>
          <a:xfrm>
            <a:off x="8724681" y="3714657"/>
            <a:ext cx="253993" cy="190495"/>
          </a:xfrm>
          <a:prstGeom prst="rightArrow">
            <a:avLst/>
          </a:prstGeom>
          <a:solidFill>
            <a:srgbClr val="5B6B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9080272" y="2793930"/>
            <a:ext cx="2298642" cy="2095447"/>
          </a:xfrm>
          <a:prstGeom prst="roundRect">
            <a:avLst>
              <a:gd name="adj" fmla="val 5000"/>
            </a:avLst>
          </a:prstGeom>
          <a:solidFill>
            <a:srgbClr val="FFFDF8"/>
          </a:solidFill>
          <a:ln w="12700">
            <a:solidFill>
              <a:srgbClr val="E4DD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258068" y="2997125"/>
            <a:ext cx="1943051" cy="253993"/>
          </a:xfrm>
          <a:prstGeom prst="rect">
            <a:avLst/>
          </a:prstGeom>
          <a:noFill/>
        </p:spPr>
        <p:txBody>
          <a:bodyPr wrap="square" lIns="0" tIns="0" rIns="0" bIns="0" anchor="t">
            <a:spAutoFit/>
          </a:bodyPr>
          <a:lstStyle/>
          <a:p>
            <a:pPr algn="l">
              <a:lnSpc>
                <a:spcPct val="110000"/>
              </a:lnSpc>
            </a:pPr>
            <a:r>
              <a:rPr sz="1200" b="1">
                <a:solidFill>
                  <a:srgbClr val="C2542D"/>
                </a:solidFill>
                <a:latin typeface="Arial"/>
              </a:rPr>
              <a:t>STEP 4</a:t>
            </a:r>
          </a:p>
        </p:txBody>
      </p:sp>
      <p:sp>
        <p:nvSpPr>
          <p:cNvPr id="24" name="TextBox 23"/>
          <p:cNvSpPr txBox="1"/>
          <p:nvPr/>
        </p:nvSpPr>
        <p:spPr>
          <a:xfrm>
            <a:off x="9258068" y="3276518"/>
            <a:ext cx="1943051" cy="266291"/>
          </a:xfrm>
          <a:prstGeom prst="rect">
            <a:avLst/>
          </a:prstGeom>
          <a:noFill/>
        </p:spPr>
        <p:txBody>
          <a:bodyPr wrap="square" lIns="0" tIns="0" rIns="0" bIns="0" anchor="t">
            <a:spAutoFit/>
          </a:bodyPr>
          <a:lstStyle/>
          <a:p>
            <a:pPr algn="l">
              <a:lnSpc>
                <a:spcPct val="110000"/>
              </a:lnSpc>
            </a:pPr>
            <a:r>
              <a:rPr lang="en-US" sz="1700" b="1" dirty="0">
                <a:solidFill>
                  <a:srgbClr val="1F2A2E"/>
                </a:solidFill>
                <a:latin typeface="Georgia"/>
              </a:rPr>
              <a:t>View </a:t>
            </a:r>
            <a:r>
              <a:rPr sz="1700" b="1" dirty="0">
                <a:solidFill>
                  <a:srgbClr val="1F2A2E"/>
                </a:solidFill>
                <a:latin typeface="Georgia"/>
              </a:rPr>
              <a:t>Results</a:t>
            </a:r>
          </a:p>
        </p:txBody>
      </p:sp>
      <p:sp>
        <p:nvSpPr>
          <p:cNvPr id="25" name="TextBox 24"/>
          <p:cNvSpPr txBox="1"/>
          <p:nvPr/>
        </p:nvSpPr>
        <p:spPr>
          <a:xfrm>
            <a:off x="9258068" y="3809904"/>
            <a:ext cx="1943051" cy="952476"/>
          </a:xfrm>
          <a:prstGeom prst="rect">
            <a:avLst/>
          </a:prstGeom>
          <a:noFill/>
        </p:spPr>
        <p:txBody>
          <a:bodyPr wrap="square" lIns="0" tIns="0" rIns="0" bIns="0" anchor="t">
            <a:spAutoFit/>
          </a:bodyPr>
          <a:lstStyle/>
          <a:p>
            <a:pPr algn="l">
              <a:lnSpc>
                <a:spcPct val="115000"/>
              </a:lnSpc>
            </a:pPr>
            <a:r>
              <a:rPr sz="1400" b="0">
                <a:solidFill>
                  <a:srgbClr val="1F2A2E"/>
                </a:solidFill>
                <a:latin typeface="Arial"/>
              </a:rPr>
              <a:t>Maps, 3D views and animations</a:t>
            </a:r>
          </a:p>
        </p:txBody>
      </p:sp>
      <p:sp>
        <p:nvSpPr>
          <p:cNvPr id="26" name="Rounded Rectangle 25"/>
          <p:cNvSpPr/>
          <p:nvPr/>
        </p:nvSpPr>
        <p:spPr>
          <a:xfrm>
            <a:off x="812779" y="5206869"/>
            <a:ext cx="10566135" cy="698482"/>
          </a:xfrm>
          <a:prstGeom prst="roundRect">
            <a:avLst>
              <a:gd name="adj" fmla="val 8000"/>
            </a:avLst>
          </a:prstGeom>
          <a:solidFill>
            <a:srgbClr val="E8F1F0"/>
          </a:solidFill>
          <a:ln w="12700">
            <a:solidFill>
              <a:srgbClr val="B9D6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92172" y="5206869"/>
            <a:ext cx="10032749" cy="698482"/>
          </a:xfrm>
          <a:prstGeom prst="rect">
            <a:avLst/>
          </a:prstGeom>
          <a:noFill/>
        </p:spPr>
        <p:txBody>
          <a:bodyPr wrap="square" lIns="0" tIns="0" rIns="0" bIns="0" anchor="ctr">
            <a:spAutoFit/>
          </a:bodyPr>
          <a:lstStyle/>
          <a:p>
            <a:pPr algn="l">
              <a:lnSpc>
                <a:spcPct val="110000"/>
              </a:lnSpc>
            </a:pPr>
            <a:r>
              <a:rPr sz="2000" b="0" dirty="0">
                <a:solidFill>
                  <a:srgbClr val="1F2A2E"/>
                </a:solidFill>
                <a:latin typeface="Arial"/>
              </a:rPr>
              <a:t>Code and instructions:  </a:t>
            </a:r>
            <a:r>
              <a:rPr sz="2000" b="1" dirty="0" err="1">
                <a:solidFill>
                  <a:srgbClr val="1F7A78"/>
                </a:solidFill>
                <a:latin typeface="Arial"/>
              </a:rPr>
              <a:t>github.com</a:t>
            </a:r>
            <a:r>
              <a:rPr sz="2000" b="1" dirty="0">
                <a:solidFill>
                  <a:srgbClr val="1F7A78"/>
                </a:solidFill>
                <a:latin typeface="Arial"/>
              </a:rPr>
              <a:t>/</a:t>
            </a:r>
            <a:r>
              <a:rPr sz="2000" b="1" dirty="0" err="1">
                <a:solidFill>
                  <a:srgbClr val="1F7A78"/>
                </a:solidFill>
                <a:latin typeface="Arial"/>
              </a:rPr>
              <a:t>vinuri</a:t>
            </a:r>
            <a:r>
              <a:rPr sz="2000" b="1" dirty="0">
                <a:solidFill>
                  <a:srgbClr val="1F7A78"/>
                </a:solidFill>
                <a:latin typeface="Arial"/>
              </a:rPr>
              <a:t>-s/</a:t>
            </a:r>
            <a:r>
              <a:rPr sz="2000" b="1" dirty="0" err="1">
                <a:solidFill>
                  <a:srgbClr val="1F7A78"/>
                </a:solidFill>
                <a:latin typeface="Arial"/>
              </a:rPr>
              <a:t>landEvolve</a:t>
            </a:r>
            <a:endParaRPr sz="2000" b="1" dirty="0">
              <a:solidFill>
                <a:srgbClr val="1F7A78"/>
              </a:solidFill>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3EC"/>
        </a:solidFill>
        <a:effectLst/>
      </p:bgPr>
    </p:bg>
    <p:spTree>
      <p:nvGrpSpPr>
        <p:cNvPr id="1" name=""/>
        <p:cNvGrpSpPr/>
        <p:nvPr/>
      </p:nvGrpSpPr>
      <p:grpSpPr>
        <a:xfrm>
          <a:off x="0" y="0"/>
          <a:ext cx="0" cy="0"/>
          <a:chOff x="0" y="0"/>
          <a:chExt cx="0" cy="0"/>
        </a:xfrm>
      </p:grpSpPr>
      <p:sp>
        <p:nvSpPr>
          <p:cNvPr id="2" name="TextBox 1"/>
          <p:cNvSpPr txBox="1"/>
          <p:nvPr/>
        </p:nvSpPr>
        <p:spPr>
          <a:xfrm>
            <a:off x="812779" y="584185"/>
            <a:ext cx="10566135" cy="253993"/>
          </a:xfrm>
          <a:prstGeom prst="rect">
            <a:avLst/>
          </a:prstGeom>
          <a:noFill/>
        </p:spPr>
        <p:txBody>
          <a:bodyPr wrap="square" lIns="0" tIns="0" rIns="0" bIns="0" anchor="t">
            <a:spAutoFit/>
          </a:bodyPr>
          <a:lstStyle/>
          <a:p>
            <a:pPr algn="l">
              <a:lnSpc>
                <a:spcPct val="110000"/>
              </a:lnSpc>
            </a:pPr>
            <a:r>
              <a:rPr sz="1300" b="1">
                <a:solidFill>
                  <a:srgbClr val="C2542D"/>
                </a:solidFill>
                <a:latin typeface="Arial"/>
              </a:rPr>
              <a:t>BACKGROUND</a:t>
            </a:r>
          </a:p>
        </p:txBody>
      </p:sp>
      <p:sp>
        <p:nvSpPr>
          <p:cNvPr id="3" name="TextBox 2"/>
          <p:cNvSpPr txBox="1"/>
          <p:nvPr/>
        </p:nvSpPr>
        <p:spPr>
          <a:xfrm>
            <a:off x="812779" y="863578"/>
            <a:ext cx="10566135" cy="571485"/>
          </a:xfrm>
          <a:prstGeom prst="rect">
            <a:avLst/>
          </a:prstGeom>
          <a:noFill/>
        </p:spPr>
        <p:txBody>
          <a:bodyPr wrap="square" lIns="0" tIns="0" rIns="0" bIns="0" anchor="t">
            <a:spAutoFit/>
          </a:bodyPr>
          <a:lstStyle/>
          <a:p>
            <a:pPr algn="l">
              <a:lnSpc>
                <a:spcPct val="110000"/>
              </a:lnSpc>
            </a:pPr>
            <a:r>
              <a:rPr sz="3000" b="1">
                <a:solidFill>
                  <a:srgbClr val="1F2A2E"/>
                </a:solidFill>
                <a:latin typeface="Georgia"/>
              </a:rPr>
              <a:t>What LandEvolve did not have: faults</a:t>
            </a:r>
          </a:p>
        </p:txBody>
      </p:sp>
      <p:sp>
        <p:nvSpPr>
          <p:cNvPr id="5" name="TextBox 4"/>
          <p:cNvSpPr txBox="1"/>
          <p:nvPr/>
        </p:nvSpPr>
        <p:spPr>
          <a:xfrm>
            <a:off x="10108947" y="6349841"/>
            <a:ext cx="1269968" cy="215894"/>
          </a:xfrm>
          <a:prstGeom prst="rect">
            <a:avLst/>
          </a:prstGeom>
          <a:noFill/>
        </p:spPr>
        <p:txBody>
          <a:bodyPr wrap="square" lIns="0" tIns="0" rIns="0" bIns="0" anchor="t">
            <a:spAutoFit/>
          </a:bodyPr>
          <a:lstStyle/>
          <a:p>
            <a:pPr algn="r">
              <a:lnSpc>
                <a:spcPct val="110000"/>
              </a:lnSpc>
            </a:pPr>
            <a:r>
              <a:rPr sz="1200" b="0">
                <a:solidFill>
                  <a:srgbClr val="5B6B73"/>
                </a:solidFill>
                <a:latin typeface="Arial"/>
              </a:rPr>
              <a:t>3</a:t>
            </a:r>
          </a:p>
        </p:txBody>
      </p:sp>
      <p:sp>
        <p:nvSpPr>
          <p:cNvPr id="6" name="Rounded Rectangle 5"/>
          <p:cNvSpPr/>
          <p:nvPr/>
        </p:nvSpPr>
        <p:spPr>
          <a:xfrm>
            <a:off x="812779" y="2031949"/>
            <a:ext cx="5079873" cy="3047923"/>
          </a:xfrm>
          <a:prstGeom prst="roundRect">
            <a:avLst>
              <a:gd name="adj" fmla="val 5000"/>
            </a:avLst>
          </a:prstGeom>
          <a:solidFill>
            <a:srgbClr val="FFFDF8"/>
          </a:solidFill>
          <a:ln w="12700">
            <a:solidFill>
              <a:srgbClr val="E4DD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2172" y="2260543"/>
            <a:ext cx="4444888" cy="253993"/>
          </a:xfrm>
          <a:prstGeom prst="rect">
            <a:avLst/>
          </a:prstGeom>
          <a:noFill/>
        </p:spPr>
        <p:txBody>
          <a:bodyPr wrap="square" lIns="0" tIns="0" rIns="0" bIns="0" anchor="t">
            <a:spAutoFit/>
          </a:bodyPr>
          <a:lstStyle/>
          <a:p>
            <a:pPr algn="l">
              <a:lnSpc>
                <a:spcPct val="110000"/>
              </a:lnSpc>
            </a:pPr>
            <a:r>
              <a:rPr sz="1300" b="1">
                <a:solidFill>
                  <a:srgbClr val="1F7A78"/>
                </a:solidFill>
                <a:latin typeface="Arial"/>
              </a:rPr>
              <a:t>WHAT IT COULD DO</a:t>
            </a:r>
          </a:p>
        </p:txBody>
      </p:sp>
      <p:sp>
        <p:nvSpPr>
          <p:cNvPr id="8" name="TextBox 7"/>
          <p:cNvSpPr txBox="1"/>
          <p:nvPr/>
        </p:nvSpPr>
        <p:spPr>
          <a:xfrm>
            <a:off x="1092172" y="2666933"/>
            <a:ext cx="4444888" cy="2285942"/>
          </a:xfrm>
          <a:prstGeom prst="rect">
            <a:avLst/>
          </a:prstGeom>
          <a:noFill/>
        </p:spPr>
        <p:txBody>
          <a:bodyPr wrap="square" lIns="0" tIns="0" rIns="0" bIns="0" anchor="t">
            <a:spAutoFit/>
          </a:bodyPr>
          <a:lstStyle/>
          <a:p>
            <a:pPr algn="l">
              <a:lnSpc>
                <a:spcPct val="115000"/>
              </a:lnSpc>
              <a:spcAft>
                <a:spcPts val="1800"/>
              </a:spcAft>
            </a:pPr>
            <a:r>
              <a:rPr sz="1800" b="0">
                <a:solidFill>
                  <a:srgbClr val="1F2A2E"/>
                </a:solidFill>
                <a:latin typeface="Arial"/>
              </a:rPr>
              <a:t>Erosion and sediment transport</a:t>
            </a:r>
          </a:p>
          <a:p>
            <a:pPr algn="l">
              <a:lnSpc>
                <a:spcPct val="115000"/>
              </a:lnSpc>
              <a:spcAft>
                <a:spcPts val="1800"/>
              </a:spcAft>
            </a:pPr>
            <a:r>
              <a:rPr sz="1800" b="0">
                <a:solidFill>
                  <a:srgbClr val="1F2A2E"/>
                </a:solidFill>
                <a:latin typeface="Arial"/>
              </a:rPr>
              <a:t>Hillslope soil creep</a:t>
            </a:r>
          </a:p>
          <a:p>
            <a:pPr algn="l">
              <a:lnSpc>
                <a:spcPct val="115000"/>
              </a:lnSpc>
              <a:spcAft>
                <a:spcPts val="1800"/>
              </a:spcAft>
            </a:pPr>
            <a:r>
              <a:rPr sz="1800" b="0">
                <a:solidFill>
                  <a:srgbClr val="1F2A2E"/>
                </a:solidFill>
                <a:latin typeface="Arial"/>
              </a:rPr>
              <a:t>Rainfall, runoff and vegetation</a:t>
            </a:r>
          </a:p>
          <a:p>
            <a:pPr algn="l">
              <a:lnSpc>
                <a:spcPct val="115000"/>
              </a:lnSpc>
            </a:pPr>
            <a:r>
              <a:rPr sz="1800" b="0">
                <a:solidFill>
                  <a:srgbClr val="1F2A2E"/>
                </a:solidFill>
                <a:latin typeface="Arial"/>
              </a:rPr>
              <a:t>Simple uplift at a set rate</a:t>
            </a:r>
          </a:p>
        </p:txBody>
      </p:sp>
      <p:sp>
        <p:nvSpPr>
          <p:cNvPr id="9" name="Rounded Rectangle 8"/>
          <p:cNvSpPr/>
          <p:nvPr/>
        </p:nvSpPr>
        <p:spPr>
          <a:xfrm>
            <a:off x="6299042" y="2031949"/>
            <a:ext cx="5079873" cy="3047923"/>
          </a:xfrm>
          <a:prstGeom prst="roundRect">
            <a:avLst>
              <a:gd name="adj" fmla="val 5000"/>
            </a:avLst>
          </a:prstGeom>
          <a:solidFill>
            <a:srgbClr val="FBEFE9"/>
          </a:solidFill>
          <a:ln w="12700">
            <a:solidFill>
              <a:srgbClr val="C2542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78435" y="2260543"/>
            <a:ext cx="4444888" cy="253993"/>
          </a:xfrm>
          <a:prstGeom prst="rect">
            <a:avLst/>
          </a:prstGeom>
          <a:noFill/>
        </p:spPr>
        <p:txBody>
          <a:bodyPr wrap="square" lIns="0" tIns="0" rIns="0" bIns="0" anchor="t">
            <a:spAutoFit/>
          </a:bodyPr>
          <a:lstStyle/>
          <a:p>
            <a:pPr algn="l">
              <a:lnSpc>
                <a:spcPct val="110000"/>
              </a:lnSpc>
            </a:pPr>
            <a:r>
              <a:rPr sz="1300" b="1">
                <a:solidFill>
                  <a:srgbClr val="C2542D"/>
                </a:solidFill>
                <a:latin typeface="Arial"/>
              </a:rPr>
              <a:t>WHAT IT COULD NOT</a:t>
            </a:r>
          </a:p>
        </p:txBody>
      </p:sp>
      <p:sp>
        <p:nvSpPr>
          <p:cNvPr id="11" name="TextBox 10"/>
          <p:cNvSpPr txBox="1"/>
          <p:nvPr/>
        </p:nvSpPr>
        <p:spPr>
          <a:xfrm>
            <a:off x="6578435" y="2666933"/>
            <a:ext cx="4444888" cy="2285942"/>
          </a:xfrm>
          <a:prstGeom prst="rect">
            <a:avLst/>
          </a:prstGeom>
          <a:noFill/>
        </p:spPr>
        <p:txBody>
          <a:bodyPr wrap="square" lIns="0" tIns="0" rIns="0" bIns="0" anchor="t">
            <a:spAutoFit/>
          </a:bodyPr>
          <a:lstStyle/>
          <a:p>
            <a:pPr algn="l">
              <a:lnSpc>
                <a:spcPct val="115000"/>
              </a:lnSpc>
              <a:spcAft>
                <a:spcPts val="1800"/>
              </a:spcAft>
            </a:pPr>
            <a:r>
              <a:rPr sz="1800" b="0">
                <a:solidFill>
                  <a:srgbClr val="1F2A2E"/>
                </a:solidFill>
                <a:latin typeface="Arial"/>
              </a:rPr>
              <a:t>Model a </a:t>
            </a:r>
            <a:r>
              <a:rPr sz="1800" b="1">
                <a:solidFill>
                  <a:srgbClr val="1F2A2E"/>
                </a:solidFill>
                <a:latin typeface="Arial"/>
              </a:rPr>
              <a:t>fault</a:t>
            </a:r>
            <a:r>
              <a:rPr sz="1800" b="0">
                <a:solidFill>
                  <a:srgbClr val="1F2A2E"/>
                </a:solidFill>
                <a:latin typeface="Arial"/>
              </a:rPr>
              <a:t> that moves the ground up and sideways</a:t>
            </a:r>
          </a:p>
          <a:p>
            <a:pPr algn="l">
              <a:lnSpc>
                <a:spcPct val="115000"/>
              </a:lnSpc>
              <a:spcAft>
                <a:spcPts val="1800"/>
              </a:spcAft>
            </a:pPr>
            <a:r>
              <a:rPr sz="1800" b="0">
                <a:solidFill>
                  <a:srgbClr val="1F2A2E"/>
                </a:solidFill>
                <a:latin typeface="Arial"/>
              </a:rPr>
              <a:t>Produce </a:t>
            </a:r>
            <a:r>
              <a:rPr sz="1800" b="1">
                <a:solidFill>
                  <a:srgbClr val="1F2A2E"/>
                </a:solidFill>
                <a:latin typeface="Arial"/>
              </a:rPr>
              <a:t>earthquakes</a:t>
            </a:r>
            <a:r>
              <a:rPr sz="1800" b="0">
                <a:solidFill>
                  <a:srgbClr val="1F2A2E"/>
                </a:solidFill>
                <a:latin typeface="Arial"/>
              </a:rPr>
              <a:t> on that fault</a:t>
            </a:r>
          </a:p>
          <a:p>
            <a:pPr algn="l">
              <a:lnSpc>
                <a:spcPct val="115000"/>
              </a:lnSpc>
            </a:pPr>
            <a:r>
              <a:rPr sz="1800" b="0">
                <a:solidFill>
                  <a:srgbClr val="1F2A2E"/>
                </a:solidFill>
                <a:latin typeface="Arial"/>
              </a:rPr>
              <a:t>Trigger </a:t>
            </a:r>
            <a:r>
              <a:rPr sz="1800" b="1">
                <a:solidFill>
                  <a:srgbClr val="1F2A2E"/>
                </a:solidFill>
                <a:latin typeface="Arial"/>
              </a:rPr>
              <a:t>landslides</a:t>
            </a:r>
            <a:r>
              <a:rPr sz="1800" b="0">
                <a:solidFill>
                  <a:srgbClr val="1F2A2E"/>
                </a:solidFill>
                <a:latin typeface="Arial"/>
              </a:rPr>
              <a:t> from earthquake shaking</a:t>
            </a:r>
          </a:p>
        </p:txBody>
      </p:sp>
      <p:sp>
        <p:nvSpPr>
          <p:cNvPr id="12" name="TextBox 11"/>
          <p:cNvSpPr txBox="1"/>
          <p:nvPr/>
        </p:nvSpPr>
        <p:spPr>
          <a:xfrm>
            <a:off x="812779" y="5397365"/>
            <a:ext cx="10566135" cy="380990"/>
          </a:xfrm>
          <a:prstGeom prst="rect">
            <a:avLst/>
          </a:prstGeom>
          <a:noFill/>
        </p:spPr>
        <p:txBody>
          <a:bodyPr wrap="square" lIns="0" tIns="0" rIns="0" bIns="0" anchor="t">
            <a:spAutoFit/>
          </a:bodyPr>
          <a:lstStyle/>
          <a:p>
            <a:pPr algn="l">
              <a:lnSpc>
                <a:spcPct val="110000"/>
              </a:lnSpc>
            </a:pPr>
            <a:r>
              <a:rPr sz="1700" b="0" dirty="0">
                <a:solidFill>
                  <a:srgbClr val="5B6B73"/>
                </a:solidFill>
                <a:latin typeface="Arial"/>
              </a:rPr>
              <a:t>In tectonically active regions these are a large part of how the landscape changes.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3EC"/>
        </a:solidFill>
        <a:effectLst/>
      </p:bgPr>
    </p:bg>
    <p:spTree>
      <p:nvGrpSpPr>
        <p:cNvPr id="1" name=""/>
        <p:cNvGrpSpPr/>
        <p:nvPr/>
      </p:nvGrpSpPr>
      <p:grpSpPr>
        <a:xfrm>
          <a:off x="0" y="0"/>
          <a:ext cx="0" cy="0"/>
          <a:chOff x="0" y="0"/>
          <a:chExt cx="0" cy="0"/>
        </a:xfrm>
      </p:grpSpPr>
      <p:sp>
        <p:nvSpPr>
          <p:cNvPr id="2" name="TextBox 1"/>
          <p:cNvSpPr txBox="1"/>
          <p:nvPr/>
        </p:nvSpPr>
        <p:spPr>
          <a:xfrm>
            <a:off x="812779" y="584185"/>
            <a:ext cx="10566135" cy="253993"/>
          </a:xfrm>
          <a:prstGeom prst="rect">
            <a:avLst/>
          </a:prstGeom>
          <a:noFill/>
        </p:spPr>
        <p:txBody>
          <a:bodyPr wrap="square" lIns="0" tIns="0" rIns="0" bIns="0" anchor="t">
            <a:spAutoFit/>
          </a:bodyPr>
          <a:lstStyle/>
          <a:p>
            <a:pPr algn="l">
              <a:lnSpc>
                <a:spcPct val="110000"/>
              </a:lnSpc>
            </a:pPr>
            <a:r>
              <a:rPr sz="1300" b="1">
                <a:solidFill>
                  <a:srgbClr val="C2542D"/>
                </a:solidFill>
                <a:latin typeface="Arial"/>
              </a:rPr>
              <a:t>EFEL</a:t>
            </a:r>
          </a:p>
        </p:txBody>
      </p:sp>
      <p:sp>
        <p:nvSpPr>
          <p:cNvPr id="3" name="TextBox 2"/>
          <p:cNvSpPr txBox="1"/>
          <p:nvPr/>
        </p:nvSpPr>
        <p:spPr>
          <a:xfrm>
            <a:off x="812779" y="863578"/>
            <a:ext cx="10566135" cy="571485"/>
          </a:xfrm>
          <a:prstGeom prst="rect">
            <a:avLst/>
          </a:prstGeom>
          <a:noFill/>
        </p:spPr>
        <p:txBody>
          <a:bodyPr wrap="square" lIns="0" tIns="0" rIns="0" bIns="0" anchor="t">
            <a:spAutoFit/>
          </a:bodyPr>
          <a:lstStyle/>
          <a:p>
            <a:pPr algn="l">
              <a:lnSpc>
                <a:spcPct val="110000"/>
              </a:lnSpc>
            </a:pPr>
            <a:r>
              <a:rPr sz="3000" b="1">
                <a:solidFill>
                  <a:srgbClr val="1F2A2E"/>
                </a:solidFill>
                <a:latin typeface="Georgia"/>
              </a:rPr>
              <a:t>EFEL: Elastic Fault, Earthquake and Landslide</a:t>
            </a:r>
          </a:p>
        </p:txBody>
      </p:sp>
      <p:sp>
        <p:nvSpPr>
          <p:cNvPr id="5" name="TextBox 4"/>
          <p:cNvSpPr txBox="1"/>
          <p:nvPr/>
        </p:nvSpPr>
        <p:spPr>
          <a:xfrm>
            <a:off x="10108947" y="6349841"/>
            <a:ext cx="1269968" cy="215894"/>
          </a:xfrm>
          <a:prstGeom prst="rect">
            <a:avLst/>
          </a:prstGeom>
          <a:noFill/>
        </p:spPr>
        <p:txBody>
          <a:bodyPr wrap="square" lIns="0" tIns="0" rIns="0" bIns="0" anchor="t">
            <a:spAutoFit/>
          </a:bodyPr>
          <a:lstStyle/>
          <a:p>
            <a:pPr algn="r">
              <a:lnSpc>
                <a:spcPct val="110000"/>
              </a:lnSpc>
            </a:pPr>
            <a:r>
              <a:rPr sz="1200" b="0">
                <a:solidFill>
                  <a:srgbClr val="5B6B73"/>
                </a:solidFill>
                <a:latin typeface="Arial"/>
              </a:rPr>
              <a:t>4</a:t>
            </a:r>
          </a:p>
        </p:txBody>
      </p:sp>
      <p:sp>
        <p:nvSpPr>
          <p:cNvPr id="6" name="TextBox 5"/>
          <p:cNvSpPr txBox="1"/>
          <p:nvPr/>
        </p:nvSpPr>
        <p:spPr>
          <a:xfrm>
            <a:off x="812779" y="1904952"/>
            <a:ext cx="5714857" cy="3555911"/>
          </a:xfrm>
          <a:prstGeom prst="rect">
            <a:avLst/>
          </a:prstGeom>
          <a:noFill/>
        </p:spPr>
        <p:txBody>
          <a:bodyPr wrap="square" lIns="0" tIns="0" rIns="0" bIns="0" anchor="t">
            <a:spAutoFit/>
          </a:bodyPr>
          <a:lstStyle/>
          <a:p>
            <a:pPr algn="l">
              <a:lnSpc>
                <a:spcPct val="120000"/>
              </a:lnSpc>
              <a:spcAft>
                <a:spcPts val="2000"/>
              </a:spcAft>
            </a:pPr>
            <a:r>
              <a:rPr sz="1900" b="0">
                <a:solidFill>
                  <a:srgbClr val="1F2A2E"/>
                </a:solidFill>
                <a:latin typeface="Arial"/>
              </a:rPr>
              <a:t>A set of </a:t>
            </a:r>
            <a:r>
              <a:rPr sz="1900" b="1">
                <a:solidFill>
                  <a:srgbClr val="1F2A2E"/>
                </a:solidFill>
                <a:latin typeface="Arial"/>
              </a:rPr>
              <a:t>components for Landlab</a:t>
            </a:r>
            <a:r>
              <a:rPr sz="1900" b="0">
                <a:solidFill>
                  <a:srgbClr val="1F2A2E"/>
                </a:solidFill>
                <a:latin typeface="Arial"/>
              </a:rPr>
              <a:t> that adds tectonics with real mechanics.</a:t>
            </a:r>
          </a:p>
          <a:p>
            <a:pPr algn="l">
              <a:lnSpc>
                <a:spcPct val="120000"/>
              </a:lnSpc>
              <a:spcAft>
                <a:spcPts val="2000"/>
              </a:spcAft>
            </a:pPr>
            <a:r>
              <a:rPr sz="1900" b="0">
                <a:solidFill>
                  <a:srgbClr val="1F2A2E"/>
                </a:solidFill>
                <a:latin typeface="Arial"/>
              </a:rPr>
              <a:t>It models a </a:t>
            </a:r>
            <a:r>
              <a:rPr sz="1900" b="1">
                <a:solidFill>
                  <a:srgbClr val="1F2A2E"/>
                </a:solidFill>
                <a:latin typeface="Arial"/>
              </a:rPr>
              <a:t>fault</a:t>
            </a:r>
            <a:r>
              <a:rPr sz="1900" b="0">
                <a:solidFill>
                  <a:srgbClr val="1F2A2E"/>
                </a:solidFill>
                <a:latin typeface="Arial"/>
              </a:rPr>
              <a:t> that slowly slips, the </a:t>
            </a:r>
            <a:r>
              <a:rPr sz="1900" b="1">
                <a:solidFill>
                  <a:srgbClr val="1F2A2E"/>
                </a:solidFill>
                <a:latin typeface="Arial"/>
              </a:rPr>
              <a:t>earthquakes</a:t>
            </a:r>
            <a:r>
              <a:rPr sz="1900" b="0">
                <a:solidFill>
                  <a:srgbClr val="1F2A2E"/>
                </a:solidFill>
                <a:latin typeface="Arial"/>
              </a:rPr>
              <a:t> on it, and the </a:t>
            </a:r>
            <a:r>
              <a:rPr sz="1900" b="1">
                <a:solidFill>
                  <a:srgbClr val="1F2A2E"/>
                </a:solidFill>
                <a:latin typeface="Arial"/>
              </a:rPr>
              <a:t>landslides</a:t>
            </a:r>
            <a:r>
              <a:rPr sz="1900" b="0">
                <a:solidFill>
                  <a:srgbClr val="1F2A2E"/>
                </a:solidFill>
                <a:latin typeface="Arial"/>
              </a:rPr>
              <a:t> the shaking triggers.</a:t>
            </a:r>
          </a:p>
          <a:p>
            <a:pPr algn="l">
              <a:lnSpc>
                <a:spcPct val="120000"/>
              </a:lnSpc>
              <a:spcAft>
                <a:spcPts val="2000"/>
              </a:spcAft>
            </a:pPr>
            <a:r>
              <a:rPr sz="1900" b="0">
                <a:solidFill>
                  <a:srgbClr val="1F2A2E"/>
                </a:solidFill>
                <a:latin typeface="Arial"/>
              </a:rPr>
              <a:t>Written by </a:t>
            </a:r>
            <a:r>
              <a:rPr sz="1900" b="1">
                <a:solidFill>
                  <a:srgbClr val="1F2A2E"/>
                </a:solidFill>
                <a:latin typeface="Arial"/>
              </a:rPr>
              <a:t>A. M. Forte</a:t>
            </a:r>
            <a:r>
              <a:rPr sz="1900" b="0">
                <a:solidFill>
                  <a:srgbClr val="1F2A2E"/>
                </a:solidFill>
                <a:latin typeface="Arial"/>
              </a:rPr>
              <a:t> (Louisiana State University), open source under the MIT licence.</a:t>
            </a:r>
          </a:p>
          <a:p>
            <a:pPr algn="l">
              <a:lnSpc>
                <a:spcPct val="120000"/>
              </a:lnSpc>
            </a:pPr>
            <a:r>
              <a:rPr sz="1900" b="0">
                <a:solidFill>
                  <a:srgbClr val="1F2A2E"/>
                </a:solidFill>
                <a:latin typeface="Arial"/>
              </a:rPr>
              <a:t>Uses Okada's elastic-dislocation equations to move the ground.</a:t>
            </a:r>
          </a:p>
        </p:txBody>
      </p:sp>
      <p:sp>
        <p:nvSpPr>
          <p:cNvPr id="7" name="Rounded Rectangle 6"/>
          <p:cNvSpPr/>
          <p:nvPr/>
        </p:nvSpPr>
        <p:spPr>
          <a:xfrm>
            <a:off x="6857828" y="2095447"/>
            <a:ext cx="4521086" cy="2412939"/>
          </a:xfrm>
          <a:prstGeom prst="roundRect">
            <a:avLst>
              <a:gd name="adj" fmla="val 5000"/>
            </a:avLst>
          </a:prstGeom>
          <a:solidFill>
            <a:srgbClr val="FFFDF8"/>
          </a:solidFill>
          <a:ln w="12700">
            <a:solidFill>
              <a:srgbClr val="E4DD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111822" y="2324041"/>
            <a:ext cx="4063898" cy="228594"/>
          </a:xfrm>
          <a:prstGeom prst="rect">
            <a:avLst/>
          </a:prstGeom>
          <a:noFill/>
        </p:spPr>
        <p:txBody>
          <a:bodyPr wrap="square" lIns="0" tIns="0" rIns="0" bIns="0" anchor="t">
            <a:spAutoFit/>
          </a:bodyPr>
          <a:lstStyle/>
          <a:p>
            <a:pPr algn="l">
              <a:lnSpc>
                <a:spcPct val="110000"/>
              </a:lnSpc>
            </a:pPr>
            <a:r>
              <a:rPr sz="1300" b="1">
                <a:solidFill>
                  <a:srgbClr val="1F7A78"/>
                </a:solidFill>
                <a:latin typeface="Arial"/>
              </a:rPr>
              <a:t>GET IT</a:t>
            </a:r>
          </a:p>
        </p:txBody>
      </p:sp>
      <p:sp>
        <p:nvSpPr>
          <p:cNvPr id="9" name="TextBox 8"/>
          <p:cNvSpPr txBox="1"/>
          <p:nvPr/>
        </p:nvSpPr>
        <p:spPr>
          <a:xfrm>
            <a:off x="7111822" y="2666933"/>
            <a:ext cx="4063898" cy="761980"/>
          </a:xfrm>
          <a:prstGeom prst="rect">
            <a:avLst/>
          </a:prstGeom>
          <a:noFill/>
        </p:spPr>
        <p:txBody>
          <a:bodyPr wrap="square" lIns="0" tIns="0" rIns="0" bIns="0" anchor="t">
            <a:spAutoFit/>
          </a:bodyPr>
          <a:lstStyle/>
          <a:p>
            <a:pPr algn="l">
              <a:lnSpc>
                <a:spcPct val="120000"/>
              </a:lnSpc>
            </a:pPr>
            <a:r>
              <a:rPr sz="1400" b="1">
                <a:solidFill>
                  <a:srgbClr val="1F7A78"/>
                </a:solidFill>
                <a:latin typeface="Arial"/>
              </a:rPr>
              <a:t>github.com/amforte/elastic_fault_earthquake_and_landslide</a:t>
            </a:r>
          </a:p>
        </p:txBody>
      </p:sp>
      <p:sp>
        <p:nvSpPr>
          <p:cNvPr id="10" name="TextBox 9"/>
          <p:cNvSpPr txBox="1"/>
          <p:nvPr/>
        </p:nvSpPr>
        <p:spPr>
          <a:xfrm>
            <a:off x="7111822" y="3428914"/>
            <a:ext cx="4063898" cy="952476"/>
          </a:xfrm>
          <a:prstGeom prst="rect">
            <a:avLst/>
          </a:prstGeom>
          <a:noFill/>
        </p:spPr>
        <p:txBody>
          <a:bodyPr wrap="square" lIns="0" tIns="0" rIns="0" bIns="0" anchor="t">
            <a:spAutoFit/>
          </a:bodyPr>
          <a:lstStyle/>
          <a:p>
            <a:pPr algn="l">
              <a:lnSpc>
                <a:spcPct val="120000"/>
              </a:lnSpc>
            </a:pPr>
            <a:r>
              <a:rPr sz="1400" b="0">
                <a:solidFill>
                  <a:srgbClr val="5B6B73"/>
                </a:solidFill>
                <a:latin typeface="Arial"/>
              </a:rPr>
              <a:t>Cite: Forte, A. M., EFEL 1.0, Geoscientific Model Development (in review).</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3EC"/>
        </a:solidFill>
        <a:effectLst/>
      </p:bgPr>
    </p:bg>
    <p:spTree>
      <p:nvGrpSpPr>
        <p:cNvPr id="1" name=""/>
        <p:cNvGrpSpPr/>
        <p:nvPr/>
      </p:nvGrpSpPr>
      <p:grpSpPr>
        <a:xfrm>
          <a:off x="0" y="0"/>
          <a:ext cx="0" cy="0"/>
          <a:chOff x="0" y="0"/>
          <a:chExt cx="0" cy="0"/>
        </a:xfrm>
      </p:grpSpPr>
      <p:sp>
        <p:nvSpPr>
          <p:cNvPr id="2" name="TextBox 1"/>
          <p:cNvSpPr txBox="1"/>
          <p:nvPr/>
        </p:nvSpPr>
        <p:spPr>
          <a:xfrm>
            <a:off x="812779" y="584185"/>
            <a:ext cx="10566135" cy="253993"/>
          </a:xfrm>
          <a:prstGeom prst="rect">
            <a:avLst/>
          </a:prstGeom>
          <a:noFill/>
        </p:spPr>
        <p:txBody>
          <a:bodyPr wrap="square" lIns="0" tIns="0" rIns="0" bIns="0" anchor="t">
            <a:spAutoFit/>
          </a:bodyPr>
          <a:lstStyle/>
          <a:p>
            <a:pPr algn="l">
              <a:lnSpc>
                <a:spcPct val="110000"/>
              </a:lnSpc>
            </a:pPr>
            <a:r>
              <a:rPr sz="1300" b="1">
                <a:solidFill>
                  <a:srgbClr val="C2542D"/>
                </a:solidFill>
                <a:latin typeface="Arial"/>
              </a:rPr>
              <a:t>EFEL</a:t>
            </a:r>
          </a:p>
        </p:txBody>
      </p:sp>
      <p:sp>
        <p:nvSpPr>
          <p:cNvPr id="3" name="TextBox 2"/>
          <p:cNvSpPr txBox="1"/>
          <p:nvPr/>
        </p:nvSpPr>
        <p:spPr>
          <a:xfrm>
            <a:off x="812779" y="863578"/>
            <a:ext cx="10566135" cy="571485"/>
          </a:xfrm>
          <a:prstGeom prst="rect">
            <a:avLst/>
          </a:prstGeom>
          <a:noFill/>
        </p:spPr>
        <p:txBody>
          <a:bodyPr wrap="square" lIns="0" tIns="0" rIns="0" bIns="0" anchor="t">
            <a:spAutoFit/>
          </a:bodyPr>
          <a:lstStyle/>
          <a:p>
            <a:pPr algn="l">
              <a:lnSpc>
                <a:spcPct val="110000"/>
              </a:lnSpc>
            </a:pPr>
            <a:r>
              <a:rPr sz="3000" b="1">
                <a:solidFill>
                  <a:srgbClr val="1F2A2E"/>
                </a:solidFill>
                <a:latin typeface="Georgia"/>
              </a:rPr>
              <a:t>The components in EFEL</a:t>
            </a:r>
          </a:p>
        </p:txBody>
      </p:sp>
      <p:sp>
        <p:nvSpPr>
          <p:cNvPr id="5" name="TextBox 4"/>
          <p:cNvSpPr txBox="1"/>
          <p:nvPr/>
        </p:nvSpPr>
        <p:spPr>
          <a:xfrm>
            <a:off x="10108947" y="6349841"/>
            <a:ext cx="1269968" cy="215894"/>
          </a:xfrm>
          <a:prstGeom prst="rect">
            <a:avLst/>
          </a:prstGeom>
          <a:noFill/>
        </p:spPr>
        <p:txBody>
          <a:bodyPr wrap="square" lIns="0" tIns="0" rIns="0" bIns="0" anchor="t">
            <a:spAutoFit/>
          </a:bodyPr>
          <a:lstStyle/>
          <a:p>
            <a:pPr algn="r">
              <a:lnSpc>
                <a:spcPct val="110000"/>
              </a:lnSpc>
            </a:pPr>
            <a:r>
              <a:rPr sz="1200" b="0">
                <a:solidFill>
                  <a:srgbClr val="5B6B73"/>
                </a:solidFill>
                <a:latin typeface="Arial"/>
              </a:rPr>
              <a:t>5</a:t>
            </a:r>
          </a:p>
        </p:txBody>
      </p:sp>
      <p:sp>
        <p:nvSpPr>
          <p:cNvPr id="6" name="Rounded Rectangle 5"/>
          <p:cNvSpPr/>
          <p:nvPr/>
        </p:nvSpPr>
        <p:spPr>
          <a:xfrm>
            <a:off x="812779" y="2031949"/>
            <a:ext cx="3047923" cy="2666933"/>
          </a:xfrm>
          <a:prstGeom prst="roundRect">
            <a:avLst>
              <a:gd name="adj" fmla="val 5000"/>
            </a:avLst>
          </a:prstGeom>
          <a:solidFill>
            <a:srgbClr val="FFFDF8"/>
          </a:solidFill>
          <a:ln w="12700">
            <a:solidFill>
              <a:srgbClr val="E4DD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66773" y="2260543"/>
            <a:ext cx="2539936" cy="215894"/>
          </a:xfrm>
          <a:prstGeom prst="rect">
            <a:avLst/>
          </a:prstGeom>
          <a:noFill/>
        </p:spPr>
        <p:txBody>
          <a:bodyPr wrap="square" lIns="0" tIns="0" rIns="0" bIns="0" anchor="t">
            <a:spAutoFit/>
          </a:bodyPr>
          <a:lstStyle/>
          <a:p>
            <a:pPr algn="l">
              <a:lnSpc>
                <a:spcPct val="110000"/>
              </a:lnSpc>
            </a:pPr>
            <a:r>
              <a:rPr sz="1200" b="1">
                <a:solidFill>
                  <a:srgbClr val="C2542D"/>
                </a:solidFill>
                <a:latin typeface="Arial"/>
              </a:rPr>
              <a:t>COMPONENT 1</a:t>
            </a:r>
          </a:p>
        </p:txBody>
      </p:sp>
      <p:sp>
        <p:nvSpPr>
          <p:cNvPr id="8" name="TextBox 7"/>
          <p:cNvSpPr txBox="1"/>
          <p:nvPr/>
        </p:nvSpPr>
        <p:spPr>
          <a:xfrm>
            <a:off x="1066773" y="2539936"/>
            <a:ext cx="2539936" cy="317492"/>
          </a:xfrm>
          <a:prstGeom prst="rect">
            <a:avLst/>
          </a:prstGeom>
          <a:noFill/>
        </p:spPr>
        <p:txBody>
          <a:bodyPr wrap="square" lIns="0" tIns="0" rIns="0" bIns="0" anchor="t">
            <a:spAutoFit/>
          </a:bodyPr>
          <a:lstStyle/>
          <a:p>
            <a:pPr algn="l">
              <a:lnSpc>
                <a:spcPct val="110000"/>
              </a:lnSpc>
            </a:pPr>
            <a:r>
              <a:rPr sz="2200" b="1">
                <a:solidFill>
                  <a:srgbClr val="1F2A2E"/>
                </a:solidFill>
                <a:latin typeface="Georgia"/>
              </a:rPr>
              <a:t>Fault</a:t>
            </a:r>
          </a:p>
        </p:txBody>
      </p:sp>
      <p:sp>
        <p:nvSpPr>
          <p:cNvPr id="9" name="TextBox 8"/>
          <p:cNvSpPr txBox="1"/>
          <p:nvPr/>
        </p:nvSpPr>
        <p:spPr>
          <a:xfrm>
            <a:off x="1066773" y="2952676"/>
            <a:ext cx="2539936" cy="444488"/>
          </a:xfrm>
          <a:prstGeom prst="rect">
            <a:avLst/>
          </a:prstGeom>
          <a:noFill/>
        </p:spPr>
        <p:txBody>
          <a:bodyPr wrap="square" lIns="0" tIns="0" rIns="0" bIns="0" anchor="t">
            <a:spAutoFit/>
          </a:bodyPr>
          <a:lstStyle/>
          <a:p>
            <a:pPr algn="l">
              <a:lnSpc>
                <a:spcPct val="110000"/>
              </a:lnSpc>
            </a:pPr>
            <a:r>
              <a:rPr sz="1300" b="1">
                <a:solidFill>
                  <a:srgbClr val="1F7A78"/>
                </a:solidFill>
                <a:latin typeface="Courier New"/>
              </a:rPr>
              <a:t>DippingFault</a:t>
            </a:r>
          </a:p>
          <a:p>
            <a:pPr algn="l">
              <a:lnSpc>
                <a:spcPct val="110000"/>
              </a:lnSpc>
            </a:pPr>
            <a:r>
              <a:rPr sz="1300" b="1">
                <a:solidFill>
                  <a:srgbClr val="1F7A78"/>
                </a:solidFill>
                <a:latin typeface="Courier New"/>
              </a:rPr>
              <a:t>VerticalFault</a:t>
            </a:r>
          </a:p>
        </p:txBody>
      </p:sp>
      <p:sp>
        <p:nvSpPr>
          <p:cNvPr id="10" name="TextBox 9"/>
          <p:cNvSpPr txBox="1"/>
          <p:nvPr/>
        </p:nvSpPr>
        <p:spPr>
          <a:xfrm>
            <a:off x="1066773" y="3555911"/>
            <a:ext cx="2539936" cy="1015974"/>
          </a:xfrm>
          <a:prstGeom prst="rect">
            <a:avLst/>
          </a:prstGeom>
          <a:noFill/>
        </p:spPr>
        <p:txBody>
          <a:bodyPr wrap="square" lIns="0" tIns="0" rIns="0" bIns="0" anchor="t">
            <a:spAutoFit/>
          </a:bodyPr>
          <a:lstStyle/>
          <a:p>
            <a:pPr algn="l">
              <a:lnSpc>
                <a:spcPct val="120000"/>
              </a:lnSpc>
            </a:pPr>
            <a:r>
              <a:rPr sz="1700" b="0">
                <a:solidFill>
                  <a:srgbClr val="1F2A2E"/>
                </a:solidFill>
                <a:latin typeface="Arial"/>
              </a:rPr>
              <a:t>A crack that slowly slips and moves the ground.</a:t>
            </a:r>
          </a:p>
        </p:txBody>
      </p:sp>
      <p:sp>
        <p:nvSpPr>
          <p:cNvPr id="11" name="Right Arrow 10"/>
          <p:cNvSpPr/>
          <p:nvPr/>
        </p:nvSpPr>
        <p:spPr>
          <a:xfrm>
            <a:off x="4013099" y="3174920"/>
            <a:ext cx="406389" cy="279393"/>
          </a:xfrm>
          <a:prstGeom prst="rightArrow">
            <a:avLst/>
          </a:prstGeom>
          <a:solidFill>
            <a:srgbClr val="C254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571885" y="2031949"/>
            <a:ext cx="3047923" cy="2666933"/>
          </a:xfrm>
          <a:prstGeom prst="roundRect">
            <a:avLst>
              <a:gd name="adj" fmla="val 5000"/>
            </a:avLst>
          </a:prstGeom>
          <a:solidFill>
            <a:srgbClr val="FFFDF8"/>
          </a:solidFill>
          <a:ln w="12700">
            <a:solidFill>
              <a:srgbClr val="E4DD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825879" y="2260543"/>
            <a:ext cx="2539936" cy="215894"/>
          </a:xfrm>
          <a:prstGeom prst="rect">
            <a:avLst/>
          </a:prstGeom>
          <a:noFill/>
        </p:spPr>
        <p:txBody>
          <a:bodyPr wrap="square" lIns="0" tIns="0" rIns="0" bIns="0" anchor="t">
            <a:spAutoFit/>
          </a:bodyPr>
          <a:lstStyle/>
          <a:p>
            <a:pPr algn="l">
              <a:lnSpc>
                <a:spcPct val="110000"/>
              </a:lnSpc>
            </a:pPr>
            <a:r>
              <a:rPr sz="1200" b="1">
                <a:solidFill>
                  <a:srgbClr val="C2542D"/>
                </a:solidFill>
                <a:latin typeface="Arial"/>
              </a:rPr>
              <a:t>COMPONENT 2</a:t>
            </a:r>
          </a:p>
        </p:txBody>
      </p:sp>
      <p:sp>
        <p:nvSpPr>
          <p:cNvPr id="14" name="TextBox 13"/>
          <p:cNvSpPr txBox="1"/>
          <p:nvPr/>
        </p:nvSpPr>
        <p:spPr>
          <a:xfrm>
            <a:off x="4825879" y="2539936"/>
            <a:ext cx="2539936" cy="317492"/>
          </a:xfrm>
          <a:prstGeom prst="rect">
            <a:avLst/>
          </a:prstGeom>
          <a:noFill/>
        </p:spPr>
        <p:txBody>
          <a:bodyPr wrap="square" lIns="0" tIns="0" rIns="0" bIns="0" anchor="t">
            <a:spAutoFit/>
          </a:bodyPr>
          <a:lstStyle/>
          <a:p>
            <a:pPr algn="l">
              <a:lnSpc>
                <a:spcPct val="110000"/>
              </a:lnSpc>
            </a:pPr>
            <a:r>
              <a:rPr sz="2200" b="1">
                <a:solidFill>
                  <a:srgbClr val="1F2A2E"/>
                </a:solidFill>
                <a:latin typeface="Georgia"/>
              </a:rPr>
              <a:t>Earthquakes</a:t>
            </a:r>
          </a:p>
        </p:txBody>
      </p:sp>
      <p:sp>
        <p:nvSpPr>
          <p:cNvPr id="15" name="TextBox 14"/>
          <p:cNvSpPr txBox="1"/>
          <p:nvPr/>
        </p:nvSpPr>
        <p:spPr>
          <a:xfrm>
            <a:off x="4825879" y="2952676"/>
            <a:ext cx="2539936" cy="444488"/>
          </a:xfrm>
          <a:prstGeom prst="rect">
            <a:avLst/>
          </a:prstGeom>
          <a:noFill/>
        </p:spPr>
        <p:txBody>
          <a:bodyPr wrap="square" lIns="0" tIns="0" rIns="0" bIns="0" anchor="t">
            <a:spAutoFit/>
          </a:bodyPr>
          <a:lstStyle/>
          <a:p>
            <a:pPr algn="l">
              <a:lnSpc>
                <a:spcPct val="110000"/>
              </a:lnSpc>
            </a:pPr>
            <a:r>
              <a:rPr sz="1300" b="1">
                <a:solidFill>
                  <a:srgbClr val="1F7A78"/>
                </a:solidFill>
                <a:latin typeface="Courier New"/>
              </a:rPr>
              <a:t>EarthquakeSequence</a:t>
            </a:r>
          </a:p>
        </p:txBody>
      </p:sp>
      <p:sp>
        <p:nvSpPr>
          <p:cNvPr id="16" name="TextBox 15"/>
          <p:cNvSpPr txBox="1"/>
          <p:nvPr/>
        </p:nvSpPr>
        <p:spPr>
          <a:xfrm>
            <a:off x="4825879" y="3555911"/>
            <a:ext cx="2539936" cy="1015974"/>
          </a:xfrm>
          <a:prstGeom prst="rect">
            <a:avLst/>
          </a:prstGeom>
          <a:noFill/>
        </p:spPr>
        <p:txBody>
          <a:bodyPr wrap="square" lIns="0" tIns="0" rIns="0" bIns="0" anchor="t">
            <a:spAutoFit/>
          </a:bodyPr>
          <a:lstStyle/>
          <a:p>
            <a:pPr algn="l">
              <a:lnSpc>
                <a:spcPct val="120000"/>
              </a:lnSpc>
            </a:pPr>
            <a:r>
              <a:rPr sz="1700" b="0">
                <a:solidFill>
                  <a:srgbClr val="1F2A2E"/>
                </a:solidFill>
                <a:latin typeface="Arial"/>
              </a:rPr>
              <a:t>A catalogue of sudden slip events on the fault.</a:t>
            </a:r>
          </a:p>
        </p:txBody>
      </p:sp>
      <p:sp>
        <p:nvSpPr>
          <p:cNvPr id="17" name="Right Arrow 16"/>
          <p:cNvSpPr/>
          <p:nvPr/>
        </p:nvSpPr>
        <p:spPr>
          <a:xfrm>
            <a:off x="7772205" y="3174920"/>
            <a:ext cx="406389" cy="279393"/>
          </a:xfrm>
          <a:prstGeom prst="rightArrow">
            <a:avLst/>
          </a:prstGeom>
          <a:solidFill>
            <a:srgbClr val="C254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8330991" y="2031949"/>
            <a:ext cx="3047923" cy="2666933"/>
          </a:xfrm>
          <a:prstGeom prst="roundRect">
            <a:avLst>
              <a:gd name="adj" fmla="val 5000"/>
            </a:avLst>
          </a:prstGeom>
          <a:solidFill>
            <a:srgbClr val="FFFDF8"/>
          </a:solidFill>
          <a:ln w="12700">
            <a:solidFill>
              <a:srgbClr val="E4DD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584985" y="2260543"/>
            <a:ext cx="2539936" cy="215894"/>
          </a:xfrm>
          <a:prstGeom prst="rect">
            <a:avLst/>
          </a:prstGeom>
          <a:noFill/>
        </p:spPr>
        <p:txBody>
          <a:bodyPr wrap="square" lIns="0" tIns="0" rIns="0" bIns="0" anchor="t">
            <a:spAutoFit/>
          </a:bodyPr>
          <a:lstStyle/>
          <a:p>
            <a:pPr algn="l">
              <a:lnSpc>
                <a:spcPct val="110000"/>
              </a:lnSpc>
            </a:pPr>
            <a:r>
              <a:rPr sz="1200" b="1">
                <a:solidFill>
                  <a:srgbClr val="C2542D"/>
                </a:solidFill>
                <a:latin typeface="Arial"/>
              </a:rPr>
              <a:t>COMPONENT 3</a:t>
            </a:r>
          </a:p>
        </p:txBody>
      </p:sp>
      <p:sp>
        <p:nvSpPr>
          <p:cNvPr id="20" name="TextBox 19"/>
          <p:cNvSpPr txBox="1"/>
          <p:nvPr/>
        </p:nvSpPr>
        <p:spPr>
          <a:xfrm>
            <a:off x="8584985" y="2539936"/>
            <a:ext cx="2539936" cy="317492"/>
          </a:xfrm>
          <a:prstGeom prst="rect">
            <a:avLst/>
          </a:prstGeom>
          <a:noFill/>
        </p:spPr>
        <p:txBody>
          <a:bodyPr wrap="square" lIns="0" tIns="0" rIns="0" bIns="0" anchor="t">
            <a:spAutoFit/>
          </a:bodyPr>
          <a:lstStyle/>
          <a:p>
            <a:pPr algn="l">
              <a:lnSpc>
                <a:spcPct val="110000"/>
              </a:lnSpc>
            </a:pPr>
            <a:r>
              <a:rPr sz="2200" b="1">
                <a:solidFill>
                  <a:srgbClr val="1F2A2E"/>
                </a:solidFill>
                <a:latin typeface="Georgia"/>
              </a:rPr>
              <a:t>Landslides</a:t>
            </a:r>
          </a:p>
        </p:txBody>
      </p:sp>
      <p:sp>
        <p:nvSpPr>
          <p:cNvPr id="21" name="TextBox 20"/>
          <p:cNvSpPr txBox="1"/>
          <p:nvPr/>
        </p:nvSpPr>
        <p:spPr>
          <a:xfrm>
            <a:off x="8584985" y="2952676"/>
            <a:ext cx="2539936" cy="444488"/>
          </a:xfrm>
          <a:prstGeom prst="rect">
            <a:avLst/>
          </a:prstGeom>
          <a:noFill/>
        </p:spPr>
        <p:txBody>
          <a:bodyPr wrap="square" lIns="0" tIns="0" rIns="0" bIns="0" anchor="t">
            <a:spAutoFit/>
          </a:bodyPr>
          <a:lstStyle/>
          <a:p>
            <a:pPr algn="l">
              <a:lnSpc>
                <a:spcPct val="110000"/>
              </a:lnSpc>
            </a:pPr>
            <a:r>
              <a:rPr sz="1300" b="1">
                <a:solidFill>
                  <a:srgbClr val="1F7A78"/>
                </a:solidFill>
                <a:latin typeface="Courier New"/>
              </a:rPr>
              <a:t>CoseismicLandslider</a:t>
            </a:r>
          </a:p>
        </p:txBody>
      </p:sp>
      <p:sp>
        <p:nvSpPr>
          <p:cNvPr id="22" name="TextBox 21"/>
          <p:cNvSpPr txBox="1"/>
          <p:nvPr/>
        </p:nvSpPr>
        <p:spPr>
          <a:xfrm>
            <a:off x="8584985" y="3555911"/>
            <a:ext cx="2539936" cy="1015974"/>
          </a:xfrm>
          <a:prstGeom prst="rect">
            <a:avLst/>
          </a:prstGeom>
          <a:noFill/>
        </p:spPr>
        <p:txBody>
          <a:bodyPr wrap="square" lIns="0" tIns="0" rIns="0" bIns="0" anchor="t">
            <a:spAutoFit/>
          </a:bodyPr>
          <a:lstStyle/>
          <a:p>
            <a:pPr algn="l">
              <a:lnSpc>
                <a:spcPct val="120000"/>
              </a:lnSpc>
            </a:pPr>
            <a:r>
              <a:rPr sz="1700" b="0">
                <a:solidFill>
                  <a:srgbClr val="1F2A2E"/>
                </a:solidFill>
                <a:latin typeface="Arial"/>
              </a:rPr>
              <a:t>Landslides triggered by each earthquake's shaking.</a:t>
            </a:r>
          </a:p>
        </p:txBody>
      </p:sp>
      <p:sp>
        <p:nvSpPr>
          <p:cNvPr id="23" name="TextBox 22"/>
          <p:cNvSpPr txBox="1"/>
          <p:nvPr/>
        </p:nvSpPr>
        <p:spPr>
          <a:xfrm>
            <a:off x="812779" y="5079873"/>
            <a:ext cx="10566135" cy="634984"/>
          </a:xfrm>
          <a:prstGeom prst="rect">
            <a:avLst/>
          </a:prstGeom>
          <a:noFill/>
        </p:spPr>
        <p:txBody>
          <a:bodyPr wrap="square" lIns="0" tIns="0" rIns="0" bIns="0" anchor="t">
            <a:spAutoFit/>
          </a:bodyPr>
          <a:lstStyle/>
          <a:p>
            <a:pPr algn="l">
              <a:lnSpc>
                <a:spcPct val="120000"/>
              </a:lnSpc>
            </a:pPr>
            <a:r>
              <a:rPr sz="1600" b="0">
                <a:solidFill>
                  <a:srgbClr val="5B6B73"/>
                </a:solidFill>
                <a:latin typeface="Arial"/>
              </a:rPr>
              <a:t>They rely on Landlab's own components for the rest: </a:t>
            </a:r>
            <a:r>
              <a:rPr sz="1600" b="1">
                <a:solidFill>
                  <a:srgbClr val="5B6B73"/>
                </a:solidFill>
                <a:latin typeface="Arial"/>
              </a:rPr>
              <a:t>AdvectionSolverTVD</a:t>
            </a:r>
            <a:r>
              <a:rPr sz="1600" b="0">
                <a:solidFill>
                  <a:srgbClr val="5B6B73"/>
                </a:solidFill>
                <a:latin typeface="Arial"/>
              </a:rPr>
              <a:t> shifts terrain sideways and </a:t>
            </a:r>
            <a:r>
              <a:rPr sz="1600" b="1">
                <a:solidFill>
                  <a:srgbClr val="5B6B73"/>
                </a:solidFill>
                <a:latin typeface="Arial"/>
              </a:rPr>
              <a:t>BedrockLandslider</a:t>
            </a:r>
            <a:r>
              <a:rPr sz="1600" b="0">
                <a:solidFill>
                  <a:srgbClr val="5B6B73"/>
                </a:solidFill>
                <a:latin typeface="Arial"/>
              </a:rPr>
              <a:t> routes landslide debris downhill.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3EC"/>
        </a:solidFill>
        <a:effectLst/>
      </p:bgPr>
    </p:bg>
    <p:spTree>
      <p:nvGrpSpPr>
        <p:cNvPr id="1" name=""/>
        <p:cNvGrpSpPr/>
        <p:nvPr/>
      </p:nvGrpSpPr>
      <p:grpSpPr>
        <a:xfrm>
          <a:off x="0" y="0"/>
          <a:ext cx="0" cy="0"/>
          <a:chOff x="0" y="0"/>
          <a:chExt cx="0" cy="0"/>
        </a:xfrm>
      </p:grpSpPr>
      <p:sp>
        <p:nvSpPr>
          <p:cNvPr id="2" name="TextBox 1"/>
          <p:cNvSpPr txBox="1"/>
          <p:nvPr/>
        </p:nvSpPr>
        <p:spPr>
          <a:xfrm>
            <a:off x="812779" y="584185"/>
            <a:ext cx="10566135" cy="253993"/>
          </a:xfrm>
          <a:prstGeom prst="rect">
            <a:avLst/>
          </a:prstGeom>
          <a:noFill/>
        </p:spPr>
        <p:txBody>
          <a:bodyPr wrap="square" lIns="0" tIns="0" rIns="0" bIns="0" anchor="t">
            <a:spAutoFit/>
          </a:bodyPr>
          <a:lstStyle/>
          <a:p>
            <a:pPr algn="l">
              <a:lnSpc>
                <a:spcPct val="110000"/>
              </a:lnSpc>
            </a:pPr>
            <a:r>
              <a:rPr sz="1300" b="1">
                <a:solidFill>
                  <a:srgbClr val="C2542D"/>
                </a:solidFill>
                <a:latin typeface="Arial"/>
              </a:rPr>
              <a:t>EFEL COMPONENTS · 1 OF 3</a:t>
            </a:r>
          </a:p>
        </p:txBody>
      </p:sp>
      <p:sp>
        <p:nvSpPr>
          <p:cNvPr id="3" name="TextBox 2"/>
          <p:cNvSpPr txBox="1"/>
          <p:nvPr/>
        </p:nvSpPr>
        <p:spPr>
          <a:xfrm>
            <a:off x="812779" y="863578"/>
            <a:ext cx="10566135" cy="571485"/>
          </a:xfrm>
          <a:prstGeom prst="rect">
            <a:avLst/>
          </a:prstGeom>
          <a:noFill/>
        </p:spPr>
        <p:txBody>
          <a:bodyPr wrap="square" lIns="0" tIns="0" rIns="0" bIns="0" anchor="t">
            <a:spAutoFit/>
          </a:bodyPr>
          <a:lstStyle/>
          <a:p>
            <a:pPr algn="l">
              <a:lnSpc>
                <a:spcPct val="110000"/>
              </a:lnSpc>
            </a:pPr>
            <a:r>
              <a:rPr sz="3000" b="1">
                <a:solidFill>
                  <a:srgbClr val="1F2A2E"/>
                </a:solidFill>
                <a:latin typeface="Georgia"/>
              </a:rPr>
              <a:t>Fault: DippingFault and VerticalFault</a:t>
            </a:r>
          </a:p>
        </p:txBody>
      </p:sp>
      <p:sp>
        <p:nvSpPr>
          <p:cNvPr id="5" name="TextBox 4"/>
          <p:cNvSpPr txBox="1"/>
          <p:nvPr/>
        </p:nvSpPr>
        <p:spPr>
          <a:xfrm>
            <a:off x="10108947" y="6349841"/>
            <a:ext cx="1269968" cy="215894"/>
          </a:xfrm>
          <a:prstGeom prst="rect">
            <a:avLst/>
          </a:prstGeom>
          <a:noFill/>
        </p:spPr>
        <p:txBody>
          <a:bodyPr wrap="square" lIns="0" tIns="0" rIns="0" bIns="0" anchor="t">
            <a:spAutoFit/>
          </a:bodyPr>
          <a:lstStyle/>
          <a:p>
            <a:pPr algn="r">
              <a:lnSpc>
                <a:spcPct val="110000"/>
              </a:lnSpc>
            </a:pPr>
            <a:r>
              <a:rPr sz="1200" b="0">
                <a:solidFill>
                  <a:srgbClr val="5B6B73"/>
                </a:solidFill>
                <a:latin typeface="Arial"/>
              </a:rPr>
              <a:t>6</a:t>
            </a:r>
          </a:p>
        </p:txBody>
      </p:sp>
      <p:sp>
        <p:nvSpPr>
          <p:cNvPr id="6" name="TextBox 5"/>
          <p:cNvSpPr txBox="1"/>
          <p:nvPr/>
        </p:nvSpPr>
        <p:spPr>
          <a:xfrm>
            <a:off x="812779" y="1904952"/>
            <a:ext cx="5079873" cy="2666933"/>
          </a:xfrm>
          <a:prstGeom prst="rect">
            <a:avLst/>
          </a:prstGeom>
          <a:noFill/>
        </p:spPr>
        <p:txBody>
          <a:bodyPr wrap="square" lIns="0" tIns="0" rIns="0" bIns="0" anchor="t">
            <a:spAutoFit/>
          </a:bodyPr>
          <a:lstStyle/>
          <a:p>
            <a:pPr algn="l">
              <a:lnSpc>
                <a:spcPct val="115000"/>
              </a:lnSpc>
              <a:spcAft>
                <a:spcPts val="800"/>
              </a:spcAft>
            </a:pPr>
            <a:r>
              <a:rPr sz="1500" b="0">
                <a:solidFill>
                  <a:srgbClr val="1F2A2E"/>
                </a:solidFill>
                <a:latin typeface="Arial"/>
              </a:rPr>
              <a:t>A crack in the ground that </a:t>
            </a:r>
            <a:r>
              <a:rPr sz="1500" b="1">
                <a:solidFill>
                  <a:srgbClr val="1F2A2E"/>
                </a:solidFill>
                <a:latin typeface="Arial"/>
              </a:rPr>
              <a:t>slips slowly</a:t>
            </a:r>
            <a:r>
              <a:rPr sz="1500" b="0">
                <a:solidFill>
                  <a:srgbClr val="1F2A2E"/>
                </a:solidFill>
                <a:latin typeface="Arial"/>
              </a:rPr>
              <a:t> between earthquakes.</a:t>
            </a:r>
          </a:p>
          <a:p>
            <a:pPr algn="l">
              <a:lnSpc>
                <a:spcPct val="115000"/>
              </a:lnSpc>
              <a:spcAft>
                <a:spcPts val="800"/>
              </a:spcAft>
            </a:pPr>
            <a:r>
              <a:rPr sz="1500" b="0">
                <a:solidFill>
                  <a:srgbClr val="1F2A2E"/>
                </a:solidFill>
                <a:latin typeface="Arial"/>
              </a:rPr>
              <a:t>The ground acts like an </a:t>
            </a:r>
            <a:r>
              <a:rPr sz="1500" b="1">
                <a:solidFill>
                  <a:srgbClr val="1F2A2E"/>
                </a:solidFill>
                <a:latin typeface="Arial"/>
              </a:rPr>
              <a:t>elastic sheet</a:t>
            </a:r>
            <a:r>
              <a:rPr sz="1500" b="0">
                <a:solidFill>
                  <a:srgbClr val="1F2A2E"/>
                </a:solidFill>
                <a:latin typeface="Arial"/>
              </a:rPr>
              <a:t>: the fault drags it </a:t>
            </a:r>
            <a:r>
              <a:rPr sz="1500" b="1">
                <a:solidFill>
                  <a:srgbClr val="1F2A2E"/>
                </a:solidFill>
                <a:latin typeface="Arial"/>
              </a:rPr>
              <a:t>up and sideways</a:t>
            </a:r>
            <a:r>
              <a:rPr sz="1500" b="0">
                <a:solidFill>
                  <a:srgbClr val="1F2A2E"/>
                </a:solidFill>
                <a:latin typeface="Arial"/>
              </a:rPr>
              <a:t>.</a:t>
            </a:r>
          </a:p>
          <a:p>
            <a:pPr algn="l">
              <a:lnSpc>
                <a:spcPct val="115000"/>
              </a:lnSpc>
              <a:spcAft>
                <a:spcPts val="800"/>
              </a:spcAft>
            </a:pPr>
            <a:r>
              <a:rPr sz="1500" b="1">
                <a:solidFill>
                  <a:srgbClr val="1F2A2E"/>
                </a:solidFill>
                <a:latin typeface="Arial"/>
              </a:rPr>
              <a:t>DippingFault</a:t>
            </a:r>
            <a:r>
              <a:rPr sz="1500" b="0">
                <a:solidFill>
                  <a:srgbClr val="1F2A2E"/>
                </a:solidFill>
                <a:latin typeface="Arial"/>
              </a:rPr>
              <a:t>: thrust or normal faults, tilted under the land.</a:t>
            </a:r>
          </a:p>
          <a:p>
            <a:pPr algn="l">
              <a:lnSpc>
                <a:spcPct val="115000"/>
              </a:lnSpc>
            </a:pPr>
            <a:r>
              <a:rPr sz="1500" b="1">
                <a:solidFill>
                  <a:srgbClr val="1F2A2E"/>
                </a:solidFill>
                <a:latin typeface="Arial"/>
              </a:rPr>
              <a:t>VerticalFault</a:t>
            </a:r>
            <a:r>
              <a:rPr sz="1500" b="0">
                <a:solidFill>
                  <a:srgbClr val="1F2A2E"/>
                </a:solidFill>
                <a:latin typeface="Arial"/>
              </a:rPr>
              <a:t>: strike-slip faults, with optional bends.</a:t>
            </a:r>
          </a:p>
        </p:txBody>
      </p:sp>
      <p:pic>
        <p:nvPicPr>
          <p:cNvPr id="8" name="Picture 7" descr="okada_map.png"/>
          <p:cNvPicPr>
            <a:picLocks noChangeAspect="1"/>
          </p:cNvPicPr>
          <p:nvPr/>
        </p:nvPicPr>
        <p:blipFill>
          <a:blip r:embed="rId3"/>
          <a:stretch>
            <a:fillRect/>
          </a:stretch>
        </p:blipFill>
        <p:spPr>
          <a:xfrm>
            <a:off x="6883288" y="1318275"/>
            <a:ext cx="4303268" cy="3442614"/>
          </a:xfrm>
          <a:prstGeom prst="rect">
            <a:avLst/>
          </a:prstGeom>
        </p:spPr>
      </p:pic>
      <p:sp>
        <p:nvSpPr>
          <p:cNvPr id="9" name="TextBox 8"/>
          <p:cNvSpPr txBox="1"/>
          <p:nvPr/>
        </p:nvSpPr>
        <p:spPr>
          <a:xfrm>
            <a:off x="6389744" y="4821397"/>
            <a:ext cx="5079873" cy="190495"/>
          </a:xfrm>
          <a:prstGeom prst="rect">
            <a:avLst/>
          </a:prstGeom>
          <a:noFill/>
        </p:spPr>
        <p:txBody>
          <a:bodyPr wrap="square" lIns="0" tIns="0" rIns="0" bIns="0" anchor="t">
            <a:spAutoFit/>
          </a:bodyPr>
          <a:lstStyle/>
          <a:p>
            <a:pPr algn="l">
              <a:lnSpc>
                <a:spcPct val="110000"/>
              </a:lnSpc>
            </a:pPr>
            <a:r>
              <a:rPr sz="1200" b="0" dirty="0">
                <a:solidFill>
                  <a:srgbClr val="5B6B73"/>
                </a:solidFill>
                <a:latin typeface="Arial"/>
              </a:rPr>
              <a:t>Output for a 20 km thrust fault: blue is uplift, arrows are sideways motion</a:t>
            </a:r>
          </a:p>
        </p:txBody>
      </p:sp>
      <p:sp>
        <p:nvSpPr>
          <p:cNvPr id="10" name="Rounded Rectangle 9"/>
          <p:cNvSpPr/>
          <p:nvPr/>
        </p:nvSpPr>
        <p:spPr>
          <a:xfrm>
            <a:off x="420893" y="5073523"/>
            <a:ext cx="10566135" cy="1492212"/>
          </a:xfrm>
          <a:prstGeom prst="roundRect">
            <a:avLst>
              <a:gd name="adj" fmla="val 5000"/>
            </a:avLst>
          </a:prstGeom>
          <a:solidFill>
            <a:srgbClr val="E8F1F0"/>
          </a:solidFill>
          <a:ln w="12700">
            <a:solidFill>
              <a:srgbClr val="B9D6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74887" y="5181471"/>
            <a:ext cx="5714857" cy="190495"/>
          </a:xfrm>
          <a:prstGeom prst="rect">
            <a:avLst/>
          </a:prstGeom>
          <a:noFill/>
        </p:spPr>
        <p:txBody>
          <a:bodyPr wrap="square" lIns="0" tIns="0" rIns="0" bIns="0" anchor="t">
            <a:spAutoFit/>
          </a:bodyPr>
          <a:lstStyle/>
          <a:p>
            <a:pPr algn="l">
              <a:lnSpc>
                <a:spcPct val="110000"/>
              </a:lnSpc>
            </a:pPr>
            <a:r>
              <a:rPr sz="1200" b="1">
                <a:solidFill>
                  <a:srgbClr val="1F7A78"/>
                </a:solidFill>
                <a:latin typeface="Arial"/>
              </a:rPr>
              <a:t>INPUTS IT NEEDS</a:t>
            </a:r>
          </a:p>
        </p:txBody>
      </p:sp>
      <p:sp>
        <p:nvSpPr>
          <p:cNvPr id="12" name="TextBox 11"/>
          <p:cNvSpPr txBox="1"/>
          <p:nvPr/>
        </p:nvSpPr>
        <p:spPr>
          <a:xfrm>
            <a:off x="674887" y="5422765"/>
            <a:ext cx="5079873" cy="1079473"/>
          </a:xfrm>
          <a:prstGeom prst="rect">
            <a:avLst/>
          </a:prstGeom>
          <a:noFill/>
        </p:spPr>
        <p:txBody>
          <a:bodyPr wrap="square" lIns="0" tIns="0" rIns="0" bIns="0" anchor="t">
            <a:spAutoFit/>
          </a:bodyPr>
          <a:lstStyle/>
          <a:p>
            <a:pPr algn="l">
              <a:lnSpc>
                <a:spcPct val="105000"/>
              </a:lnSpc>
              <a:spcAft>
                <a:spcPts val="100"/>
              </a:spcAft>
            </a:pPr>
            <a:r>
              <a:rPr sz="1200" b="1">
                <a:solidFill>
                  <a:srgbClr val="1F7A78"/>
                </a:solidFill>
                <a:latin typeface="Arial"/>
              </a:rPr>
              <a:t>grid</a:t>
            </a:r>
            <a:r>
              <a:rPr sz="1200" b="0">
                <a:solidFill>
                  <a:srgbClr val="1F2A2E"/>
                </a:solidFill>
                <a:latin typeface="Arial"/>
              </a:rPr>
              <a:t>  the Landlab grid (the terrain)</a:t>
            </a:r>
          </a:p>
          <a:p>
            <a:pPr algn="l">
              <a:lnSpc>
                <a:spcPct val="105000"/>
              </a:lnSpc>
              <a:spcAft>
                <a:spcPts val="100"/>
              </a:spcAft>
            </a:pPr>
            <a:r>
              <a:rPr sz="1200" b="1">
                <a:solidFill>
                  <a:srgbClr val="1F7A78"/>
                </a:solidFill>
                <a:latin typeface="Arial"/>
              </a:rPr>
              <a:t>tip_location</a:t>
            </a:r>
            <a:r>
              <a:rPr sz="1200" b="0">
                <a:solidFill>
                  <a:srgbClr val="1F2A2E"/>
                </a:solidFill>
                <a:latin typeface="Arial"/>
              </a:rPr>
              <a:t>  x, y and depth of the fault's top edge</a:t>
            </a:r>
          </a:p>
          <a:p>
            <a:pPr algn="l">
              <a:lnSpc>
                <a:spcPct val="105000"/>
              </a:lnSpc>
              <a:spcAft>
                <a:spcPts val="100"/>
              </a:spcAft>
            </a:pPr>
            <a:r>
              <a:rPr sz="1200" b="1">
                <a:solidFill>
                  <a:srgbClr val="1F7A78"/>
                </a:solidFill>
                <a:latin typeface="Arial"/>
              </a:rPr>
              <a:t>strike</a:t>
            </a:r>
            <a:r>
              <a:rPr sz="1200" b="0">
                <a:solidFill>
                  <a:srgbClr val="1F2A2E"/>
                </a:solidFill>
                <a:latin typeface="Arial"/>
              </a:rPr>
              <a:t>  compass direction the fault runs</a:t>
            </a:r>
          </a:p>
          <a:p>
            <a:pPr algn="l">
              <a:lnSpc>
                <a:spcPct val="105000"/>
              </a:lnSpc>
              <a:spcAft>
                <a:spcPts val="100"/>
              </a:spcAft>
            </a:pPr>
            <a:r>
              <a:rPr sz="1200" b="1">
                <a:solidFill>
                  <a:srgbClr val="1F7A78"/>
                </a:solidFill>
                <a:latin typeface="Arial"/>
              </a:rPr>
              <a:t>dip</a:t>
            </a:r>
            <a:r>
              <a:rPr sz="1200" b="0">
                <a:solidFill>
                  <a:srgbClr val="1F2A2E"/>
                </a:solidFill>
                <a:latin typeface="Arial"/>
              </a:rPr>
              <a:t>  tilt of the fault (DippingFault only)</a:t>
            </a:r>
          </a:p>
          <a:p>
            <a:pPr algn="l">
              <a:lnSpc>
                <a:spcPct val="105000"/>
              </a:lnSpc>
            </a:pPr>
            <a:r>
              <a:rPr sz="1200" b="1">
                <a:solidFill>
                  <a:srgbClr val="1F7A78"/>
                </a:solidFill>
                <a:latin typeface="Arial"/>
              </a:rPr>
              <a:t>length, width</a:t>
            </a:r>
            <a:r>
              <a:rPr sz="1200" b="0">
                <a:solidFill>
                  <a:srgbClr val="1F2A2E"/>
                </a:solidFill>
                <a:latin typeface="Arial"/>
              </a:rPr>
              <a:t>  size of the fault plane, in metres</a:t>
            </a:r>
          </a:p>
        </p:txBody>
      </p:sp>
      <p:sp>
        <p:nvSpPr>
          <p:cNvPr id="13" name="TextBox 12"/>
          <p:cNvSpPr txBox="1"/>
          <p:nvPr/>
        </p:nvSpPr>
        <p:spPr>
          <a:xfrm>
            <a:off x="5945255" y="5422765"/>
            <a:ext cx="5079873" cy="1079473"/>
          </a:xfrm>
          <a:prstGeom prst="rect">
            <a:avLst/>
          </a:prstGeom>
          <a:noFill/>
        </p:spPr>
        <p:txBody>
          <a:bodyPr wrap="square" lIns="0" tIns="0" rIns="0" bIns="0" anchor="t">
            <a:spAutoFit/>
          </a:bodyPr>
          <a:lstStyle/>
          <a:p>
            <a:pPr algn="l">
              <a:lnSpc>
                <a:spcPct val="105000"/>
              </a:lnSpc>
              <a:spcAft>
                <a:spcPts val="100"/>
              </a:spcAft>
            </a:pPr>
            <a:r>
              <a:rPr sz="1200" b="1">
                <a:solidFill>
                  <a:srgbClr val="1F7A78"/>
                </a:solidFill>
                <a:latin typeface="Arial"/>
              </a:rPr>
              <a:t>ds_rate, ss_rate</a:t>
            </a:r>
            <a:r>
              <a:rPr sz="1200" b="0">
                <a:solidFill>
                  <a:srgbClr val="1F2A2E"/>
                </a:solidFill>
                <a:latin typeface="Arial"/>
              </a:rPr>
              <a:t>  slip rates: up/down-dip and sideways</a:t>
            </a:r>
          </a:p>
          <a:p>
            <a:pPr algn="l">
              <a:lnSpc>
                <a:spcPct val="105000"/>
              </a:lnSpc>
              <a:spcAft>
                <a:spcPts val="100"/>
              </a:spcAft>
            </a:pPr>
            <a:r>
              <a:rPr sz="1200" b="1">
                <a:solidFill>
                  <a:srgbClr val="1F7A78"/>
                </a:solidFill>
                <a:latin typeface="Arial"/>
              </a:rPr>
              <a:t>u_rate</a:t>
            </a:r>
            <a:r>
              <a:rPr sz="1200" b="0">
                <a:solidFill>
                  <a:srgbClr val="1F2A2E"/>
                </a:solidFill>
                <a:latin typeface="Arial"/>
              </a:rPr>
              <a:t>  extra uniform uplift rate</a:t>
            </a:r>
          </a:p>
          <a:p>
            <a:pPr algn="l">
              <a:lnSpc>
                <a:spcPct val="105000"/>
              </a:lnSpc>
              <a:spcAft>
                <a:spcPts val="100"/>
              </a:spcAft>
            </a:pPr>
            <a:r>
              <a:rPr sz="1200" b="1">
                <a:solidFill>
                  <a:srgbClr val="1F7A78"/>
                </a:solidFill>
                <a:latin typeface="Arial"/>
              </a:rPr>
              <a:t>seismogenic_zone</a:t>
            </a:r>
            <a:r>
              <a:rPr sz="1200" b="0">
                <a:solidFill>
                  <a:srgbClr val="1F2A2E"/>
                </a:solidFill>
                <a:latin typeface="Arial"/>
              </a:rPr>
              <a:t>  top and bottom depth of the quake zone</a:t>
            </a:r>
          </a:p>
          <a:p>
            <a:pPr algn="l">
              <a:lnSpc>
                <a:spcPct val="105000"/>
              </a:lnSpc>
              <a:spcAft>
                <a:spcPts val="100"/>
              </a:spcAft>
            </a:pPr>
            <a:r>
              <a:rPr sz="1200" b="1">
                <a:solidFill>
                  <a:srgbClr val="1F7A78"/>
                </a:solidFill>
                <a:latin typeface="Arial"/>
              </a:rPr>
              <a:t>topographic_correction</a:t>
            </a:r>
            <a:r>
              <a:rPr sz="1200" b="0">
                <a:solidFill>
                  <a:srgbClr val="1F2A2E"/>
                </a:solidFill>
                <a:latin typeface="Arial"/>
              </a:rPr>
              <a:t>  account for the terrain's height</a:t>
            </a:r>
          </a:p>
          <a:p>
            <a:pPr algn="l">
              <a:lnSpc>
                <a:spcPct val="105000"/>
              </a:lnSpc>
            </a:pPr>
            <a:r>
              <a:rPr sz="1200" b="1">
                <a:solidFill>
                  <a:srgbClr val="1F7A78"/>
                </a:solidFill>
                <a:latin typeface="Arial"/>
              </a:rPr>
              <a:t>fields_to_advect</a:t>
            </a:r>
            <a:r>
              <a:rPr sz="1200" b="0">
                <a:solidFill>
                  <a:srgbClr val="1F2A2E"/>
                </a:solidFill>
                <a:latin typeface="Arial"/>
              </a:rPr>
              <a:t>  which terrain layers to shift sideways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3EC"/>
        </a:solidFill>
        <a:effectLst/>
      </p:bgPr>
    </p:bg>
    <p:spTree>
      <p:nvGrpSpPr>
        <p:cNvPr id="1" name=""/>
        <p:cNvGrpSpPr/>
        <p:nvPr/>
      </p:nvGrpSpPr>
      <p:grpSpPr>
        <a:xfrm>
          <a:off x="0" y="0"/>
          <a:ext cx="0" cy="0"/>
          <a:chOff x="0" y="0"/>
          <a:chExt cx="0" cy="0"/>
        </a:xfrm>
      </p:grpSpPr>
      <p:sp>
        <p:nvSpPr>
          <p:cNvPr id="2" name="TextBox 1"/>
          <p:cNvSpPr txBox="1"/>
          <p:nvPr/>
        </p:nvSpPr>
        <p:spPr>
          <a:xfrm>
            <a:off x="812779" y="584185"/>
            <a:ext cx="10566135" cy="253993"/>
          </a:xfrm>
          <a:prstGeom prst="rect">
            <a:avLst/>
          </a:prstGeom>
          <a:noFill/>
        </p:spPr>
        <p:txBody>
          <a:bodyPr wrap="square" lIns="0" tIns="0" rIns="0" bIns="0" anchor="t">
            <a:spAutoFit/>
          </a:bodyPr>
          <a:lstStyle/>
          <a:p>
            <a:pPr algn="l">
              <a:lnSpc>
                <a:spcPct val="110000"/>
              </a:lnSpc>
            </a:pPr>
            <a:r>
              <a:rPr sz="1300" b="1">
                <a:solidFill>
                  <a:srgbClr val="C2542D"/>
                </a:solidFill>
                <a:latin typeface="Arial"/>
              </a:rPr>
              <a:t>EFEL COMPONENTS · 2 OF 3</a:t>
            </a:r>
          </a:p>
        </p:txBody>
      </p:sp>
      <p:sp>
        <p:nvSpPr>
          <p:cNvPr id="3" name="TextBox 2"/>
          <p:cNvSpPr txBox="1"/>
          <p:nvPr/>
        </p:nvSpPr>
        <p:spPr>
          <a:xfrm>
            <a:off x="812779" y="863578"/>
            <a:ext cx="10566135" cy="571485"/>
          </a:xfrm>
          <a:prstGeom prst="rect">
            <a:avLst/>
          </a:prstGeom>
          <a:noFill/>
        </p:spPr>
        <p:txBody>
          <a:bodyPr wrap="square" lIns="0" tIns="0" rIns="0" bIns="0" anchor="t">
            <a:spAutoFit/>
          </a:bodyPr>
          <a:lstStyle/>
          <a:p>
            <a:pPr algn="l">
              <a:lnSpc>
                <a:spcPct val="110000"/>
              </a:lnSpc>
            </a:pPr>
            <a:r>
              <a:rPr sz="3000" b="1">
                <a:solidFill>
                  <a:srgbClr val="1F2A2E"/>
                </a:solidFill>
                <a:latin typeface="Georgia"/>
              </a:rPr>
              <a:t>Earthquake sequence: EarthquakeSequence</a:t>
            </a:r>
          </a:p>
        </p:txBody>
      </p:sp>
      <p:sp>
        <p:nvSpPr>
          <p:cNvPr id="5" name="TextBox 4"/>
          <p:cNvSpPr txBox="1"/>
          <p:nvPr/>
        </p:nvSpPr>
        <p:spPr>
          <a:xfrm>
            <a:off x="10108947" y="6349841"/>
            <a:ext cx="1269968" cy="215894"/>
          </a:xfrm>
          <a:prstGeom prst="rect">
            <a:avLst/>
          </a:prstGeom>
          <a:noFill/>
        </p:spPr>
        <p:txBody>
          <a:bodyPr wrap="square" lIns="0" tIns="0" rIns="0" bIns="0" anchor="t">
            <a:spAutoFit/>
          </a:bodyPr>
          <a:lstStyle/>
          <a:p>
            <a:pPr algn="r">
              <a:lnSpc>
                <a:spcPct val="110000"/>
              </a:lnSpc>
            </a:pPr>
            <a:r>
              <a:rPr sz="1200" b="0">
                <a:solidFill>
                  <a:srgbClr val="5B6B73"/>
                </a:solidFill>
                <a:latin typeface="Arial"/>
              </a:rPr>
              <a:t>7</a:t>
            </a:r>
          </a:p>
        </p:txBody>
      </p:sp>
      <p:sp>
        <p:nvSpPr>
          <p:cNvPr id="6" name="TextBox 5"/>
          <p:cNvSpPr txBox="1"/>
          <p:nvPr/>
        </p:nvSpPr>
        <p:spPr>
          <a:xfrm>
            <a:off x="812779" y="1904952"/>
            <a:ext cx="5079873" cy="2666933"/>
          </a:xfrm>
          <a:prstGeom prst="rect">
            <a:avLst/>
          </a:prstGeom>
          <a:noFill/>
        </p:spPr>
        <p:txBody>
          <a:bodyPr wrap="square" lIns="0" tIns="0" rIns="0" bIns="0" anchor="t">
            <a:spAutoFit/>
          </a:bodyPr>
          <a:lstStyle/>
          <a:p>
            <a:pPr algn="l">
              <a:lnSpc>
                <a:spcPct val="115000"/>
              </a:lnSpc>
              <a:spcAft>
                <a:spcPts val="800"/>
              </a:spcAft>
            </a:pPr>
            <a:r>
              <a:rPr sz="1500" b="0">
                <a:solidFill>
                  <a:srgbClr val="1F2A2E"/>
                </a:solidFill>
                <a:latin typeface="Arial"/>
              </a:rPr>
              <a:t>Makes the </a:t>
            </a:r>
            <a:r>
              <a:rPr sz="1500" b="1">
                <a:solidFill>
                  <a:srgbClr val="1F2A2E"/>
                </a:solidFill>
                <a:latin typeface="Arial"/>
              </a:rPr>
              <a:t>catalogue of earthquakes in advance</a:t>
            </a:r>
            <a:r>
              <a:rPr sz="1500" b="0">
                <a:solidFill>
                  <a:srgbClr val="1F2A2E"/>
                </a:solidFill>
                <a:latin typeface="Arial"/>
              </a:rPr>
              <a:t> for the whole run.</a:t>
            </a:r>
          </a:p>
          <a:p>
            <a:pPr algn="l">
              <a:lnSpc>
                <a:spcPct val="115000"/>
              </a:lnSpc>
              <a:spcAft>
                <a:spcPts val="800"/>
              </a:spcAft>
            </a:pPr>
            <a:r>
              <a:rPr sz="1500" b="1">
                <a:solidFill>
                  <a:srgbClr val="1F2A2E"/>
                </a:solidFill>
                <a:latin typeface="Arial"/>
              </a:rPr>
              <a:t>Many small, few large</a:t>
            </a:r>
            <a:r>
              <a:rPr sz="1500" b="0">
                <a:solidFill>
                  <a:srgbClr val="1F2A2E"/>
                </a:solidFill>
                <a:latin typeface="Arial"/>
              </a:rPr>
              <a:t>, sized by the fault's length and width.</a:t>
            </a:r>
          </a:p>
          <a:p>
            <a:pPr algn="l">
              <a:lnSpc>
                <a:spcPct val="115000"/>
              </a:lnSpc>
              <a:spcAft>
                <a:spcPts val="800"/>
              </a:spcAft>
            </a:pPr>
            <a:r>
              <a:rPr sz="1500" b="0">
                <a:solidFill>
                  <a:srgbClr val="1F2A2E"/>
                </a:solidFill>
                <a:latin typeface="Arial"/>
              </a:rPr>
              <a:t>Timing can be </a:t>
            </a:r>
            <a:r>
              <a:rPr sz="1500" b="1">
                <a:solidFill>
                  <a:srgbClr val="1F2A2E"/>
                </a:solidFill>
                <a:latin typeface="Arial"/>
              </a:rPr>
              <a:t>random or clustered</a:t>
            </a:r>
            <a:r>
              <a:rPr sz="1500" b="0">
                <a:solidFill>
                  <a:srgbClr val="1F2A2E"/>
                </a:solidFill>
                <a:latin typeface="Arial"/>
              </a:rPr>
              <a:t>, with optional aftershocks.</a:t>
            </a:r>
          </a:p>
          <a:p>
            <a:pPr algn="l">
              <a:lnSpc>
                <a:spcPct val="115000"/>
              </a:lnSpc>
            </a:pPr>
            <a:r>
              <a:rPr sz="1500" b="0">
                <a:solidFill>
                  <a:srgbClr val="1F2A2E"/>
                </a:solidFill>
                <a:latin typeface="Arial"/>
              </a:rPr>
              <a:t>Each quake is a </a:t>
            </a:r>
            <a:r>
              <a:rPr sz="1500" b="1">
                <a:solidFill>
                  <a:srgbClr val="1F2A2E"/>
                </a:solidFill>
                <a:latin typeface="Arial"/>
              </a:rPr>
              <a:t>patch of sudden slip</a:t>
            </a:r>
            <a:r>
              <a:rPr sz="1500" b="0">
                <a:solidFill>
                  <a:srgbClr val="1F2A2E"/>
                </a:solidFill>
                <a:latin typeface="Arial"/>
              </a:rPr>
              <a:t> applied in the time step it falls in.</a:t>
            </a:r>
          </a:p>
        </p:txBody>
      </p:sp>
      <p:pic>
        <p:nvPicPr>
          <p:cNvPr id="8" name="Picture 7" descr="sawtooth.png"/>
          <p:cNvPicPr>
            <a:picLocks noChangeAspect="1"/>
          </p:cNvPicPr>
          <p:nvPr/>
        </p:nvPicPr>
        <p:blipFill>
          <a:blip r:embed="rId3"/>
          <a:stretch>
            <a:fillRect/>
          </a:stretch>
        </p:blipFill>
        <p:spPr>
          <a:xfrm>
            <a:off x="5854860" y="1530311"/>
            <a:ext cx="5804018" cy="2962704"/>
          </a:xfrm>
          <a:prstGeom prst="rect">
            <a:avLst/>
          </a:prstGeom>
        </p:spPr>
      </p:pic>
      <p:sp>
        <p:nvSpPr>
          <p:cNvPr id="9" name="TextBox 8"/>
          <p:cNvSpPr txBox="1"/>
          <p:nvPr/>
        </p:nvSpPr>
        <p:spPr>
          <a:xfrm>
            <a:off x="6337141" y="4444888"/>
            <a:ext cx="4825879" cy="190495"/>
          </a:xfrm>
          <a:prstGeom prst="rect">
            <a:avLst/>
          </a:prstGeom>
          <a:noFill/>
        </p:spPr>
        <p:txBody>
          <a:bodyPr wrap="square" lIns="0" tIns="0" rIns="0" bIns="0" anchor="t">
            <a:spAutoFit/>
          </a:bodyPr>
          <a:lstStyle/>
          <a:p>
            <a:pPr algn="l">
              <a:lnSpc>
                <a:spcPct val="110000"/>
              </a:lnSpc>
            </a:pPr>
            <a:r>
              <a:rPr sz="1200" b="0" dirty="0">
                <a:solidFill>
                  <a:srgbClr val="5B6B73"/>
                </a:solidFill>
                <a:latin typeface="Arial"/>
              </a:rPr>
              <a:t>Illustration: steady creep (teal) versus creep plus earthquakes (orange)</a:t>
            </a:r>
          </a:p>
        </p:txBody>
      </p:sp>
      <p:sp>
        <p:nvSpPr>
          <p:cNvPr id="10" name="Rounded Rectangle 9"/>
          <p:cNvSpPr/>
          <p:nvPr/>
        </p:nvSpPr>
        <p:spPr>
          <a:xfrm>
            <a:off x="812779" y="4730631"/>
            <a:ext cx="10566135" cy="1492212"/>
          </a:xfrm>
          <a:prstGeom prst="roundRect">
            <a:avLst>
              <a:gd name="adj" fmla="val 5000"/>
            </a:avLst>
          </a:prstGeom>
          <a:solidFill>
            <a:srgbClr val="E8F1F0"/>
          </a:solidFill>
          <a:ln w="12700">
            <a:solidFill>
              <a:srgbClr val="B9D6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66773" y="4838579"/>
            <a:ext cx="5714857" cy="190495"/>
          </a:xfrm>
          <a:prstGeom prst="rect">
            <a:avLst/>
          </a:prstGeom>
          <a:noFill/>
        </p:spPr>
        <p:txBody>
          <a:bodyPr wrap="square" lIns="0" tIns="0" rIns="0" bIns="0" anchor="t">
            <a:spAutoFit/>
          </a:bodyPr>
          <a:lstStyle/>
          <a:p>
            <a:pPr algn="l">
              <a:lnSpc>
                <a:spcPct val="110000"/>
              </a:lnSpc>
            </a:pPr>
            <a:r>
              <a:rPr sz="1200" b="1">
                <a:solidFill>
                  <a:srgbClr val="1F7A78"/>
                </a:solidFill>
                <a:latin typeface="Arial"/>
              </a:rPr>
              <a:t>INPUTS IT NEEDS</a:t>
            </a:r>
          </a:p>
        </p:txBody>
      </p:sp>
      <p:sp>
        <p:nvSpPr>
          <p:cNvPr id="12" name="TextBox 11"/>
          <p:cNvSpPr txBox="1"/>
          <p:nvPr/>
        </p:nvSpPr>
        <p:spPr>
          <a:xfrm>
            <a:off x="1066773" y="5079873"/>
            <a:ext cx="5079873" cy="1079473"/>
          </a:xfrm>
          <a:prstGeom prst="rect">
            <a:avLst/>
          </a:prstGeom>
          <a:noFill/>
        </p:spPr>
        <p:txBody>
          <a:bodyPr wrap="square" lIns="0" tIns="0" rIns="0" bIns="0" anchor="t">
            <a:spAutoFit/>
          </a:bodyPr>
          <a:lstStyle/>
          <a:p>
            <a:pPr algn="l">
              <a:lnSpc>
                <a:spcPct val="105000"/>
              </a:lnSpc>
              <a:spcAft>
                <a:spcPts val="100"/>
              </a:spcAft>
            </a:pPr>
            <a:r>
              <a:rPr sz="1200" b="1">
                <a:solidFill>
                  <a:srgbClr val="1F7A78"/>
                </a:solidFill>
                <a:latin typeface="Arial"/>
              </a:rPr>
              <a:t>grid, fault</a:t>
            </a:r>
            <a:r>
              <a:rPr sz="1200" b="0">
                <a:solidFill>
                  <a:srgbClr val="1F2A2E"/>
                </a:solidFill>
                <a:latin typeface="Arial"/>
              </a:rPr>
              <a:t>  the terrain and the fault above</a:t>
            </a:r>
          </a:p>
          <a:p>
            <a:pPr algn="l">
              <a:lnSpc>
                <a:spcPct val="105000"/>
              </a:lnSpc>
              <a:spcAft>
                <a:spcPts val="100"/>
              </a:spcAft>
            </a:pPr>
            <a:r>
              <a:rPr sz="1200" b="1">
                <a:solidFill>
                  <a:srgbClr val="1F7A78"/>
                </a:solidFill>
                <a:latin typeface="Arial"/>
              </a:rPr>
              <a:t>T</a:t>
            </a:r>
            <a:r>
              <a:rPr sz="1200" b="0">
                <a:solidFill>
                  <a:srgbClr val="1F2A2E"/>
                </a:solidFill>
                <a:latin typeface="Arial"/>
              </a:rPr>
              <a:t>  how many years to generate</a:t>
            </a:r>
          </a:p>
          <a:p>
            <a:pPr algn="l">
              <a:lnSpc>
                <a:spcPct val="105000"/>
              </a:lnSpc>
              <a:spcAft>
                <a:spcPts val="100"/>
              </a:spcAft>
            </a:pPr>
            <a:r>
              <a:rPr sz="1200" b="1">
                <a:solidFill>
                  <a:srgbClr val="1F7A78"/>
                </a:solidFill>
                <a:latin typeface="Arial"/>
              </a:rPr>
              <a:t>dt</a:t>
            </a:r>
            <a:r>
              <a:rPr sz="1200" b="0">
                <a:solidFill>
                  <a:srgbClr val="1F2A2E"/>
                </a:solidFill>
                <a:latin typeface="Arial"/>
              </a:rPr>
              <a:t>  time step, in whole years</a:t>
            </a:r>
          </a:p>
          <a:p>
            <a:pPr algn="l">
              <a:lnSpc>
                <a:spcPct val="105000"/>
              </a:lnSpc>
              <a:spcAft>
                <a:spcPts val="100"/>
              </a:spcAft>
            </a:pPr>
            <a:r>
              <a:rPr sz="1200" b="1">
                <a:solidFill>
                  <a:srgbClr val="1F7A78"/>
                </a:solidFill>
                <a:latin typeface="Arial"/>
              </a:rPr>
              <a:t>Mw_min, Mw_max</a:t>
            </a:r>
            <a:r>
              <a:rPr sz="1200" b="0">
                <a:solidFill>
                  <a:srgbClr val="1F2A2E"/>
                </a:solidFill>
                <a:latin typeface="Arial"/>
              </a:rPr>
              <a:t>  smallest and largest earthquake size</a:t>
            </a:r>
          </a:p>
          <a:p>
            <a:pPr algn="l">
              <a:lnSpc>
                <a:spcPct val="105000"/>
              </a:lnSpc>
            </a:pPr>
            <a:r>
              <a:rPr sz="1200" b="1">
                <a:solidFill>
                  <a:srgbClr val="1F7A78"/>
                </a:solidFill>
                <a:latin typeface="Arial"/>
              </a:rPr>
              <a:t>Mw_event</a:t>
            </a:r>
            <a:r>
              <a:rPr sz="1200" b="0">
                <a:solidFill>
                  <a:srgbClr val="1F2A2E"/>
                </a:solidFill>
                <a:latin typeface="Arial"/>
              </a:rPr>
              <a:t>  the size, for fixed-size catalogues</a:t>
            </a:r>
          </a:p>
        </p:txBody>
      </p:sp>
      <p:sp>
        <p:nvSpPr>
          <p:cNvPr id="13" name="TextBox 12"/>
          <p:cNvSpPr txBox="1"/>
          <p:nvPr/>
        </p:nvSpPr>
        <p:spPr>
          <a:xfrm>
            <a:off x="6337141" y="5079873"/>
            <a:ext cx="5079873" cy="1079473"/>
          </a:xfrm>
          <a:prstGeom prst="rect">
            <a:avLst/>
          </a:prstGeom>
          <a:noFill/>
        </p:spPr>
        <p:txBody>
          <a:bodyPr wrap="square" lIns="0" tIns="0" rIns="0" bIns="0" anchor="t">
            <a:spAutoFit/>
          </a:bodyPr>
          <a:lstStyle/>
          <a:p>
            <a:pPr algn="l">
              <a:lnSpc>
                <a:spcPct val="105000"/>
              </a:lnSpc>
              <a:spcAft>
                <a:spcPts val="100"/>
              </a:spcAft>
            </a:pPr>
            <a:r>
              <a:rPr sz="1200" b="1">
                <a:solidFill>
                  <a:srgbClr val="1F7A78"/>
                </a:solidFill>
                <a:latin typeface="Arial"/>
              </a:rPr>
              <a:t>freq_moment_dist</a:t>
            </a:r>
            <a:r>
              <a:rPr sz="1200" b="0">
                <a:solidFill>
                  <a:srgbClr val="1F2A2E"/>
                </a:solidFill>
                <a:latin typeface="Arial"/>
              </a:rPr>
              <a:t>  size distribution (e.g. truncated Pareto)</a:t>
            </a:r>
          </a:p>
          <a:p>
            <a:pPr algn="l">
              <a:lnSpc>
                <a:spcPct val="105000"/>
              </a:lnSpc>
              <a:spcAft>
                <a:spcPts val="100"/>
              </a:spcAft>
            </a:pPr>
            <a:r>
              <a:rPr sz="1200" b="1">
                <a:solidFill>
                  <a:srgbClr val="1F7A78"/>
                </a:solidFill>
                <a:latin typeface="Arial"/>
              </a:rPr>
              <a:t>annual_rate_dist, rate_variance_mag</a:t>
            </a:r>
            <a:r>
              <a:rPr sz="1200" b="0">
                <a:solidFill>
                  <a:srgbClr val="1F2A2E"/>
                </a:solidFill>
                <a:latin typeface="Arial"/>
              </a:rPr>
              <a:t>  random or clustered timing</a:t>
            </a:r>
          </a:p>
          <a:p>
            <a:pPr algn="l">
              <a:lnSpc>
                <a:spcPct val="105000"/>
              </a:lnSpc>
              <a:spcAft>
                <a:spcPts val="100"/>
              </a:spcAft>
            </a:pPr>
            <a:r>
              <a:rPr sz="1200" b="1">
                <a:solidFill>
                  <a:srgbClr val="1F7A78"/>
                </a:solidFill>
                <a:latin typeface="Arial"/>
              </a:rPr>
              <a:t>simulate_aftershocks</a:t>
            </a:r>
            <a:r>
              <a:rPr sz="1200" b="0">
                <a:solidFill>
                  <a:srgbClr val="1F2A2E"/>
                </a:solidFill>
                <a:latin typeface="Arial"/>
              </a:rPr>
              <a:t>  add aftershock sequences</a:t>
            </a:r>
          </a:p>
          <a:p>
            <a:pPr algn="l">
              <a:lnSpc>
                <a:spcPct val="105000"/>
              </a:lnSpc>
              <a:spcAft>
                <a:spcPts val="100"/>
              </a:spcAft>
            </a:pPr>
            <a:r>
              <a:rPr sz="1200" b="1">
                <a:solidFill>
                  <a:srgbClr val="1F7A78"/>
                </a:solidFill>
                <a:latin typeface="Arial"/>
              </a:rPr>
              <a:t>moment_fraction</a:t>
            </a:r>
            <a:r>
              <a:rPr sz="1200" b="0">
                <a:solidFill>
                  <a:srgbClr val="1F2A2E"/>
                </a:solidFill>
                <a:latin typeface="Arial"/>
              </a:rPr>
              <a:t>  share of the slip released in earthquakes</a:t>
            </a:r>
          </a:p>
          <a:p>
            <a:pPr algn="l">
              <a:lnSpc>
                <a:spcPct val="105000"/>
              </a:lnSpc>
            </a:pPr>
            <a:r>
              <a:rPr sz="1200" b="1">
                <a:solidFill>
                  <a:srgbClr val="1F7A78"/>
                </a:solidFill>
                <a:latin typeface="Arial"/>
              </a:rPr>
              <a:t>seed</a:t>
            </a:r>
            <a:r>
              <a:rPr sz="1200" b="0">
                <a:solidFill>
                  <a:srgbClr val="1F2A2E"/>
                </a:solidFill>
                <a:latin typeface="Arial"/>
              </a:rPr>
              <a:t>  random seed, to repeat a catalogue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3EC"/>
        </a:solidFill>
        <a:effectLst/>
      </p:bgPr>
    </p:bg>
    <p:spTree>
      <p:nvGrpSpPr>
        <p:cNvPr id="1" name=""/>
        <p:cNvGrpSpPr/>
        <p:nvPr/>
      </p:nvGrpSpPr>
      <p:grpSpPr>
        <a:xfrm>
          <a:off x="0" y="0"/>
          <a:ext cx="0" cy="0"/>
          <a:chOff x="0" y="0"/>
          <a:chExt cx="0" cy="0"/>
        </a:xfrm>
      </p:grpSpPr>
      <p:sp>
        <p:nvSpPr>
          <p:cNvPr id="2" name="TextBox 1"/>
          <p:cNvSpPr txBox="1"/>
          <p:nvPr/>
        </p:nvSpPr>
        <p:spPr>
          <a:xfrm>
            <a:off x="812779" y="584185"/>
            <a:ext cx="10566135" cy="253993"/>
          </a:xfrm>
          <a:prstGeom prst="rect">
            <a:avLst/>
          </a:prstGeom>
          <a:noFill/>
        </p:spPr>
        <p:txBody>
          <a:bodyPr wrap="square" lIns="0" tIns="0" rIns="0" bIns="0" anchor="t">
            <a:spAutoFit/>
          </a:bodyPr>
          <a:lstStyle/>
          <a:p>
            <a:pPr algn="l">
              <a:lnSpc>
                <a:spcPct val="110000"/>
              </a:lnSpc>
            </a:pPr>
            <a:r>
              <a:rPr sz="1300" b="1">
                <a:solidFill>
                  <a:srgbClr val="C2542D"/>
                </a:solidFill>
                <a:latin typeface="Arial"/>
              </a:rPr>
              <a:t>EFEL COMPONENTS · 3 OF 3</a:t>
            </a:r>
          </a:p>
        </p:txBody>
      </p:sp>
      <p:sp>
        <p:nvSpPr>
          <p:cNvPr id="3" name="TextBox 2"/>
          <p:cNvSpPr txBox="1"/>
          <p:nvPr/>
        </p:nvSpPr>
        <p:spPr>
          <a:xfrm>
            <a:off x="812779" y="863578"/>
            <a:ext cx="10566135" cy="571485"/>
          </a:xfrm>
          <a:prstGeom prst="rect">
            <a:avLst/>
          </a:prstGeom>
          <a:noFill/>
        </p:spPr>
        <p:txBody>
          <a:bodyPr wrap="square" lIns="0" tIns="0" rIns="0" bIns="0" anchor="t">
            <a:spAutoFit/>
          </a:bodyPr>
          <a:lstStyle/>
          <a:p>
            <a:pPr algn="l">
              <a:lnSpc>
                <a:spcPct val="110000"/>
              </a:lnSpc>
            </a:pPr>
            <a:r>
              <a:rPr sz="3000" b="1">
                <a:solidFill>
                  <a:srgbClr val="1F2A2E"/>
                </a:solidFill>
                <a:latin typeface="Georgia"/>
              </a:rPr>
              <a:t>Coseismic landslider: CoseismicLandslider</a:t>
            </a:r>
          </a:p>
        </p:txBody>
      </p:sp>
      <p:sp>
        <p:nvSpPr>
          <p:cNvPr id="5" name="TextBox 4"/>
          <p:cNvSpPr txBox="1"/>
          <p:nvPr/>
        </p:nvSpPr>
        <p:spPr>
          <a:xfrm>
            <a:off x="10108947" y="6349841"/>
            <a:ext cx="1269968" cy="215894"/>
          </a:xfrm>
          <a:prstGeom prst="rect">
            <a:avLst/>
          </a:prstGeom>
          <a:noFill/>
        </p:spPr>
        <p:txBody>
          <a:bodyPr wrap="square" lIns="0" tIns="0" rIns="0" bIns="0" anchor="t">
            <a:spAutoFit/>
          </a:bodyPr>
          <a:lstStyle/>
          <a:p>
            <a:pPr algn="r">
              <a:lnSpc>
                <a:spcPct val="110000"/>
              </a:lnSpc>
            </a:pPr>
            <a:r>
              <a:rPr sz="1200" b="0">
                <a:solidFill>
                  <a:srgbClr val="5B6B73"/>
                </a:solidFill>
                <a:latin typeface="Arial"/>
              </a:rPr>
              <a:t>8</a:t>
            </a:r>
          </a:p>
        </p:txBody>
      </p:sp>
      <p:sp>
        <p:nvSpPr>
          <p:cNvPr id="6" name="TextBox 5"/>
          <p:cNvSpPr txBox="1"/>
          <p:nvPr/>
        </p:nvSpPr>
        <p:spPr>
          <a:xfrm>
            <a:off x="812779" y="1904952"/>
            <a:ext cx="5079873" cy="2666933"/>
          </a:xfrm>
          <a:prstGeom prst="rect">
            <a:avLst/>
          </a:prstGeom>
          <a:noFill/>
        </p:spPr>
        <p:txBody>
          <a:bodyPr wrap="square" lIns="0" tIns="0" rIns="0" bIns="0" anchor="t">
            <a:spAutoFit/>
          </a:bodyPr>
          <a:lstStyle/>
          <a:p>
            <a:pPr algn="l">
              <a:lnSpc>
                <a:spcPct val="115000"/>
              </a:lnSpc>
              <a:spcAft>
                <a:spcPts val="800"/>
              </a:spcAft>
            </a:pPr>
            <a:r>
              <a:rPr sz="1500" b="0">
                <a:solidFill>
                  <a:srgbClr val="1F2A2E"/>
                </a:solidFill>
                <a:latin typeface="Arial"/>
              </a:rPr>
              <a:t>Turns each earthquake's shaking into </a:t>
            </a:r>
            <a:r>
              <a:rPr sz="1500" b="1">
                <a:solidFill>
                  <a:srgbClr val="1F2A2E"/>
                </a:solidFill>
                <a:latin typeface="Arial"/>
              </a:rPr>
              <a:t>landslides</a:t>
            </a:r>
            <a:r>
              <a:rPr sz="1500" b="0">
                <a:solidFill>
                  <a:srgbClr val="1F2A2E"/>
                </a:solidFill>
                <a:latin typeface="Arial"/>
              </a:rPr>
              <a:t>.</a:t>
            </a:r>
          </a:p>
          <a:p>
            <a:pPr algn="l">
              <a:lnSpc>
                <a:spcPct val="115000"/>
              </a:lnSpc>
              <a:spcAft>
                <a:spcPts val="800"/>
              </a:spcAft>
            </a:pPr>
            <a:r>
              <a:rPr sz="1500" b="0">
                <a:solidFill>
                  <a:srgbClr val="1F2A2E"/>
                </a:solidFill>
                <a:latin typeface="Arial"/>
              </a:rPr>
              <a:t>Works out how hard every cell </a:t>
            </a:r>
            <a:r>
              <a:rPr sz="1500" b="1">
                <a:solidFill>
                  <a:srgbClr val="1F2A2E"/>
                </a:solidFill>
                <a:latin typeface="Arial"/>
              </a:rPr>
              <a:t>shakes</a:t>
            </a:r>
            <a:r>
              <a:rPr sz="1500" b="0">
                <a:solidFill>
                  <a:srgbClr val="1F2A2E"/>
                </a:solidFill>
                <a:latin typeface="Arial"/>
              </a:rPr>
              <a:t> (quake size, distance, soil).</a:t>
            </a:r>
          </a:p>
          <a:p>
            <a:pPr algn="l">
              <a:lnSpc>
                <a:spcPct val="115000"/>
              </a:lnSpc>
              <a:spcAft>
                <a:spcPts val="800"/>
              </a:spcAft>
            </a:pPr>
            <a:r>
              <a:rPr sz="1500" b="0">
                <a:solidFill>
                  <a:srgbClr val="1F2A2E"/>
                </a:solidFill>
                <a:latin typeface="Arial"/>
              </a:rPr>
              <a:t>Compares that with how well the slope </a:t>
            </a:r>
            <a:r>
              <a:rPr sz="1500" b="1">
                <a:solidFill>
                  <a:srgbClr val="1F2A2E"/>
                </a:solidFill>
                <a:latin typeface="Arial"/>
              </a:rPr>
              <a:t>holds</a:t>
            </a:r>
            <a:r>
              <a:rPr sz="1500" b="0">
                <a:solidFill>
                  <a:srgbClr val="1F2A2E"/>
                </a:solidFill>
                <a:latin typeface="Arial"/>
              </a:rPr>
              <a:t> (steepness, cohesion, friction, wetness).</a:t>
            </a:r>
          </a:p>
          <a:p>
            <a:pPr algn="l">
              <a:lnSpc>
                <a:spcPct val="115000"/>
              </a:lnSpc>
            </a:pPr>
            <a:r>
              <a:rPr sz="1500" b="0">
                <a:solidFill>
                  <a:srgbClr val="1F2A2E"/>
                </a:solidFill>
                <a:latin typeface="Arial"/>
              </a:rPr>
              <a:t>Cells that would slide more than a threshold </a:t>
            </a:r>
            <a:r>
              <a:rPr sz="1500" b="1">
                <a:solidFill>
                  <a:srgbClr val="1F2A2E"/>
                </a:solidFill>
                <a:latin typeface="Arial"/>
              </a:rPr>
              <a:t>fail</a:t>
            </a:r>
            <a:r>
              <a:rPr sz="1500" b="0">
                <a:solidFill>
                  <a:srgbClr val="1F2A2E"/>
                </a:solidFill>
                <a:latin typeface="Arial"/>
              </a:rPr>
              <a:t>, and the material </a:t>
            </a:r>
            <a:r>
              <a:rPr sz="1500" b="1">
                <a:solidFill>
                  <a:srgbClr val="1F2A2E"/>
                </a:solidFill>
                <a:latin typeface="Arial"/>
              </a:rPr>
              <a:t>runs downhill</a:t>
            </a:r>
            <a:r>
              <a:rPr sz="1500" b="0">
                <a:solidFill>
                  <a:srgbClr val="1F2A2E"/>
                </a:solidFill>
                <a:latin typeface="Arial"/>
              </a:rPr>
              <a:t>.</a:t>
            </a:r>
          </a:p>
        </p:txBody>
      </p:sp>
      <p:pic>
        <p:nvPicPr>
          <p:cNvPr id="8" name="Picture 7" descr="newmark.png"/>
          <p:cNvPicPr>
            <a:picLocks noChangeAspect="1"/>
          </p:cNvPicPr>
          <p:nvPr/>
        </p:nvPicPr>
        <p:blipFill>
          <a:blip r:embed="rId3"/>
          <a:stretch>
            <a:fillRect/>
          </a:stretch>
        </p:blipFill>
        <p:spPr>
          <a:xfrm>
            <a:off x="5678896" y="1914477"/>
            <a:ext cx="5976615" cy="2463739"/>
          </a:xfrm>
          <a:prstGeom prst="rect">
            <a:avLst/>
          </a:prstGeom>
        </p:spPr>
      </p:pic>
      <p:sp>
        <p:nvSpPr>
          <p:cNvPr id="9" name="TextBox 8"/>
          <p:cNvSpPr txBox="1"/>
          <p:nvPr/>
        </p:nvSpPr>
        <p:spPr>
          <a:xfrm>
            <a:off x="6349841" y="4457589"/>
            <a:ext cx="4825879" cy="190495"/>
          </a:xfrm>
          <a:prstGeom prst="rect">
            <a:avLst/>
          </a:prstGeom>
          <a:noFill/>
        </p:spPr>
        <p:txBody>
          <a:bodyPr wrap="square" lIns="0" tIns="0" rIns="0" bIns="0" anchor="t">
            <a:spAutoFit/>
          </a:bodyPr>
          <a:lstStyle/>
          <a:p>
            <a:pPr algn="l">
              <a:lnSpc>
                <a:spcPct val="110000"/>
              </a:lnSpc>
            </a:pPr>
            <a:r>
              <a:rPr sz="1200" b="0" dirty="0">
                <a:solidFill>
                  <a:srgbClr val="5B6B73"/>
                </a:solidFill>
                <a:latin typeface="Arial"/>
              </a:rPr>
              <a:t>Only shaking above the slope's breaking point moves the block</a:t>
            </a:r>
          </a:p>
        </p:txBody>
      </p:sp>
      <p:sp>
        <p:nvSpPr>
          <p:cNvPr id="10" name="Rounded Rectangle 9"/>
          <p:cNvSpPr/>
          <p:nvPr/>
        </p:nvSpPr>
        <p:spPr>
          <a:xfrm>
            <a:off x="812779" y="4730631"/>
            <a:ext cx="10566135" cy="1492212"/>
          </a:xfrm>
          <a:prstGeom prst="roundRect">
            <a:avLst>
              <a:gd name="adj" fmla="val 5000"/>
            </a:avLst>
          </a:prstGeom>
          <a:solidFill>
            <a:srgbClr val="E8F1F0"/>
          </a:solidFill>
          <a:ln w="12700">
            <a:solidFill>
              <a:srgbClr val="B9D6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66773" y="4838579"/>
            <a:ext cx="5714857" cy="190495"/>
          </a:xfrm>
          <a:prstGeom prst="rect">
            <a:avLst/>
          </a:prstGeom>
          <a:noFill/>
        </p:spPr>
        <p:txBody>
          <a:bodyPr wrap="square" lIns="0" tIns="0" rIns="0" bIns="0" anchor="t">
            <a:spAutoFit/>
          </a:bodyPr>
          <a:lstStyle/>
          <a:p>
            <a:pPr algn="l">
              <a:lnSpc>
                <a:spcPct val="110000"/>
              </a:lnSpc>
            </a:pPr>
            <a:r>
              <a:rPr sz="1200" b="1">
                <a:solidFill>
                  <a:srgbClr val="1F7A78"/>
                </a:solidFill>
                <a:latin typeface="Arial"/>
              </a:rPr>
              <a:t>INPUTS IT NEEDS</a:t>
            </a:r>
          </a:p>
        </p:txBody>
      </p:sp>
      <p:sp>
        <p:nvSpPr>
          <p:cNvPr id="12" name="TextBox 11"/>
          <p:cNvSpPr txBox="1"/>
          <p:nvPr/>
        </p:nvSpPr>
        <p:spPr>
          <a:xfrm>
            <a:off x="1066773" y="5079873"/>
            <a:ext cx="5079873" cy="1079473"/>
          </a:xfrm>
          <a:prstGeom prst="rect">
            <a:avLst/>
          </a:prstGeom>
          <a:noFill/>
        </p:spPr>
        <p:txBody>
          <a:bodyPr wrap="square" lIns="0" tIns="0" rIns="0" bIns="0" anchor="t">
            <a:spAutoFit/>
          </a:bodyPr>
          <a:lstStyle/>
          <a:p>
            <a:pPr algn="l">
              <a:lnSpc>
                <a:spcPct val="105000"/>
              </a:lnSpc>
              <a:spcAft>
                <a:spcPts val="100"/>
              </a:spcAft>
            </a:pPr>
            <a:r>
              <a:rPr sz="1200" b="1">
                <a:solidFill>
                  <a:srgbClr val="1F7A78"/>
                </a:solidFill>
                <a:latin typeface="Arial"/>
              </a:rPr>
              <a:t>grid, eq</a:t>
            </a:r>
            <a:r>
              <a:rPr sz="1200" b="0">
                <a:solidFill>
                  <a:srgbClr val="1F2A2E"/>
                </a:solidFill>
                <a:latin typeface="Arial"/>
              </a:rPr>
              <a:t>  the terrain and the earthquake sequence</a:t>
            </a:r>
          </a:p>
          <a:p>
            <a:pPr algn="l">
              <a:lnSpc>
                <a:spcPct val="105000"/>
              </a:lnSpc>
              <a:spcAft>
                <a:spcPts val="100"/>
              </a:spcAft>
            </a:pPr>
            <a:r>
              <a:rPr sz="1200" b="1">
                <a:solidFill>
                  <a:srgbClr val="1F7A78"/>
                </a:solidFill>
                <a:latin typeface="Arial"/>
              </a:rPr>
              <a:t>gmpe_model</a:t>
            </a:r>
            <a:r>
              <a:rPr sz="1200" b="0">
                <a:solidFill>
                  <a:srgbClr val="1F2A2E"/>
                </a:solidFill>
                <a:latin typeface="Arial"/>
              </a:rPr>
              <a:t>  ground-shaking equation (e.g. Chiou and Youngs)</a:t>
            </a:r>
          </a:p>
          <a:p>
            <a:pPr algn="l">
              <a:lnSpc>
                <a:spcPct val="105000"/>
              </a:lnSpc>
              <a:spcAft>
                <a:spcPts val="100"/>
              </a:spcAft>
            </a:pPr>
            <a:r>
              <a:rPr sz="1200" b="1">
                <a:solidFill>
                  <a:srgbClr val="1F7A78"/>
                </a:solidFill>
                <a:latin typeface="Arial"/>
              </a:rPr>
              <a:t>vs30_method, vs30_setting</a:t>
            </a:r>
            <a:r>
              <a:rPr sz="1200" b="0">
                <a:solidFill>
                  <a:srgbClr val="1F2A2E"/>
                </a:solidFill>
                <a:latin typeface="Arial"/>
              </a:rPr>
              <a:t>  soil stiffness method, tectonic setting</a:t>
            </a:r>
          </a:p>
          <a:p>
            <a:pPr algn="l">
              <a:lnSpc>
                <a:spcPct val="105000"/>
              </a:lnSpc>
              <a:spcAft>
                <a:spcPts val="100"/>
              </a:spcAft>
            </a:pPr>
            <a:r>
              <a:rPr sz="1200" b="1">
                <a:solidFill>
                  <a:srgbClr val="1F7A78"/>
                </a:solidFill>
                <a:latin typeface="Arial"/>
              </a:rPr>
              <a:t>cohesion</a:t>
            </a:r>
            <a:r>
              <a:rPr sz="1200" b="0">
                <a:solidFill>
                  <a:srgbClr val="1F2A2E"/>
                </a:solidFill>
                <a:latin typeface="Arial"/>
              </a:rPr>
              <a:t>  how strongly the ground holds together</a:t>
            </a:r>
          </a:p>
          <a:p>
            <a:pPr algn="l">
              <a:lnSpc>
                <a:spcPct val="105000"/>
              </a:lnSpc>
            </a:pPr>
            <a:r>
              <a:rPr sz="1200" b="1">
                <a:solidFill>
                  <a:srgbClr val="1F7A78"/>
                </a:solidFill>
                <a:latin typeface="Arial"/>
              </a:rPr>
              <a:t>angle_int_frict</a:t>
            </a:r>
            <a:r>
              <a:rPr sz="1200" b="0">
                <a:solidFill>
                  <a:srgbClr val="1F2A2E"/>
                </a:solidFill>
                <a:latin typeface="Arial"/>
              </a:rPr>
              <a:t>  internal friction angle</a:t>
            </a:r>
          </a:p>
        </p:txBody>
      </p:sp>
      <p:sp>
        <p:nvSpPr>
          <p:cNvPr id="13" name="TextBox 12"/>
          <p:cNvSpPr txBox="1"/>
          <p:nvPr/>
        </p:nvSpPr>
        <p:spPr>
          <a:xfrm>
            <a:off x="6337141" y="5079873"/>
            <a:ext cx="5079873" cy="1079473"/>
          </a:xfrm>
          <a:prstGeom prst="rect">
            <a:avLst/>
          </a:prstGeom>
          <a:noFill/>
        </p:spPr>
        <p:txBody>
          <a:bodyPr wrap="square" lIns="0" tIns="0" rIns="0" bIns="0" anchor="t">
            <a:spAutoFit/>
          </a:bodyPr>
          <a:lstStyle/>
          <a:p>
            <a:pPr algn="l">
              <a:lnSpc>
                <a:spcPct val="105000"/>
              </a:lnSpc>
              <a:spcAft>
                <a:spcPts val="100"/>
              </a:spcAft>
            </a:pPr>
            <a:r>
              <a:rPr sz="1200" b="1">
                <a:solidFill>
                  <a:srgbClr val="1F7A78"/>
                </a:solidFill>
                <a:latin typeface="Arial"/>
              </a:rPr>
              <a:t>rho_r</a:t>
            </a:r>
            <a:r>
              <a:rPr sz="1200" b="0">
                <a:solidFill>
                  <a:srgbClr val="1F2A2E"/>
                </a:solidFill>
                <a:latin typeface="Arial"/>
              </a:rPr>
              <a:t>  rock density</a:t>
            </a:r>
          </a:p>
          <a:p>
            <a:pPr algn="l">
              <a:lnSpc>
                <a:spcPct val="105000"/>
              </a:lnSpc>
              <a:spcAft>
                <a:spcPts val="100"/>
              </a:spcAft>
            </a:pPr>
            <a:r>
              <a:rPr sz="1200" b="1">
                <a:solidFill>
                  <a:srgbClr val="1F7A78"/>
                </a:solidFill>
                <a:latin typeface="Arial"/>
              </a:rPr>
              <a:t>w</a:t>
            </a:r>
            <a:r>
              <a:rPr sz="1200" b="0">
                <a:solidFill>
                  <a:srgbClr val="1F2A2E"/>
                </a:solidFill>
                <a:latin typeface="Arial"/>
              </a:rPr>
              <a:t>  ground wetness, 0 to 1</a:t>
            </a:r>
          </a:p>
          <a:p>
            <a:pPr algn="l">
              <a:lnSpc>
                <a:spcPct val="105000"/>
              </a:lnSpc>
              <a:spcAft>
                <a:spcPts val="100"/>
              </a:spcAft>
            </a:pPr>
            <a:r>
              <a:rPr sz="1200" b="1">
                <a:solidFill>
                  <a:srgbClr val="1F7A78"/>
                </a:solidFill>
                <a:latin typeface="Arial"/>
              </a:rPr>
              <a:t>hydraulic_conductivity</a:t>
            </a:r>
            <a:r>
              <a:rPr sz="1200" b="0">
                <a:solidFill>
                  <a:srgbClr val="1F2A2E"/>
                </a:solidFill>
                <a:latin typeface="Arial"/>
              </a:rPr>
              <a:t>  how fast water moves through ground</a:t>
            </a:r>
          </a:p>
          <a:p>
            <a:pPr algn="l">
              <a:lnSpc>
                <a:spcPct val="105000"/>
              </a:lnSpc>
              <a:spcAft>
                <a:spcPts val="100"/>
              </a:spcAft>
            </a:pPr>
            <a:r>
              <a:rPr sz="1200" b="1">
                <a:solidFill>
                  <a:srgbClr val="1F7A78"/>
                </a:solidFill>
                <a:latin typeface="Arial"/>
              </a:rPr>
              <a:t>min_newmark_disp</a:t>
            </a:r>
            <a:r>
              <a:rPr sz="1200" b="0">
                <a:solidFill>
                  <a:srgbClr val="1F2A2E"/>
                </a:solidFill>
                <a:latin typeface="Arial"/>
              </a:rPr>
              <a:t>  slide distance (cm) that counts as failure</a:t>
            </a:r>
          </a:p>
          <a:p>
            <a:pPr algn="l">
              <a:lnSpc>
                <a:spcPct val="105000"/>
              </a:lnSpc>
            </a:pPr>
            <a:r>
              <a:rPr sz="1200" b="1">
                <a:solidFill>
                  <a:srgbClr val="1F7A78"/>
                </a:solidFill>
                <a:latin typeface="Arial"/>
              </a:rPr>
              <a:t>porosity, seed</a:t>
            </a:r>
            <a:r>
              <a:rPr sz="1200" b="0">
                <a:solidFill>
                  <a:srgbClr val="1F2A2E"/>
                </a:solidFill>
                <a:latin typeface="Arial"/>
              </a:rPr>
              <a:t>  debris porosity; seed for random shaking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3EC"/>
        </a:solidFill>
        <a:effectLst/>
      </p:bgPr>
    </p:bg>
    <p:spTree>
      <p:nvGrpSpPr>
        <p:cNvPr id="1" name=""/>
        <p:cNvGrpSpPr/>
        <p:nvPr/>
      </p:nvGrpSpPr>
      <p:grpSpPr>
        <a:xfrm>
          <a:off x="0" y="0"/>
          <a:ext cx="0" cy="0"/>
          <a:chOff x="0" y="0"/>
          <a:chExt cx="0" cy="0"/>
        </a:xfrm>
      </p:grpSpPr>
      <p:sp>
        <p:nvSpPr>
          <p:cNvPr id="2" name="TextBox 1"/>
          <p:cNvSpPr txBox="1"/>
          <p:nvPr/>
        </p:nvSpPr>
        <p:spPr>
          <a:xfrm>
            <a:off x="812779" y="584185"/>
            <a:ext cx="10566135" cy="253993"/>
          </a:xfrm>
          <a:prstGeom prst="rect">
            <a:avLst/>
          </a:prstGeom>
          <a:noFill/>
        </p:spPr>
        <p:txBody>
          <a:bodyPr wrap="square" lIns="0" tIns="0" rIns="0" bIns="0" anchor="t">
            <a:spAutoFit/>
          </a:bodyPr>
          <a:lstStyle/>
          <a:p>
            <a:pPr algn="l">
              <a:lnSpc>
                <a:spcPct val="110000"/>
              </a:lnSpc>
            </a:pPr>
            <a:r>
              <a:rPr sz="1300" b="1">
                <a:solidFill>
                  <a:srgbClr val="C2542D"/>
                </a:solidFill>
                <a:latin typeface="Arial"/>
              </a:rPr>
              <a:t>INTEGRATION</a:t>
            </a:r>
          </a:p>
        </p:txBody>
      </p:sp>
      <p:sp>
        <p:nvSpPr>
          <p:cNvPr id="3" name="TextBox 2"/>
          <p:cNvSpPr txBox="1"/>
          <p:nvPr/>
        </p:nvSpPr>
        <p:spPr>
          <a:xfrm>
            <a:off x="812779" y="863578"/>
            <a:ext cx="10566135" cy="571485"/>
          </a:xfrm>
          <a:prstGeom prst="rect">
            <a:avLst/>
          </a:prstGeom>
          <a:noFill/>
        </p:spPr>
        <p:txBody>
          <a:bodyPr wrap="square" lIns="0" tIns="0" rIns="0" bIns="0" anchor="t">
            <a:spAutoFit/>
          </a:bodyPr>
          <a:lstStyle/>
          <a:p>
            <a:pPr algn="l">
              <a:lnSpc>
                <a:spcPct val="110000"/>
              </a:lnSpc>
            </a:pPr>
            <a:r>
              <a:rPr sz="3000" b="1">
                <a:solidFill>
                  <a:srgbClr val="1F2A2E"/>
                </a:solidFill>
                <a:latin typeface="Georgia"/>
              </a:rPr>
              <a:t>How EFEL appears in LandEvolve</a:t>
            </a:r>
          </a:p>
        </p:txBody>
      </p:sp>
      <p:sp>
        <p:nvSpPr>
          <p:cNvPr id="5" name="TextBox 4"/>
          <p:cNvSpPr txBox="1"/>
          <p:nvPr/>
        </p:nvSpPr>
        <p:spPr>
          <a:xfrm>
            <a:off x="10108947" y="6349841"/>
            <a:ext cx="1269968" cy="215894"/>
          </a:xfrm>
          <a:prstGeom prst="rect">
            <a:avLst/>
          </a:prstGeom>
          <a:noFill/>
        </p:spPr>
        <p:txBody>
          <a:bodyPr wrap="square" lIns="0" tIns="0" rIns="0" bIns="0" anchor="t">
            <a:spAutoFit/>
          </a:bodyPr>
          <a:lstStyle/>
          <a:p>
            <a:pPr algn="r">
              <a:lnSpc>
                <a:spcPct val="110000"/>
              </a:lnSpc>
            </a:pPr>
            <a:r>
              <a:rPr sz="1200" b="0">
                <a:solidFill>
                  <a:srgbClr val="5B6B73"/>
                </a:solidFill>
                <a:latin typeface="Arial"/>
              </a:rPr>
              <a:t>9</a:t>
            </a:r>
          </a:p>
        </p:txBody>
      </p:sp>
      <p:sp>
        <p:nvSpPr>
          <p:cNvPr id="6" name="Rounded Rectangle 5"/>
          <p:cNvSpPr/>
          <p:nvPr/>
        </p:nvSpPr>
        <p:spPr>
          <a:xfrm>
            <a:off x="812779" y="2031949"/>
            <a:ext cx="3384465" cy="2539936"/>
          </a:xfrm>
          <a:prstGeom prst="roundRect">
            <a:avLst>
              <a:gd name="adj" fmla="val 5000"/>
            </a:avLst>
          </a:prstGeom>
          <a:solidFill>
            <a:srgbClr val="FFFDF8"/>
          </a:solidFill>
          <a:ln w="12700">
            <a:solidFill>
              <a:srgbClr val="E4DD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66773" y="2260543"/>
            <a:ext cx="2857428" cy="380990"/>
          </a:xfrm>
          <a:prstGeom prst="rect">
            <a:avLst/>
          </a:prstGeom>
          <a:noFill/>
        </p:spPr>
        <p:txBody>
          <a:bodyPr wrap="square" lIns="0" tIns="0" rIns="0" bIns="0" anchor="t">
            <a:spAutoFit/>
          </a:bodyPr>
          <a:lstStyle/>
          <a:p>
            <a:pPr algn="l">
              <a:lnSpc>
                <a:spcPct val="110000"/>
              </a:lnSpc>
            </a:pPr>
            <a:r>
              <a:rPr sz="2000" b="1">
                <a:solidFill>
                  <a:srgbClr val="1F2A2E"/>
                </a:solidFill>
                <a:latin typeface="Georgia"/>
              </a:rPr>
              <a:t>Fault Tectonics</a:t>
            </a:r>
          </a:p>
        </p:txBody>
      </p:sp>
      <p:sp>
        <p:nvSpPr>
          <p:cNvPr id="8" name="TextBox 7"/>
          <p:cNvSpPr txBox="1"/>
          <p:nvPr/>
        </p:nvSpPr>
        <p:spPr>
          <a:xfrm>
            <a:off x="1066773" y="2730431"/>
            <a:ext cx="2857428" cy="1269968"/>
          </a:xfrm>
          <a:prstGeom prst="rect">
            <a:avLst/>
          </a:prstGeom>
          <a:noFill/>
        </p:spPr>
        <p:txBody>
          <a:bodyPr wrap="square" lIns="0" tIns="0" rIns="0" bIns="0" anchor="t">
            <a:spAutoFit/>
          </a:bodyPr>
          <a:lstStyle/>
          <a:p>
            <a:pPr algn="l">
              <a:lnSpc>
                <a:spcPct val="120000"/>
              </a:lnSpc>
            </a:pPr>
            <a:r>
              <a:rPr sz="1600" b="0">
                <a:solidFill>
                  <a:srgbClr val="1F2A2E"/>
                </a:solidFill>
                <a:latin typeface="Arial"/>
              </a:rPr>
              <a:t>Wraps DippingFault and VerticalFault. Set position, strike, dip and slip in plain map terms.</a:t>
            </a:r>
          </a:p>
        </p:txBody>
      </p:sp>
      <p:sp>
        <p:nvSpPr>
          <p:cNvPr id="9" name="TextBox 8"/>
          <p:cNvSpPr txBox="1"/>
          <p:nvPr/>
        </p:nvSpPr>
        <p:spPr>
          <a:xfrm>
            <a:off x="1066773" y="4063898"/>
            <a:ext cx="2857428" cy="380990"/>
          </a:xfrm>
          <a:prstGeom prst="rect">
            <a:avLst/>
          </a:prstGeom>
          <a:noFill/>
        </p:spPr>
        <p:txBody>
          <a:bodyPr wrap="square" lIns="0" tIns="0" rIns="0" bIns="0" anchor="t">
            <a:spAutoFit/>
          </a:bodyPr>
          <a:lstStyle/>
          <a:p>
            <a:pPr algn="l">
              <a:lnSpc>
                <a:spcPct val="110000"/>
              </a:lnSpc>
            </a:pPr>
            <a:r>
              <a:rPr sz="1300" b="1">
                <a:solidFill>
                  <a:srgbClr val="C2542D"/>
                </a:solidFill>
                <a:latin typeface="Arial"/>
              </a:rPr>
              <a:t>Needs: nothing else</a:t>
            </a:r>
          </a:p>
        </p:txBody>
      </p:sp>
      <p:sp>
        <p:nvSpPr>
          <p:cNvPr id="10" name="Rounded Rectangle 9"/>
          <p:cNvSpPr/>
          <p:nvPr/>
        </p:nvSpPr>
        <p:spPr>
          <a:xfrm>
            <a:off x="4400439" y="2031949"/>
            <a:ext cx="3384465" cy="2539936"/>
          </a:xfrm>
          <a:prstGeom prst="roundRect">
            <a:avLst>
              <a:gd name="adj" fmla="val 5000"/>
            </a:avLst>
          </a:prstGeom>
          <a:solidFill>
            <a:srgbClr val="FFFDF8"/>
          </a:solidFill>
          <a:ln w="12700">
            <a:solidFill>
              <a:srgbClr val="E4DD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654433" y="2260543"/>
            <a:ext cx="2857428" cy="380990"/>
          </a:xfrm>
          <a:prstGeom prst="rect">
            <a:avLst/>
          </a:prstGeom>
          <a:noFill/>
        </p:spPr>
        <p:txBody>
          <a:bodyPr wrap="square" lIns="0" tIns="0" rIns="0" bIns="0" anchor="t">
            <a:spAutoFit/>
          </a:bodyPr>
          <a:lstStyle/>
          <a:p>
            <a:pPr algn="l">
              <a:lnSpc>
                <a:spcPct val="110000"/>
              </a:lnSpc>
            </a:pPr>
            <a:r>
              <a:rPr sz="2000" b="1">
                <a:solidFill>
                  <a:srgbClr val="1F2A2E"/>
                </a:solidFill>
                <a:latin typeface="Georgia"/>
              </a:rPr>
              <a:t>Earthquakes</a:t>
            </a:r>
          </a:p>
        </p:txBody>
      </p:sp>
      <p:sp>
        <p:nvSpPr>
          <p:cNvPr id="12" name="TextBox 11"/>
          <p:cNvSpPr txBox="1"/>
          <p:nvPr/>
        </p:nvSpPr>
        <p:spPr>
          <a:xfrm>
            <a:off x="4654433" y="2730431"/>
            <a:ext cx="2857428" cy="1269968"/>
          </a:xfrm>
          <a:prstGeom prst="rect">
            <a:avLst/>
          </a:prstGeom>
          <a:noFill/>
        </p:spPr>
        <p:txBody>
          <a:bodyPr wrap="square" lIns="0" tIns="0" rIns="0" bIns="0" anchor="t">
            <a:spAutoFit/>
          </a:bodyPr>
          <a:lstStyle/>
          <a:p>
            <a:pPr algn="l">
              <a:lnSpc>
                <a:spcPct val="120000"/>
              </a:lnSpc>
            </a:pPr>
            <a:r>
              <a:rPr sz="1600" b="0">
                <a:solidFill>
                  <a:srgbClr val="1F2A2E"/>
                </a:solidFill>
                <a:latin typeface="Arial"/>
              </a:rPr>
              <a:t>Wraps EarthquakeSequence. Choose the size mix, the smallest quake and the timing.</a:t>
            </a:r>
          </a:p>
        </p:txBody>
      </p:sp>
      <p:sp>
        <p:nvSpPr>
          <p:cNvPr id="13" name="TextBox 12"/>
          <p:cNvSpPr txBox="1"/>
          <p:nvPr/>
        </p:nvSpPr>
        <p:spPr>
          <a:xfrm>
            <a:off x="4654433" y="4063898"/>
            <a:ext cx="2857428" cy="380990"/>
          </a:xfrm>
          <a:prstGeom prst="rect">
            <a:avLst/>
          </a:prstGeom>
          <a:noFill/>
        </p:spPr>
        <p:txBody>
          <a:bodyPr wrap="square" lIns="0" tIns="0" rIns="0" bIns="0" anchor="t">
            <a:spAutoFit/>
          </a:bodyPr>
          <a:lstStyle/>
          <a:p>
            <a:pPr algn="l">
              <a:lnSpc>
                <a:spcPct val="110000"/>
              </a:lnSpc>
            </a:pPr>
            <a:r>
              <a:rPr sz="1300" b="1">
                <a:solidFill>
                  <a:srgbClr val="C2542D"/>
                </a:solidFill>
                <a:latin typeface="Arial"/>
              </a:rPr>
              <a:t>Needs: Fault Tectonics</a:t>
            </a:r>
          </a:p>
        </p:txBody>
      </p:sp>
      <p:sp>
        <p:nvSpPr>
          <p:cNvPr id="14" name="Rounded Rectangle 13"/>
          <p:cNvSpPr/>
          <p:nvPr/>
        </p:nvSpPr>
        <p:spPr>
          <a:xfrm>
            <a:off x="7988100" y="2031949"/>
            <a:ext cx="3384465" cy="2539936"/>
          </a:xfrm>
          <a:prstGeom prst="roundRect">
            <a:avLst>
              <a:gd name="adj" fmla="val 5000"/>
            </a:avLst>
          </a:prstGeom>
          <a:solidFill>
            <a:srgbClr val="FFFDF8"/>
          </a:solidFill>
          <a:ln w="12700">
            <a:solidFill>
              <a:srgbClr val="E4DD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42093" y="2260543"/>
            <a:ext cx="2857428" cy="380990"/>
          </a:xfrm>
          <a:prstGeom prst="rect">
            <a:avLst/>
          </a:prstGeom>
          <a:noFill/>
        </p:spPr>
        <p:txBody>
          <a:bodyPr wrap="square" lIns="0" tIns="0" rIns="0" bIns="0" anchor="t">
            <a:spAutoFit/>
          </a:bodyPr>
          <a:lstStyle/>
          <a:p>
            <a:pPr algn="l">
              <a:lnSpc>
                <a:spcPct val="110000"/>
              </a:lnSpc>
            </a:pPr>
            <a:r>
              <a:rPr sz="2000" b="1">
                <a:solidFill>
                  <a:srgbClr val="1F2A2E"/>
                </a:solidFill>
                <a:latin typeface="Georgia"/>
              </a:rPr>
              <a:t>Coseismic Landslides</a:t>
            </a:r>
          </a:p>
        </p:txBody>
      </p:sp>
      <p:sp>
        <p:nvSpPr>
          <p:cNvPr id="16" name="TextBox 15"/>
          <p:cNvSpPr txBox="1"/>
          <p:nvPr/>
        </p:nvSpPr>
        <p:spPr>
          <a:xfrm>
            <a:off x="8242093" y="2730431"/>
            <a:ext cx="2857428" cy="1269968"/>
          </a:xfrm>
          <a:prstGeom prst="rect">
            <a:avLst/>
          </a:prstGeom>
          <a:noFill/>
        </p:spPr>
        <p:txBody>
          <a:bodyPr wrap="square" lIns="0" tIns="0" rIns="0" bIns="0" anchor="t">
            <a:spAutoFit/>
          </a:bodyPr>
          <a:lstStyle/>
          <a:p>
            <a:pPr algn="l">
              <a:lnSpc>
                <a:spcPct val="120000"/>
              </a:lnSpc>
            </a:pPr>
            <a:r>
              <a:rPr sz="1600" b="0">
                <a:solidFill>
                  <a:srgbClr val="1F2A2E"/>
                </a:solidFill>
                <a:latin typeface="Arial"/>
              </a:rPr>
              <a:t>Wraps CoseismicLandslider. Set the shaking model and slope strength.</a:t>
            </a:r>
          </a:p>
        </p:txBody>
      </p:sp>
      <p:sp>
        <p:nvSpPr>
          <p:cNvPr id="17" name="TextBox 16"/>
          <p:cNvSpPr txBox="1"/>
          <p:nvPr/>
        </p:nvSpPr>
        <p:spPr>
          <a:xfrm>
            <a:off x="8242093" y="4063898"/>
            <a:ext cx="2857428" cy="380990"/>
          </a:xfrm>
          <a:prstGeom prst="rect">
            <a:avLst/>
          </a:prstGeom>
          <a:noFill/>
        </p:spPr>
        <p:txBody>
          <a:bodyPr wrap="square" lIns="0" tIns="0" rIns="0" bIns="0" anchor="t">
            <a:spAutoFit/>
          </a:bodyPr>
          <a:lstStyle/>
          <a:p>
            <a:pPr algn="l">
              <a:lnSpc>
                <a:spcPct val="110000"/>
              </a:lnSpc>
            </a:pPr>
            <a:r>
              <a:rPr sz="1300" b="1">
                <a:solidFill>
                  <a:srgbClr val="C2542D"/>
                </a:solidFill>
                <a:latin typeface="Arial"/>
              </a:rPr>
              <a:t>Needs: Earthquakes and Water Flow Routing</a:t>
            </a:r>
          </a:p>
        </p:txBody>
      </p:sp>
      <p:sp>
        <p:nvSpPr>
          <p:cNvPr id="18" name="TextBox 17"/>
          <p:cNvSpPr txBox="1"/>
          <p:nvPr/>
        </p:nvSpPr>
        <p:spPr>
          <a:xfrm>
            <a:off x="812779" y="4889377"/>
            <a:ext cx="10566135" cy="1015974"/>
          </a:xfrm>
          <a:prstGeom prst="rect">
            <a:avLst/>
          </a:prstGeom>
          <a:noFill/>
        </p:spPr>
        <p:txBody>
          <a:bodyPr wrap="square" lIns="0" tIns="0" rIns="0" bIns="0" anchor="t">
            <a:spAutoFit/>
          </a:bodyPr>
          <a:lstStyle/>
          <a:p>
            <a:pPr algn="l">
              <a:lnSpc>
                <a:spcPct val="120000"/>
              </a:lnSpc>
              <a:spcAft>
                <a:spcPts val="1000"/>
              </a:spcAft>
            </a:pPr>
            <a:r>
              <a:rPr sz="1600" b="0">
                <a:solidFill>
                  <a:srgbClr val="1F2A2E"/>
                </a:solidFill>
                <a:latin typeface="Arial"/>
              </a:rPr>
              <a:t>Each is a </a:t>
            </a:r>
            <a:r>
              <a:rPr sz="1600" b="1">
                <a:solidFill>
                  <a:srgbClr val="1F2A2E"/>
                </a:solidFill>
                <a:latin typeface="Arial"/>
              </a:rPr>
              <a:t>process you add</a:t>
            </a:r>
            <a:r>
              <a:rPr sz="1600" b="0">
                <a:solidFill>
                  <a:srgbClr val="1F2A2E"/>
                </a:solidFill>
                <a:latin typeface="Arial"/>
              </a:rPr>
              <a:t> in LandEvolve, alongside erosion and sediment transport, with its own settings panel.</a:t>
            </a:r>
          </a:p>
          <a:p>
            <a:pPr algn="l">
              <a:lnSpc>
                <a:spcPct val="120000"/>
              </a:lnSpc>
            </a:pPr>
            <a:r>
              <a:rPr sz="1600" b="0">
                <a:solidFill>
                  <a:srgbClr val="1F2A2E"/>
                </a:solidFill>
                <a:latin typeface="Arial"/>
              </a:rPr>
              <a:t>Erosion maps stay clean: a copy of the terrain moved only by tectonics is subtracted, so fault movement is not mistaken for erosion.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3EC"/>
        </a:solidFill>
        <a:effectLst/>
      </p:bgPr>
    </p:bg>
    <p:spTree>
      <p:nvGrpSpPr>
        <p:cNvPr id="1" name=""/>
        <p:cNvGrpSpPr/>
        <p:nvPr/>
      </p:nvGrpSpPr>
      <p:grpSpPr>
        <a:xfrm>
          <a:off x="0" y="0"/>
          <a:ext cx="0" cy="0"/>
          <a:chOff x="0" y="0"/>
          <a:chExt cx="0" cy="0"/>
        </a:xfrm>
      </p:grpSpPr>
      <p:sp>
        <p:nvSpPr>
          <p:cNvPr id="2" name="TextBox 1"/>
          <p:cNvSpPr txBox="1"/>
          <p:nvPr/>
        </p:nvSpPr>
        <p:spPr>
          <a:xfrm>
            <a:off x="812779" y="584185"/>
            <a:ext cx="10566135" cy="253993"/>
          </a:xfrm>
          <a:prstGeom prst="rect">
            <a:avLst/>
          </a:prstGeom>
          <a:noFill/>
        </p:spPr>
        <p:txBody>
          <a:bodyPr wrap="square" lIns="0" tIns="0" rIns="0" bIns="0" anchor="t">
            <a:spAutoFit/>
          </a:bodyPr>
          <a:lstStyle/>
          <a:p>
            <a:pPr algn="l">
              <a:lnSpc>
                <a:spcPct val="110000"/>
              </a:lnSpc>
            </a:pPr>
            <a:r>
              <a:rPr sz="1300" b="1">
                <a:solidFill>
                  <a:srgbClr val="C2542D"/>
                </a:solidFill>
                <a:latin typeface="Arial"/>
              </a:rPr>
              <a:t>SAMPLE RUN</a:t>
            </a:r>
          </a:p>
        </p:txBody>
      </p:sp>
      <p:sp>
        <p:nvSpPr>
          <p:cNvPr id="3" name="TextBox 2"/>
          <p:cNvSpPr txBox="1"/>
          <p:nvPr/>
        </p:nvSpPr>
        <p:spPr>
          <a:xfrm>
            <a:off x="812779" y="863578"/>
            <a:ext cx="10566135" cy="571485"/>
          </a:xfrm>
          <a:prstGeom prst="rect">
            <a:avLst/>
          </a:prstGeom>
          <a:noFill/>
        </p:spPr>
        <p:txBody>
          <a:bodyPr wrap="square" lIns="0" tIns="0" rIns="0" bIns="0" anchor="t">
            <a:spAutoFit/>
          </a:bodyPr>
          <a:lstStyle/>
          <a:p>
            <a:pPr algn="l">
              <a:lnSpc>
                <a:spcPct val="110000"/>
              </a:lnSpc>
            </a:pPr>
            <a:r>
              <a:rPr sz="3000" b="1">
                <a:solidFill>
                  <a:srgbClr val="1F2A2E"/>
                </a:solidFill>
                <a:latin typeface="Georgia"/>
              </a:rPr>
              <a:t>The study site: Kaikoura, New Zealand</a:t>
            </a:r>
          </a:p>
        </p:txBody>
      </p:sp>
      <p:sp>
        <p:nvSpPr>
          <p:cNvPr id="5" name="TextBox 4"/>
          <p:cNvSpPr txBox="1"/>
          <p:nvPr/>
        </p:nvSpPr>
        <p:spPr>
          <a:xfrm>
            <a:off x="10108947" y="6349841"/>
            <a:ext cx="1269968" cy="215894"/>
          </a:xfrm>
          <a:prstGeom prst="rect">
            <a:avLst/>
          </a:prstGeom>
          <a:noFill/>
        </p:spPr>
        <p:txBody>
          <a:bodyPr wrap="square" lIns="0" tIns="0" rIns="0" bIns="0" anchor="t">
            <a:spAutoFit/>
          </a:bodyPr>
          <a:lstStyle/>
          <a:p>
            <a:pPr algn="r">
              <a:lnSpc>
                <a:spcPct val="110000"/>
              </a:lnSpc>
            </a:pPr>
            <a:r>
              <a:rPr sz="1200" b="0">
                <a:solidFill>
                  <a:srgbClr val="5B6B73"/>
                </a:solidFill>
                <a:latin typeface="Arial"/>
              </a:rPr>
              <a:t>10</a:t>
            </a:r>
          </a:p>
        </p:txBody>
      </p:sp>
      <p:pic>
        <p:nvPicPr>
          <p:cNvPr id="9" name="Picture 8" descr="init.png"/>
          <p:cNvPicPr>
            <a:picLocks noChangeAspect="1"/>
          </p:cNvPicPr>
          <p:nvPr/>
        </p:nvPicPr>
        <p:blipFill>
          <a:blip r:embed="rId3"/>
          <a:stretch>
            <a:fillRect/>
          </a:stretch>
        </p:blipFill>
        <p:spPr>
          <a:xfrm>
            <a:off x="6063342" y="1373560"/>
            <a:ext cx="5753577" cy="3452146"/>
          </a:xfrm>
          <a:prstGeom prst="rect">
            <a:avLst/>
          </a:prstGeom>
        </p:spPr>
      </p:pic>
      <p:sp>
        <p:nvSpPr>
          <p:cNvPr id="10" name="TextBox 9"/>
          <p:cNvSpPr txBox="1"/>
          <p:nvPr/>
        </p:nvSpPr>
        <p:spPr>
          <a:xfrm>
            <a:off x="6286341" y="4978275"/>
            <a:ext cx="5079873" cy="190495"/>
          </a:xfrm>
          <a:prstGeom prst="rect">
            <a:avLst/>
          </a:prstGeom>
          <a:noFill/>
        </p:spPr>
        <p:txBody>
          <a:bodyPr wrap="square" lIns="0" tIns="0" rIns="0" bIns="0" anchor="t">
            <a:spAutoFit/>
          </a:bodyPr>
          <a:lstStyle/>
          <a:p>
            <a:pPr algn="l">
              <a:lnSpc>
                <a:spcPct val="110000"/>
              </a:lnSpc>
            </a:pPr>
            <a:r>
              <a:rPr lang="en-US" sz="1200" dirty="0">
                <a:solidFill>
                  <a:srgbClr val="5B6B73"/>
                </a:solidFill>
                <a:latin typeface="Arial"/>
              </a:rPr>
              <a:t>D</a:t>
            </a:r>
            <a:r>
              <a:rPr sz="1200" b="0" dirty="0">
                <a:solidFill>
                  <a:srgbClr val="5B6B73"/>
                </a:solidFill>
                <a:latin typeface="Arial"/>
              </a:rPr>
              <a:t>EM: elevation with </a:t>
            </a:r>
            <a:r>
              <a:rPr sz="1200" b="0" dirty="0" err="1">
                <a:solidFill>
                  <a:srgbClr val="5B6B73"/>
                </a:solidFill>
                <a:latin typeface="Arial"/>
              </a:rPr>
              <a:t>hillshade</a:t>
            </a:r>
            <a:endParaRPr sz="1200" b="0" dirty="0">
              <a:solidFill>
                <a:srgbClr val="5B6B73"/>
              </a:solidFill>
              <a:latin typeface="Arial"/>
            </a:endParaRPr>
          </a:p>
        </p:txBody>
      </p:sp>
      <p:sp>
        <p:nvSpPr>
          <p:cNvPr id="11" name="TextBox 10"/>
          <p:cNvSpPr txBox="1"/>
          <p:nvPr/>
        </p:nvSpPr>
        <p:spPr>
          <a:xfrm>
            <a:off x="6286342" y="5321339"/>
            <a:ext cx="5079873" cy="1344151"/>
          </a:xfrm>
          <a:prstGeom prst="rect">
            <a:avLst/>
          </a:prstGeom>
          <a:noFill/>
        </p:spPr>
        <p:txBody>
          <a:bodyPr wrap="square" lIns="0" tIns="0" rIns="0" bIns="0" anchor="t">
            <a:spAutoFit/>
          </a:bodyPr>
          <a:lstStyle/>
          <a:p>
            <a:pPr algn="l">
              <a:spcAft>
                <a:spcPts val="800"/>
              </a:spcAft>
            </a:pPr>
            <a:r>
              <a:rPr sz="1500" b="1" dirty="0">
                <a:solidFill>
                  <a:srgbClr val="1F2A2E"/>
                </a:solidFill>
                <a:latin typeface="Arial"/>
              </a:rPr>
              <a:t>Location:</a:t>
            </a:r>
            <a:r>
              <a:rPr sz="1500" b="0" dirty="0">
                <a:solidFill>
                  <a:srgbClr val="1F2A2E"/>
                </a:solidFill>
                <a:latin typeface="Arial"/>
              </a:rPr>
              <a:t> about 42.22° S, 173.85° E, Kaikoura coast</a:t>
            </a:r>
          </a:p>
          <a:p>
            <a:pPr algn="l">
              <a:lnSpc>
                <a:spcPct val="120000"/>
              </a:lnSpc>
              <a:spcAft>
                <a:spcPts val="800"/>
              </a:spcAft>
            </a:pPr>
            <a:r>
              <a:rPr sz="1500" b="1" dirty="0">
                <a:solidFill>
                  <a:srgbClr val="1F2A2E"/>
                </a:solidFill>
                <a:latin typeface="Arial"/>
              </a:rPr>
              <a:t>Size:</a:t>
            </a:r>
            <a:r>
              <a:rPr sz="1500" b="0" dirty="0">
                <a:solidFill>
                  <a:srgbClr val="1F2A2E"/>
                </a:solidFill>
                <a:latin typeface="Arial"/>
              </a:rPr>
              <a:t> 719 m by 515 m, at 1 m cells</a:t>
            </a:r>
          </a:p>
          <a:p>
            <a:pPr algn="l">
              <a:lnSpc>
                <a:spcPct val="120000"/>
              </a:lnSpc>
              <a:spcAft>
                <a:spcPts val="800"/>
              </a:spcAft>
            </a:pPr>
            <a:r>
              <a:rPr sz="1500" b="1" dirty="0">
                <a:solidFill>
                  <a:srgbClr val="1F2A2E"/>
                </a:solidFill>
                <a:latin typeface="Arial"/>
              </a:rPr>
              <a:t>Height:</a:t>
            </a:r>
            <a:r>
              <a:rPr sz="1500" b="0" dirty="0">
                <a:solidFill>
                  <a:srgbClr val="1F2A2E"/>
                </a:solidFill>
                <a:latin typeface="Arial"/>
              </a:rPr>
              <a:t> from about -1.5 m to 254 m</a:t>
            </a:r>
          </a:p>
          <a:p>
            <a:pPr algn="l">
              <a:lnSpc>
                <a:spcPct val="120000"/>
              </a:lnSpc>
            </a:pPr>
            <a:r>
              <a:rPr sz="1500" b="1" dirty="0">
                <a:solidFill>
                  <a:srgbClr val="1F2A2E"/>
                </a:solidFill>
                <a:latin typeface="Arial"/>
              </a:rPr>
              <a:t>Source:</a:t>
            </a:r>
            <a:r>
              <a:rPr sz="1500" b="0" dirty="0">
                <a:solidFill>
                  <a:srgbClr val="1F2A2E"/>
                </a:solidFill>
                <a:latin typeface="Arial"/>
              </a:rPr>
              <a:t> LiDAR DEM, in NZTM coordinates</a:t>
            </a:r>
          </a:p>
        </p:txBody>
      </p:sp>
      <p:pic>
        <p:nvPicPr>
          <p:cNvPr id="13" name="Picture 12" descr="Aerial view of a road and mountains&#10;&#10;AI-generated content may be incorrect.">
            <a:extLst>
              <a:ext uri="{FF2B5EF4-FFF2-40B4-BE49-F238E27FC236}">
                <a16:creationId xmlns:a16="http://schemas.microsoft.com/office/drawing/2014/main" id="{830CF167-5E91-B2D0-5C4C-FE01857576F4}"/>
              </a:ext>
            </a:extLst>
          </p:cNvPr>
          <p:cNvPicPr>
            <a:picLocks noChangeAspect="1"/>
          </p:cNvPicPr>
          <p:nvPr/>
        </p:nvPicPr>
        <p:blipFill>
          <a:blip r:embed="rId4"/>
          <a:srcRect b="2311"/>
          <a:stretch>
            <a:fillRect/>
          </a:stretch>
        </p:blipFill>
        <p:spPr>
          <a:xfrm>
            <a:off x="195556" y="1460463"/>
            <a:ext cx="5753577" cy="484353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3EC"/>
        </a:solidFill>
        <a:effectLst/>
      </p:bgPr>
    </p:bg>
    <p:spTree>
      <p:nvGrpSpPr>
        <p:cNvPr id="1" name=""/>
        <p:cNvGrpSpPr/>
        <p:nvPr/>
      </p:nvGrpSpPr>
      <p:grpSpPr>
        <a:xfrm>
          <a:off x="0" y="0"/>
          <a:ext cx="0" cy="0"/>
          <a:chOff x="0" y="0"/>
          <a:chExt cx="0" cy="0"/>
        </a:xfrm>
      </p:grpSpPr>
      <p:sp>
        <p:nvSpPr>
          <p:cNvPr id="2" name="TextBox 1"/>
          <p:cNvSpPr txBox="1"/>
          <p:nvPr/>
        </p:nvSpPr>
        <p:spPr>
          <a:xfrm>
            <a:off x="812779" y="584185"/>
            <a:ext cx="10566135" cy="253993"/>
          </a:xfrm>
          <a:prstGeom prst="rect">
            <a:avLst/>
          </a:prstGeom>
          <a:noFill/>
        </p:spPr>
        <p:txBody>
          <a:bodyPr wrap="square" lIns="0" tIns="0" rIns="0" bIns="0" anchor="t">
            <a:spAutoFit/>
          </a:bodyPr>
          <a:lstStyle/>
          <a:p>
            <a:pPr algn="l">
              <a:lnSpc>
                <a:spcPct val="110000"/>
              </a:lnSpc>
            </a:pPr>
            <a:r>
              <a:rPr sz="1300" b="1">
                <a:solidFill>
                  <a:srgbClr val="C2542D"/>
                </a:solidFill>
                <a:latin typeface="Arial"/>
              </a:rPr>
              <a:t>SAMPLE RUN</a:t>
            </a:r>
          </a:p>
        </p:txBody>
      </p:sp>
      <p:sp>
        <p:nvSpPr>
          <p:cNvPr id="3" name="TextBox 2"/>
          <p:cNvSpPr txBox="1"/>
          <p:nvPr/>
        </p:nvSpPr>
        <p:spPr>
          <a:xfrm>
            <a:off x="812779" y="863578"/>
            <a:ext cx="10566135" cy="571485"/>
          </a:xfrm>
          <a:prstGeom prst="rect">
            <a:avLst/>
          </a:prstGeom>
          <a:noFill/>
        </p:spPr>
        <p:txBody>
          <a:bodyPr wrap="square" lIns="0" tIns="0" rIns="0" bIns="0" anchor="t">
            <a:spAutoFit/>
          </a:bodyPr>
          <a:lstStyle/>
          <a:p>
            <a:pPr algn="l">
              <a:lnSpc>
                <a:spcPct val="110000"/>
              </a:lnSpc>
            </a:pPr>
            <a:r>
              <a:rPr sz="3000" b="1">
                <a:solidFill>
                  <a:srgbClr val="1F2A2E"/>
                </a:solidFill>
                <a:latin typeface="Georgia"/>
              </a:rPr>
              <a:t>A test on a real DEM from Kaikoura, New Zealand</a:t>
            </a:r>
          </a:p>
        </p:txBody>
      </p:sp>
      <p:sp>
        <p:nvSpPr>
          <p:cNvPr id="4" name="TextBox 3"/>
          <p:cNvSpPr txBox="1"/>
          <p:nvPr/>
        </p:nvSpPr>
        <p:spPr>
          <a:xfrm>
            <a:off x="812779" y="6349841"/>
            <a:ext cx="4444888" cy="215894"/>
          </a:xfrm>
          <a:prstGeom prst="rect">
            <a:avLst/>
          </a:prstGeom>
          <a:noFill/>
        </p:spPr>
        <p:txBody>
          <a:bodyPr wrap="square" lIns="0" tIns="0" rIns="0" bIns="0" anchor="t">
            <a:spAutoFit/>
          </a:bodyPr>
          <a:lstStyle/>
          <a:p>
            <a:pPr algn="l">
              <a:lnSpc>
                <a:spcPct val="110000"/>
              </a:lnSpc>
            </a:pPr>
            <a:r>
              <a:rPr sz="1200" b="0">
                <a:solidFill>
                  <a:srgbClr val="5B6B73"/>
                </a:solidFill>
                <a:latin typeface="Arial"/>
              </a:rPr>
              <a:t>Introduction to EFEL and integration into LandEvolve</a:t>
            </a:r>
          </a:p>
        </p:txBody>
      </p:sp>
      <p:sp>
        <p:nvSpPr>
          <p:cNvPr id="5" name="TextBox 4"/>
          <p:cNvSpPr txBox="1"/>
          <p:nvPr/>
        </p:nvSpPr>
        <p:spPr>
          <a:xfrm>
            <a:off x="10108947" y="6349841"/>
            <a:ext cx="1269968" cy="215894"/>
          </a:xfrm>
          <a:prstGeom prst="rect">
            <a:avLst/>
          </a:prstGeom>
          <a:noFill/>
        </p:spPr>
        <p:txBody>
          <a:bodyPr wrap="square" lIns="0" tIns="0" rIns="0" bIns="0" anchor="t">
            <a:spAutoFit/>
          </a:bodyPr>
          <a:lstStyle/>
          <a:p>
            <a:pPr algn="r">
              <a:lnSpc>
                <a:spcPct val="110000"/>
              </a:lnSpc>
            </a:pPr>
            <a:r>
              <a:rPr sz="1200" b="0">
                <a:solidFill>
                  <a:srgbClr val="5B6B73"/>
                </a:solidFill>
                <a:latin typeface="Arial"/>
              </a:rPr>
              <a:t>11</a:t>
            </a:r>
          </a:p>
        </p:txBody>
      </p:sp>
      <p:sp>
        <p:nvSpPr>
          <p:cNvPr id="6" name="TextBox 5"/>
          <p:cNvSpPr txBox="1"/>
          <p:nvPr/>
        </p:nvSpPr>
        <p:spPr>
          <a:xfrm>
            <a:off x="812779" y="1714457"/>
            <a:ext cx="10566135" cy="249812"/>
          </a:xfrm>
          <a:prstGeom prst="rect">
            <a:avLst/>
          </a:prstGeom>
          <a:noFill/>
        </p:spPr>
        <p:txBody>
          <a:bodyPr wrap="square" lIns="0" tIns="0" rIns="0" bIns="0" anchor="t">
            <a:spAutoFit/>
          </a:bodyPr>
          <a:lstStyle/>
          <a:p>
            <a:pPr algn="l">
              <a:lnSpc>
                <a:spcPct val="110000"/>
              </a:lnSpc>
            </a:pPr>
            <a:r>
              <a:rPr lang="en-US" sz="1600" dirty="0">
                <a:solidFill>
                  <a:srgbClr val="1F2A2E"/>
                </a:solidFill>
                <a:latin typeface="Arial"/>
              </a:rPr>
              <a:t>S</a:t>
            </a:r>
            <a:r>
              <a:rPr sz="1600" b="0" dirty="0">
                <a:solidFill>
                  <a:srgbClr val="1F2A2E"/>
                </a:solidFill>
                <a:latin typeface="Arial"/>
              </a:rPr>
              <a:t>imulated </a:t>
            </a:r>
            <a:r>
              <a:rPr sz="1600" b="1" dirty="0">
                <a:solidFill>
                  <a:srgbClr val="1F2A2E"/>
                </a:solidFill>
                <a:latin typeface="Arial"/>
              </a:rPr>
              <a:t>tectonics</a:t>
            </a:r>
            <a:r>
              <a:rPr sz="1600" b="0" dirty="0">
                <a:solidFill>
                  <a:srgbClr val="1F2A2E"/>
                </a:solidFill>
                <a:latin typeface="Arial"/>
              </a:rPr>
              <a:t> with </a:t>
            </a:r>
            <a:r>
              <a:rPr sz="1600" b="1" dirty="0">
                <a:solidFill>
                  <a:srgbClr val="1F2A2E"/>
                </a:solidFill>
                <a:latin typeface="Arial"/>
              </a:rPr>
              <a:t>flow routing</a:t>
            </a:r>
            <a:r>
              <a:rPr sz="1600" b="0" dirty="0">
                <a:solidFill>
                  <a:srgbClr val="1F2A2E"/>
                </a:solidFill>
                <a:latin typeface="Arial"/>
              </a:rPr>
              <a:t>, </a:t>
            </a:r>
            <a:r>
              <a:rPr sz="1600" b="1" dirty="0">
                <a:solidFill>
                  <a:srgbClr val="1F2A2E"/>
                </a:solidFill>
                <a:latin typeface="Arial"/>
              </a:rPr>
              <a:t>erosion and sediment transport</a:t>
            </a:r>
            <a:r>
              <a:rPr sz="1600" b="0" dirty="0">
                <a:solidFill>
                  <a:srgbClr val="1F2A2E"/>
                </a:solidFill>
                <a:latin typeface="Arial"/>
              </a:rPr>
              <a:t> and </a:t>
            </a:r>
            <a:r>
              <a:rPr sz="1600" b="1" dirty="0">
                <a:solidFill>
                  <a:srgbClr val="1F2A2E"/>
                </a:solidFill>
                <a:latin typeface="Arial"/>
              </a:rPr>
              <a:t>hillslope diffusion</a:t>
            </a:r>
            <a:r>
              <a:rPr sz="1600" b="0" dirty="0">
                <a:solidFill>
                  <a:srgbClr val="1F2A2E"/>
                </a:solidFill>
                <a:latin typeface="Arial"/>
              </a:rPr>
              <a:t>.</a:t>
            </a:r>
          </a:p>
        </p:txBody>
      </p:sp>
      <p:graphicFrame>
        <p:nvGraphicFramePr>
          <p:cNvPr id="7" name="Table 6"/>
          <p:cNvGraphicFramePr>
            <a:graphicFrameLocks noGrp="1"/>
          </p:cNvGraphicFramePr>
          <p:nvPr/>
        </p:nvGraphicFramePr>
        <p:xfrm>
          <a:off x="812779" y="2095447"/>
          <a:ext cx="10566135" cy="3835308"/>
        </p:xfrm>
        <a:graphic>
          <a:graphicData uri="http://schemas.openxmlformats.org/drawingml/2006/table">
            <a:tbl>
              <a:tblPr>
                <a:tableStyleId>{5C22544A-7EE6-4342-B048-85BDC9FD1C3A}</a:tableStyleId>
              </a:tblPr>
              <a:tblGrid>
                <a:gridCol w="2747195">
                  <a:extLst>
                    <a:ext uri="{9D8B030D-6E8A-4147-A177-3AD203B41FA5}">
                      <a16:colId xmlns:a16="http://schemas.microsoft.com/office/drawing/2014/main" val="20000"/>
                    </a:ext>
                  </a:extLst>
                </a:gridCol>
                <a:gridCol w="7818940">
                  <a:extLst>
                    <a:ext uri="{9D8B030D-6E8A-4147-A177-3AD203B41FA5}">
                      <a16:colId xmlns:a16="http://schemas.microsoft.com/office/drawing/2014/main" val="20001"/>
                    </a:ext>
                  </a:extLst>
                </a:gridCol>
              </a:tblGrid>
              <a:tr h="406389">
                <a:tc>
                  <a:txBody>
                    <a:bodyPr/>
                    <a:lstStyle/>
                    <a:p>
                      <a:r>
                        <a:rPr sz="1500" b="1">
                          <a:solidFill>
                            <a:srgbClr val="FFFFFF"/>
                          </a:solidFill>
                          <a:latin typeface="Arial"/>
                        </a:rPr>
                        <a:t>Part</a:t>
                      </a:r>
                    </a:p>
                  </a:txBody>
                  <a:tcPr marL="114297" marR="114297" marT="63498" marB="63498" anchor="ctr">
                    <a:solidFill>
                      <a:srgbClr val="1F7A78"/>
                    </a:solidFill>
                  </a:tcPr>
                </a:tc>
                <a:tc>
                  <a:txBody>
                    <a:bodyPr/>
                    <a:lstStyle/>
                    <a:p>
                      <a:r>
                        <a:rPr sz="1500" b="1">
                          <a:solidFill>
                            <a:srgbClr val="FFFFFF"/>
                          </a:solidFill>
                          <a:latin typeface="Arial"/>
                        </a:rPr>
                        <a:t>Setting</a:t>
                      </a:r>
                    </a:p>
                  </a:txBody>
                  <a:tcPr marL="114297" marR="114297" marT="63498" marB="63498" anchor="ctr">
                    <a:solidFill>
                      <a:srgbClr val="1F7A78"/>
                    </a:solidFill>
                  </a:tcPr>
                </a:tc>
                <a:extLst>
                  <a:ext uri="{0D108BD9-81ED-4DB2-BD59-A6C34878D82A}">
                    <a16:rowId xmlns:a16="http://schemas.microsoft.com/office/drawing/2014/main" val="10000"/>
                  </a:ext>
                </a:extLst>
              </a:tr>
              <a:tr h="406389">
                <a:tc>
                  <a:txBody>
                    <a:bodyPr/>
                    <a:lstStyle/>
                    <a:p>
                      <a:r>
                        <a:rPr sz="1500" b="1" dirty="0">
                          <a:solidFill>
                            <a:srgbClr val="1F2A2E"/>
                          </a:solidFill>
                          <a:latin typeface="Arial"/>
                        </a:rPr>
                        <a:t>Terrain and time</a:t>
                      </a:r>
                    </a:p>
                  </a:txBody>
                  <a:tcPr marL="114297" marR="114297" marT="63498" marB="63498" anchor="ctr">
                    <a:solidFill>
                      <a:srgbClr val="FFFDF8"/>
                    </a:solidFill>
                  </a:tcPr>
                </a:tc>
                <a:tc>
                  <a:txBody>
                    <a:bodyPr/>
                    <a:lstStyle/>
                    <a:p>
                      <a:r>
                        <a:rPr sz="1500" b="0">
                          <a:solidFill>
                            <a:srgbClr val="1F2A2E"/>
                          </a:solidFill>
                          <a:latin typeface="Arial"/>
                        </a:rPr>
                        <a:t>Kaikoura LiDAR DEM, 515 by 719 cells at 1 m. 1000 years in 10-year steps</a:t>
                      </a:r>
                    </a:p>
                  </a:txBody>
                  <a:tcPr marL="114297" marR="114297" marT="63498" marB="63498" anchor="ctr">
                    <a:solidFill>
                      <a:srgbClr val="FFFDF8"/>
                    </a:solidFill>
                  </a:tcPr>
                </a:tc>
                <a:extLst>
                  <a:ext uri="{0D108BD9-81ED-4DB2-BD59-A6C34878D82A}">
                    <a16:rowId xmlns:a16="http://schemas.microsoft.com/office/drawing/2014/main" val="10001"/>
                  </a:ext>
                </a:extLst>
              </a:tr>
              <a:tr h="406389">
                <a:tc>
                  <a:txBody>
                    <a:bodyPr/>
                    <a:lstStyle/>
                    <a:p>
                      <a:r>
                        <a:rPr sz="1500" b="1">
                          <a:solidFill>
                            <a:srgbClr val="1F2A2E"/>
                          </a:solidFill>
                          <a:latin typeface="Arial"/>
                        </a:rPr>
                        <a:t>Fault tectonics</a:t>
                      </a:r>
                    </a:p>
                  </a:txBody>
                  <a:tcPr marL="114297" marR="114297" marT="63498" marB="63498" anchor="ctr">
                    <a:solidFill>
                      <a:srgbClr val="EFE9DB"/>
                    </a:solidFill>
                  </a:tcPr>
                </a:tc>
                <a:tc>
                  <a:txBody>
                    <a:bodyPr/>
                    <a:lstStyle/>
                    <a:p>
                      <a:r>
                        <a:rPr sz="1500" b="0">
                          <a:solidFill>
                            <a:srgbClr val="1F2A2E"/>
                          </a:solidFill>
                          <a:latin typeface="Arial"/>
                        </a:rPr>
                        <a:t>8 km long, 30° dip, thrust, 5 mm per year of slip, top of the fault 100 m deep</a:t>
                      </a:r>
                    </a:p>
                  </a:txBody>
                  <a:tcPr marL="114297" marR="114297" marT="63498" marB="63498" anchor="ctr">
                    <a:solidFill>
                      <a:srgbClr val="EFE9DB"/>
                    </a:solidFill>
                  </a:tcPr>
                </a:tc>
                <a:extLst>
                  <a:ext uri="{0D108BD9-81ED-4DB2-BD59-A6C34878D82A}">
                    <a16:rowId xmlns:a16="http://schemas.microsoft.com/office/drawing/2014/main" val="10002"/>
                  </a:ext>
                </a:extLst>
              </a:tr>
              <a:tr h="406389">
                <a:tc>
                  <a:txBody>
                    <a:bodyPr/>
                    <a:lstStyle/>
                    <a:p>
                      <a:r>
                        <a:rPr sz="1500" b="1">
                          <a:solidFill>
                            <a:srgbClr val="1F2A2E"/>
                          </a:solidFill>
                          <a:latin typeface="Arial"/>
                        </a:rPr>
                        <a:t>Earthquakes</a:t>
                      </a:r>
                    </a:p>
                  </a:txBody>
                  <a:tcPr marL="114297" marR="114297" marT="63498" marB="63498" anchor="ctr">
                    <a:solidFill>
                      <a:srgbClr val="FFFDF8"/>
                    </a:solidFill>
                  </a:tcPr>
                </a:tc>
                <a:tc>
                  <a:txBody>
                    <a:bodyPr/>
                    <a:lstStyle/>
                    <a:p>
                      <a:r>
                        <a:rPr sz="1500" b="0">
                          <a:solidFill>
                            <a:srgbClr val="1F2A2E"/>
                          </a:solidFill>
                          <a:latin typeface="Arial"/>
                        </a:rPr>
                        <a:t>Realistic size mix, magnitude 5.0 and up, earthquake zone 1 to 5 km deep</a:t>
                      </a:r>
                    </a:p>
                  </a:txBody>
                  <a:tcPr marL="114297" marR="114297" marT="63498" marB="63498" anchor="ctr">
                    <a:solidFill>
                      <a:srgbClr val="FFFDF8"/>
                    </a:solidFill>
                  </a:tcPr>
                </a:tc>
                <a:extLst>
                  <a:ext uri="{0D108BD9-81ED-4DB2-BD59-A6C34878D82A}">
                    <a16:rowId xmlns:a16="http://schemas.microsoft.com/office/drawing/2014/main" val="10003"/>
                  </a:ext>
                </a:extLst>
              </a:tr>
              <a:tr h="406389">
                <a:tc>
                  <a:txBody>
                    <a:bodyPr/>
                    <a:lstStyle/>
                    <a:p>
                      <a:r>
                        <a:rPr sz="1500" b="1">
                          <a:solidFill>
                            <a:srgbClr val="1F2A2E"/>
                          </a:solidFill>
                          <a:latin typeface="Arial"/>
                        </a:rPr>
                        <a:t>Coseismic landslides</a:t>
                      </a:r>
                    </a:p>
                  </a:txBody>
                  <a:tcPr marL="114297" marR="114297" marT="63498" marB="63498" anchor="ctr">
                    <a:solidFill>
                      <a:srgbClr val="EFE9DB"/>
                    </a:solidFill>
                  </a:tcPr>
                </a:tc>
                <a:tc>
                  <a:txBody>
                    <a:bodyPr/>
                    <a:lstStyle/>
                    <a:p>
                      <a:r>
                        <a:rPr sz="1500" b="0">
                          <a:solidFill>
                            <a:srgbClr val="1F2A2E"/>
                          </a:solidFill>
                          <a:latin typeface="Arial"/>
                        </a:rPr>
                        <a:t>Cohesion 10 kPa, friction angle 45°, ground wetness 0.3, fail above 5 cm of slide</a:t>
                      </a:r>
                    </a:p>
                  </a:txBody>
                  <a:tcPr marL="114297" marR="114297" marT="63498" marB="63498" anchor="ctr">
                    <a:solidFill>
                      <a:srgbClr val="EFE9DB"/>
                    </a:solidFill>
                  </a:tcPr>
                </a:tc>
                <a:extLst>
                  <a:ext uri="{0D108BD9-81ED-4DB2-BD59-A6C34878D82A}">
                    <a16:rowId xmlns:a16="http://schemas.microsoft.com/office/drawing/2014/main" val="10004"/>
                  </a:ext>
                </a:extLst>
              </a:tr>
              <a:tr h="406389">
                <a:tc>
                  <a:txBody>
                    <a:bodyPr/>
                    <a:lstStyle/>
                    <a:p>
                      <a:r>
                        <a:rPr sz="1500" b="1">
                          <a:solidFill>
                            <a:srgbClr val="1F2A2E"/>
                          </a:solidFill>
                          <a:latin typeface="Arial"/>
                        </a:rPr>
                        <a:t>Flow routing</a:t>
                      </a:r>
                    </a:p>
                  </a:txBody>
                  <a:tcPr marL="114297" marR="114297" marT="63498" marB="63498" anchor="ctr">
                    <a:solidFill>
                      <a:srgbClr val="FFFDF8"/>
                    </a:solidFill>
                  </a:tcPr>
                </a:tc>
                <a:tc>
                  <a:txBody>
                    <a:bodyPr/>
                    <a:lstStyle/>
                    <a:p>
                      <a:r>
                        <a:rPr sz="1500" b="0">
                          <a:solidFill>
                            <a:srgbClr val="1F2A2E"/>
                          </a:solidFill>
                          <a:latin typeface="Arial"/>
                        </a:rPr>
                        <a:t>D8: water flows to the steepest of 8 neighbours</a:t>
                      </a:r>
                    </a:p>
                  </a:txBody>
                  <a:tcPr marL="114297" marR="114297" marT="63498" marB="63498" anchor="ctr">
                    <a:solidFill>
                      <a:srgbClr val="FFFDF8"/>
                    </a:solidFill>
                  </a:tcPr>
                </a:tc>
                <a:extLst>
                  <a:ext uri="{0D108BD9-81ED-4DB2-BD59-A6C34878D82A}">
                    <a16:rowId xmlns:a16="http://schemas.microsoft.com/office/drawing/2014/main" val="10005"/>
                  </a:ext>
                </a:extLst>
              </a:tr>
              <a:tr h="406389">
                <a:tc>
                  <a:txBody>
                    <a:bodyPr/>
                    <a:lstStyle/>
                    <a:p>
                      <a:r>
                        <a:rPr sz="1500" b="1">
                          <a:solidFill>
                            <a:srgbClr val="1F2A2E"/>
                          </a:solidFill>
                          <a:latin typeface="Arial"/>
                        </a:rPr>
                        <a:t>Erosion, sediment transport</a:t>
                      </a:r>
                    </a:p>
                  </a:txBody>
                  <a:tcPr marL="114297" marR="114297" marT="63498" marB="63498" anchor="ctr">
                    <a:solidFill>
                      <a:srgbClr val="EFE9DB"/>
                    </a:solidFill>
                  </a:tcPr>
                </a:tc>
                <a:tc>
                  <a:txBody>
                    <a:bodyPr/>
                    <a:lstStyle/>
                    <a:p>
                      <a:r>
                        <a:rPr sz="1500" b="0">
                          <a:solidFill>
                            <a:srgbClr val="1F2A2E"/>
                          </a:solidFill>
                          <a:latin typeface="Arial"/>
                        </a:rPr>
                        <a:t>SPACE large-scale eroder, sediment erodibility 1e-4, bedrock erodibility 1e-5</a:t>
                      </a:r>
                    </a:p>
                  </a:txBody>
                  <a:tcPr marL="114297" marR="114297" marT="63498" marB="63498" anchor="ctr">
                    <a:solidFill>
                      <a:srgbClr val="EFE9DB"/>
                    </a:solidFill>
                  </a:tcPr>
                </a:tc>
                <a:extLst>
                  <a:ext uri="{0D108BD9-81ED-4DB2-BD59-A6C34878D82A}">
                    <a16:rowId xmlns:a16="http://schemas.microsoft.com/office/drawing/2014/main" val="10006"/>
                  </a:ext>
                </a:extLst>
              </a:tr>
              <a:tr h="406389">
                <a:tc>
                  <a:txBody>
                    <a:bodyPr/>
                    <a:lstStyle/>
                    <a:p>
                      <a:r>
                        <a:rPr sz="1500" b="1">
                          <a:solidFill>
                            <a:srgbClr val="1F2A2E"/>
                          </a:solidFill>
                          <a:latin typeface="Arial"/>
                        </a:rPr>
                        <a:t>Hillslope diffusion</a:t>
                      </a:r>
                    </a:p>
                  </a:txBody>
                  <a:tcPr marL="114297" marR="114297" marT="63498" marB="63498" anchor="ctr">
                    <a:solidFill>
                      <a:srgbClr val="FFFDF8"/>
                    </a:solidFill>
                  </a:tcPr>
                </a:tc>
                <a:tc>
                  <a:txBody>
                    <a:bodyPr/>
                    <a:lstStyle/>
                    <a:p>
                      <a:r>
                        <a:rPr sz="1500" b="0">
                          <a:solidFill>
                            <a:srgbClr val="1F2A2E"/>
                          </a:solidFill>
                          <a:latin typeface="Arial"/>
                        </a:rPr>
                        <a:t>Soil creep, linear diffusivity 0.01, depth-dependent</a:t>
                      </a:r>
                    </a:p>
                  </a:txBody>
                  <a:tcPr marL="114297" marR="114297" marT="63498" marB="63498" anchor="ctr">
                    <a:solidFill>
                      <a:srgbClr val="FFFDF8"/>
                    </a:solidFill>
                  </a:tcPr>
                </a:tc>
                <a:extLst>
                  <a:ext uri="{0D108BD9-81ED-4DB2-BD59-A6C34878D82A}">
                    <a16:rowId xmlns:a16="http://schemas.microsoft.com/office/drawing/2014/main" val="10007"/>
                  </a:ext>
                </a:extLst>
              </a:tr>
              <a:tr h="406389">
                <a:tc>
                  <a:txBody>
                    <a:bodyPr/>
                    <a:lstStyle/>
                    <a:p>
                      <a:r>
                        <a:rPr sz="1500" b="1" dirty="0">
                          <a:solidFill>
                            <a:srgbClr val="1F2A2E"/>
                          </a:solidFill>
                          <a:latin typeface="Arial"/>
                        </a:rPr>
                        <a:t>Note</a:t>
                      </a:r>
                    </a:p>
                  </a:txBody>
                  <a:tcPr marL="114297" marR="114297" marT="63498" marB="63498" anchor="ctr">
                    <a:solidFill>
                      <a:srgbClr val="EFE9DB"/>
                    </a:solidFill>
                  </a:tcPr>
                </a:tc>
                <a:tc>
                  <a:txBody>
                    <a:bodyPr/>
                    <a:lstStyle/>
                    <a:p>
                      <a:r>
                        <a:rPr sz="1500" b="0" dirty="0">
                          <a:solidFill>
                            <a:srgbClr val="1F2A2E"/>
                          </a:solidFill>
                          <a:latin typeface="Arial"/>
                        </a:rPr>
                        <a:t>These are dummy values for testing only</a:t>
                      </a:r>
                    </a:p>
                  </a:txBody>
                  <a:tcPr marL="114297" marR="114297" marT="63498" marB="63498" anchor="ctr">
                    <a:solidFill>
                      <a:srgbClr val="EFE9DB"/>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3EC"/>
        </a:solidFill>
        <a:effectLst/>
      </p:bgPr>
    </p:bg>
    <p:spTree>
      <p:nvGrpSpPr>
        <p:cNvPr id="1" name=""/>
        <p:cNvGrpSpPr/>
        <p:nvPr/>
      </p:nvGrpSpPr>
      <p:grpSpPr>
        <a:xfrm>
          <a:off x="0" y="0"/>
          <a:ext cx="0" cy="0"/>
          <a:chOff x="0" y="0"/>
          <a:chExt cx="0" cy="0"/>
        </a:xfrm>
      </p:grpSpPr>
      <p:sp>
        <p:nvSpPr>
          <p:cNvPr id="2" name="TextBox 1"/>
          <p:cNvSpPr txBox="1"/>
          <p:nvPr/>
        </p:nvSpPr>
        <p:spPr>
          <a:xfrm>
            <a:off x="812779" y="584185"/>
            <a:ext cx="10566135" cy="253993"/>
          </a:xfrm>
          <a:prstGeom prst="rect">
            <a:avLst/>
          </a:prstGeom>
          <a:noFill/>
        </p:spPr>
        <p:txBody>
          <a:bodyPr wrap="square" lIns="0" tIns="0" rIns="0" bIns="0" anchor="t">
            <a:spAutoFit/>
          </a:bodyPr>
          <a:lstStyle/>
          <a:p>
            <a:pPr algn="l">
              <a:lnSpc>
                <a:spcPct val="110000"/>
              </a:lnSpc>
            </a:pPr>
            <a:r>
              <a:rPr sz="1300" b="1">
                <a:solidFill>
                  <a:srgbClr val="C2542D"/>
                </a:solidFill>
                <a:latin typeface="Arial"/>
              </a:rPr>
              <a:t>SAMPLE RUN · RESULTS</a:t>
            </a:r>
          </a:p>
        </p:txBody>
      </p:sp>
      <p:sp>
        <p:nvSpPr>
          <p:cNvPr id="3" name="TextBox 2"/>
          <p:cNvSpPr txBox="1"/>
          <p:nvPr/>
        </p:nvSpPr>
        <p:spPr>
          <a:xfrm>
            <a:off x="812779" y="863578"/>
            <a:ext cx="10566135" cy="571485"/>
          </a:xfrm>
          <a:prstGeom prst="rect">
            <a:avLst/>
          </a:prstGeom>
          <a:noFill/>
        </p:spPr>
        <p:txBody>
          <a:bodyPr wrap="square" lIns="0" tIns="0" rIns="0" bIns="0" anchor="t">
            <a:spAutoFit/>
          </a:bodyPr>
          <a:lstStyle/>
          <a:p>
            <a:pPr algn="l">
              <a:lnSpc>
                <a:spcPct val="110000"/>
              </a:lnSpc>
            </a:pPr>
            <a:r>
              <a:rPr sz="3000" b="1">
                <a:solidFill>
                  <a:srgbClr val="1F2A2E"/>
                </a:solidFill>
                <a:latin typeface="Georgia"/>
              </a:rPr>
              <a:t>Tectonics animation</a:t>
            </a:r>
          </a:p>
        </p:txBody>
      </p:sp>
      <p:sp>
        <p:nvSpPr>
          <p:cNvPr id="4" name="TextBox 3"/>
          <p:cNvSpPr txBox="1"/>
          <p:nvPr/>
        </p:nvSpPr>
        <p:spPr>
          <a:xfrm>
            <a:off x="812779" y="6349841"/>
            <a:ext cx="4444888" cy="215894"/>
          </a:xfrm>
          <a:prstGeom prst="rect">
            <a:avLst/>
          </a:prstGeom>
          <a:noFill/>
        </p:spPr>
        <p:txBody>
          <a:bodyPr wrap="square" lIns="0" tIns="0" rIns="0" bIns="0" anchor="t">
            <a:spAutoFit/>
          </a:bodyPr>
          <a:lstStyle/>
          <a:p>
            <a:pPr algn="l">
              <a:lnSpc>
                <a:spcPct val="110000"/>
              </a:lnSpc>
            </a:pPr>
            <a:r>
              <a:rPr sz="1200" b="0">
                <a:solidFill>
                  <a:srgbClr val="5B6B73"/>
                </a:solidFill>
                <a:latin typeface="Arial"/>
              </a:rPr>
              <a:t>Introduction to EFEL and integration into LandEvolve</a:t>
            </a:r>
          </a:p>
        </p:txBody>
      </p:sp>
      <p:sp>
        <p:nvSpPr>
          <p:cNvPr id="5" name="TextBox 4"/>
          <p:cNvSpPr txBox="1"/>
          <p:nvPr/>
        </p:nvSpPr>
        <p:spPr>
          <a:xfrm>
            <a:off x="10108947" y="6349841"/>
            <a:ext cx="1269968" cy="215894"/>
          </a:xfrm>
          <a:prstGeom prst="rect">
            <a:avLst/>
          </a:prstGeom>
          <a:noFill/>
        </p:spPr>
        <p:txBody>
          <a:bodyPr wrap="square" lIns="0" tIns="0" rIns="0" bIns="0" anchor="t">
            <a:spAutoFit/>
          </a:bodyPr>
          <a:lstStyle/>
          <a:p>
            <a:pPr algn="r">
              <a:lnSpc>
                <a:spcPct val="110000"/>
              </a:lnSpc>
            </a:pPr>
            <a:r>
              <a:rPr sz="1200" b="0">
                <a:solidFill>
                  <a:srgbClr val="5B6B73"/>
                </a:solidFill>
                <a:latin typeface="Arial"/>
              </a:rPr>
              <a:t>12</a:t>
            </a:r>
          </a:p>
        </p:txBody>
      </p:sp>
      <p:sp>
        <p:nvSpPr>
          <p:cNvPr id="6" name="Rounded Rectangle 5"/>
          <p:cNvSpPr/>
          <p:nvPr/>
        </p:nvSpPr>
        <p:spPr>
          <a:xfrm>
            <a:off x="812779" y="1777955"/>
            <a:ext cx="7175320" cy="4063898"/>
          </a:xfrm>
          <a:prstGeom prst="roundRect">
            <a:avLst>
              <a:gd name="adj" fmla="val 2000"/>
            </a:avLst>
          </a:prstGeom>
          <a:solidFill>
            <a:srgbClr val="FFFFFF"/>
          </a:solidFill>
          <a:ln w="22225">
            <a:solidFill>
              <a:srgbClr val="9AA7A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12779" y="3555911"/>
            <a:ext cx="7175320" cy="507987"/>
          </a:xfrm>
          <a:prstGeom prst="rect">
            <a:avLst/>
          </a:prstGeom>
          <a:noFill/>
        </p:spPr>
        <p:txBody>
          <a:bodyPr wrap="square" lIns="0" tIns="0" rIns="0" bIns="0" anchor="ctr">
            <a:spAutoFit/>
          </a:bodyPr>
          <a:lstStyle/>
          <a:p>
            <a:pPr algn="ctr">
              <a:lnSpc>
                <a:spcPct val="110000"/>
              </a:lnSpc>
              <a:spcAft>
                <a:spcPts val="600"/>
              </a:spcAft>
            </a:pPr>
            <a:r>
              <a:rPr sz="2000" b="0">
                <a:solidFill>
                  <a:srgbClr val="5B6B73"/>
                </a:solidFill>
                <a:latin typeface="Arial"/>
              </a:rPr>
              <a:t>Tectonics animation</a:t>
            </a:r>
          </a:p>
          <a:p>
            <a:pPr algn="ctr">
              <a:lnSpc>
                <a:spcPct val="110000"/>
              </a:lnSpc>
            </a:pPr>
            <a:r>
              <a:rPr sz="2000" b="1">
                <a:solidFill>
                  <a:srgbClr val="5B6B73"/>
                </a:solidFill>
                <a:latin typeface="Arial"/>
              </a:rPr>
              <a:t>(animation to be added)</a:t>
            </a:r>
          </a:p>
        </p:txBody>
      </p:sp>
      <p:sp>
        <p:nvSpPr>
          <p:cNvPr id="8" name="Rounded Rectangle 7"/>
          <p:cNvSpPr/>
          <p:nvPr/>
        </p:nvSpPr>
        <p:spPr>
          <a:xfrm>
            <a:off x="8318292" y="1777955"/>
            <a:ext cx="3060623" cy="4063898"/>
          </a:xfrm>
          <a:prstGeom prst="roundRect">
            <a:avLst>
              <a:gd name="adj" fmla="val 5000"/>
            </a:avLst>
          </a:prstGeom>
          <a:solidFill>
            <a:srgbClr val="FFFDF8"/>
          </a:solidFill>
          <a:ln w="12700">
            <a:solidFill>
              <a:srgbClr val="E4DD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546886" y="1968450"/>
            <a:ext cx="2603434" cy="253993"/>
          </a:xfrm>
          <a:prstGeom prst="rect">
            <a:avLst/>
          </a:prstGeom>
          <a:noFill/>
        </p:spPr>
        <p:txBody>
          <a:bodyPr wrap="square" lIns="0" tIns="0" rIns="0" bIns="0" anchor="t">
            <a:spAutoFit/>
          </a:bodyPr>
          <a:lstStyle/>
          <a:p>
            <a:pPr algn="l">
              <a:lnSpc>
                <a:spcPct val="110000"/>
              </a:lnSpc>
            </a:pPr>
            <a:r>
              <a:rPr sz="1200" b="1">
                <a:solidFill>
                  <a:srgbClr val="C2542D"/>
                </a:solidFill>
                <a:latin typeface="Arial"/>
              </a:rPr>
              <a:t>TECTONICS_TIMELINE.HTML</a:t>
            </a:r>
          </a:p>
        </p:txBody>
      </p:sp>
      <p:sp>
        <p:nvSpPr>
          <p:cNvPr id="10" name="TextBox 9"/>
          <p:cNvSpPr txBox="1"/>
          <p:nvPr/>
        </p:nvSpPr>
        <p:spPr>
          <a:xfrm>
            <a:off x="8546886" y="2285942"/>
            <a:ext cx="2603434" cy="3428914"/>
          </a:xfrm>
          <a:prstGeom prst="rect">
            <a:avLst/>
          </a:prstGeom>
          <a:noFill/>
        </p:spPr>
        <p:txBody>
          <a:bodyPr wrap="square" lIns="0" tIns="0" rIns="0" bIns="0" anchor="t">
            <a:spAutoFit/>
          </a:bodyPr>
          <a:lstStyle/>
          <a:p>
            <a:pPr algn="l">
              <a:lnSpc>
                <a:spcPct val="115000"/>
              </a:lnSpc>
              <a:spcAft>
                <a:spcPts val="1000"/>
              </a:spcAft>
            </a:pPr>
            <a:r>
              <a:rPr sz="1400" b="0">
                <a:solidFill>
                  <a:srgbClr val="1F2A2E"/>
                </a:solidFill>
                <a:latin typeface="Arial"/>
              </a:rPr>
              <a:t>Steps through the 1000 years.</a:t>
            </a:r>
          </a:p>
          <a:p>
            <a:pPr algn="l">
              <a:lnSpc>
                <a:spcPct val="115000"/>
              </a:lnSpc>
              <a:spcAft>
                <a:spcPts val="1000"/>
              </a:spcAft>
            </a:pPr>
            <a:r>
              <a:rPr sz="1400" b="1">
                <a:solidFill>
                  <a:srgbClr val="1F2A2E"/>
                </a:solidFill>
                <a:latin typeface="Arial"/>
              </a:rPr>
              <a:t>Blue/red colour</a:t>
            </a:r>
            <a:r>
              <a:rPr sz="1400" b="0">
                <a:solidFill>
                  <a:srgbClr val="1F2A2E"/>
                </a:solidFill>
                <a:latin typeface="Arial"/>
              </a:rPr>
              <a:t>: land raised or lowered by the fault.</a:t>
            </a:r>
          </a:p>
          <a:p>
            <a:pPr algn="l">
              <a:lnSpc>
                <a:spcPct val="115000"/>
              </a:lnSpc>
              <a:spcAft>
                <a:spcPts val="1000"/>
              </a:spcAft>
            </a:pPr>
            <a:r>
              <a:rPr sz="1400" b="1">
                <a:solidFill>
                  <a:srgbClr val="1F2A2E"/>
                </a:solidFill>
                <a:latin typeface="Arial"/>
              </a:rPr>
              <a:t>Arrows</a:t>
            </a:r>
            <a:r>
              <a:rPr sz="1400" b="0">
                <a:solidFill>
                  <a:srgbClr val="1F2A2E"/>
                </a:solidFill>
                <a:latin typeface="Arial"/>
              </a:rPr>
              <a:t>: the land also moves sideways.</a:t>
            </a:r>
          </a:p>
          <a:p>
            <a:pPr algn="l">
              <a:lnSpc>
                <a:spcPct val="115000"/>
              </a:lnSpc>
              <a:spcAft>
                <a:spcPts val="1000"/>
              </a:spcAft>
            </a:pPr>
            <a:r>
              <a:rPr sz="1400" b="1">
                <a:solidFill>
                  <a:srgbClr val="1F2A2E"/>
                </a:solidFill>
                <a:latin typeface="Arial"/>
              </a:rPr>
              <a:t>Stars, circles</a:t>
            </a:r>
            <a:r>
              <a:rPr sz="1400" b="0">
                <a:solidFill>
                  <a:srgbClr val="1F2A2E"/>
                </a:solidFill>
                <a:latin typeface="Arial"/>
              </a:rPr>
              <a:t>: earthquakes.</a:t>
            </a:r>
          </a:p>
          <a:p>
            <a:pPr algn="l">
              <a:lnSpc>
                <a:spcPct val="115000"/>
              </a:lnSpc>
              <a:spcAft>
                <a:spcPts val="1000"/>
              </a:spcAft>
            </a:pPr>
            <a:r>
              <a:rPr sz="1400" b="1">
                <a:solidFill>
                  <a:srgbClr val="1F2A2E"/>
                </a:solidFill>
                <a:latin typeface="Arial"/>
              </a:rPr>
              <a:t>Brown patches</a:t>
            </a:r>
            <a:r>
              <a:rPr sz="1400" b="0">
                <a:solidFill>
                  <a:srgbClr val="1F2A2E"/>
                </a:solidFill>
                <a:latin typeface="Arial"/>
              </a:rPr>
              <a:t>: landslide scars.</a:t>
            </a:r>
          </a:p>
          <a:p>
            <a:pPr algn="l">
              <a:lnSpc>
                <a:spcPct val="115000"/>
              </a:lnSpc>
            </a:pPr>
            <a:r>
              <a:rPr sz="1400" b="1">
                <a:solidFill>
                  <a:srgbClr val="1F2A2E"/>
                </a:solidFill>
                <a:latin typeface="Arial"/>
              </a:rPr>
              <a:t>Strip below</a:t>
            </a:r>
            <a:r>
              <a:rPr sz="1400" b="0">
                <a:solidFill>
                  <a:srgbClr val="1F2A2E"/>
                </a:solidFill>
                <a:latin typeface="Arial"/>
              </a:rPr>
              <a:t>: every earthquake by time and size.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6F3EC"/>
        </a:solidFill>
        <a:effectLst/>
      </p:bgPr>
    </p:bg>
    <p:spTree>
      <p:nvGrpSpPr>
        <p:cNvPr id="1" name=""/>
        <p:cNvGrpSpPr/>
        <p:nvPr/>
      </p:nvGrpSpPr>
      <p:grpSpPr>
        <a:xfrm>
          <a:off x="0" y="0"/>
          <a:ext cx="0" cy="0"/>
          <a:chOff x="0" y="0"/>
          <a:chExt cx="0" cy="0"/>
        </a:xfrm>
      </p:grpSpPr>
      <p:sp>
        <p:nvSpPr>
          <p:cNvPr id="2" name="TextBox 1"/>
          <p:cNvSpPr txBox="1"/>
          <p:nvPr/>
        </p:nvSpPr>
        <p:spPr>
          <a:xfrm>
            <a:off x="812779" y="584185"/>
            <a:ext cx="10566135" cy="253993"/>
          </a:xfrm>
          <a:prstGeom prst="rect">
            <a:avLst/>
          </a:prstGeom>
          <a:noFill/>
        </p:spPr>
        <p:txBody>
          <a:bodyPr wrap="square" lIns="0" tIns="0" rIns="0" bIns="0" anchor="t">
            <a:spAutoFit/>
          </a:bodyPr>
          <a:lstStyle/>
          <a:p>
            <a:pPr algn="l">
              <a:lnSpc>
                <a:spcPct val="110000"/>
              </a:lnSpc>
            </a:pPr>
            <a:r>
              <a:rPr sz="1300" b="1">
                <a:solidFill>
                  <a:srgbClr val="C2542D"/>
                </a:solidFill>
                <a:latin typeface="Arial"/>
              </a:rPr>
              <a:t>SAMPLE RUN · RESULTS</a:t>
            </a:r>
          </a:p>
        </p:txBody>
      </p:sp>
      <p:sp>
        <p:nvSpPr>
          <p:cNvPr id="3" name="TextBox 2"/>
          <p:cNvSpPr txBox="1"/>
          <p:nvPr/>
        </p:nvSpPr>
        <p:spPr>
          <a:xfrm>
            <a:off x="812779" y="863578"/>
            <a:ext cx="10566135" cy="571485"/>
          </a:xfrm>
          <a:prstGeom prst="rect">
            <a:avLst/>
          </a:prstGeom>
          <a:noFill/>
        </p:spPr>
        <p:txBody>
          <a:bodyPr wrap="square" lIns="0" tIns="0" rIns="0" bIns="0" anchor="t">
            <a:spAutoFit/>
          </a:bodyPr>
          <a:lstStyle/>
          <a:p>
            <a:pPr algn="l">
              <a:lnSpc>
                <a:spcPct val="110000"/>
              </a:lnSpc>
            </a:pPr>
            <a:r>
              <a:rPr sz="3000" b="1">
                <a:solidFill>
                  <a:srgbClr val="1F2A2E"/>
                </a:solidFill>
                <a:latin typeface="Georgia"/>
              </a:rPr>
              <a:t>Fault Section animation</a:t>
            </a:r>
          </a:p>
        </p:txBody>
      </p:sp>
      <p:sp>
        <p:nvSpPr>
          <p:cNvPr id="4" name="TextBox 3"/>
          <p:cNvSpPr txBox="1"/>
          <p:nvPr/>
        </p:nvSpPr>
        <p:spPr>
          <a:xfrm>
            <a:off x="812779" y="6349841"/>
            <a:ext cx="4444888" cy="215894"/>
          </a:xfrm>
          <a:prstGeom prst="rect">
            <a:avLst/>
          </a:prstGeom>
          <a:noFill/>
        </p:spPr>
        <p:txBody>
          <a:bodyPr wrap="square" lIns="0" tIns="0" rIns="0" bIns="0" anchor="t">
            <a:spAutoFit/>
          </a:bodyPr>
          <a:lstStyle/>
          <a:p>
            <a:pPr algn="l">
              <a:lnSpc>
                <a:spcPct val="110000"/>
              </a:lnSpc>
            </a:pPr>
            <a:r>
              <a:rPr sz="1200" b="0">
                <a:solidFill>
                  <a:srgbClr val="5B6B73"/>
                </a:solidFill>
                <a:latin typeface="Arial"/>
              </a:rPr>
              <a:t>Introduction to EFEL and integration into LandEvolve</a:t>
            </a:r>
          </a:p>
        </p:txBody>
      </p:sp>
      <p:sp>
        <p:nvSpPr>
          <p:cNvPr id="5" name="TextBox 4"/>
          <p:cNvSpPr txBox="1"/>
          <p:nvPr/>
        </p:nvSpPr>
        <p:spPr>
          <a:xfrm>
            <a:off x="10108947" y="6349841"/>
            <a:ext cx="1269968" cy="215894"/>
          </a:xfrm>
          <a:prstGeom prst="rect">
            <a:avLst/>
          </a:prstGeom>
          <a:noFill/>
        </p:spPr>
        <p:txBody>
          <a:bodyPr wrap="square" lIns="0" tIns="0" rIns="0" bIns="0" anchor="t">
            <a:spAutoFit/>
          </a:bodyPr>
          <a:lstStyle/>
          <a:p>
            <a:pPr algn="r">
              <a:lnSpc>
                <a:spcPct val="110000"/>
              </a:lnSpc>
            </a:pPr>
            <a:r>
              <a:rPr sz="1200" b="0">
                <a:solidFill>
                  <a:srgbClr val="5B6B73"/>
                </a:solidFill>
                <a:latin typeface="Arial"/>
              </a:rPr>
              <a:t>13</a:t>
            </a:r>
          </a:p>
        </p:txBody>
      </p:sp>
      <p:sp>
        <p:nvSpPr>
          <p:cNvPr id="6" name="Rounded Rectangle 5"/>
          <p:cNvSpPr/>
          <p:nvPr/>
        </p:nvSpPr>
        <p:spPr>
          <a:xfrm>
            <a:off x="812779" y="1777955"/>
            <a:ext cx="7175320" cy="4063898"/>
          </a:xfrm>
          <a:prstGeom prst="roundRect">
            <a:avLst>
              <a:gd name="adj" fmla="val 2000"/>
            </a:avLst>
          </a:prstGeom>
          <a:solidFill>
            <a:srgbClr val="FFFFFF"/>
          </a:solidFill>
          <a:ln w="22225">
            <a:solidFill>
              <a:srgbClr val="9AA7A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12779" y="3555911"/>
            <a:ext cx="7175320" cy="507987"/>
          </a:xfrm>
          <a:prstGeom prst="rect">
            <a:avLst/>
          </a:prstGeom>
          <a:noFill/>
        </p:spPr>
        <p:txBody>
          <a:bodyPr wrap="square" lIns="0" tIns="0" rIns="0" bIns="0" anchor="ctr">
            <a:spAutoFit/>
          </a:bodyPr>
          <a:lstStyle/>
          <a:p>
            <a:pPr algn="ctr">
              <a:lnSpc>
                <a:spcPct val="110000"/>
              </a:lnSpc>
              <a:spcAft>
                <a:spcPts val="600"/>
              </a:spcAft>
            </a:pPr>
            <a:r>
              <a:rPr sz="2000" b="0">
                <a:solidFill>
                  <a:srgbClr val="5B6B73"/>
                </a:solidFill>
                <a:latin typeface="Arial"/>
              </a:rPr>
              <a:t>Fault Section animation</a:t>
            </a:r>
          </a:p>
          <a:p>
            <a:pPr algn="ctr">
              <a:lnSpc>
                <a:spcPct val="110000"/>
              </a:lnSpc>
            </a:pPr>
            <a:r>
              <a:rPr sz="2000" b="1">
                <a:solidFill>
                  <a:srgbClr val="5B6B73"/>
                </a:solidFill>
                <a:latin typeface="Arial"/>
              </a:rPr>
              <a:t>(animation to be added)</a:t>
            </a:r>
          </a:p>
        </p:txBody>
      </p:sp>
      <p:sp>
        <p:nvSpPr>
          <p:cNvPr id="8" name="Rounded Rectangle 7"/>
          <p:cNvSpPr/>
          <p:nvPr/>
        </p:nvSpPr>
        <p:spPr>
          <a:xfrm>
            <a:off x="8318292" y="1777955"/>
            <a:ext cx="3060623" cy="4063898"/>
          </a:xfrm>
          <a:prstGeom prst="roundRect">
            <a:avLst>
              <a:gd name="adj" fmla="val 5000"/>
            </a:avLst>
          </a:prstGeom>
          <a:solidFill>
            <a:srgbClr val="FFFDF8"/>
          </a:solidFill>
          <a:ln w="12700">
            <a:solidFill>
              <a:srgbClr val="E4DD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546886" y="1968450"/>
            <a:ext cx="2603434" cy="253993"/>
          </a:xfrm>
          <a:prstGeom prst="rect">
            <a:avLst/>
          </a:prstGeom>
          <a:noFill/>
        </p:spPr>
        <p:txBody>
          <a:bodyPr wrap="square" lIns="0" tIns="0" rIns="0" bIns="0" anchor="t">
            <a:spAutoFit/>
          </a:bodyPr>
          <a:lstStyle/>
          <a:p>
            <a:pPr algn="l">
              <a:lnSpc>
                <a:spcPct val="110000"/>
              </a:lnSpc>
            </a:pPr>
            <a:r>
              <a:rPr sz="1200" b="1">
                <a:solidFill>
                  <a:srgbClr val="C2542D"/>
                </a:solidFill>
                <a:latin typeface="Arial"/>
              </a:rPr>
              <a:t>FAULT_SECTION.HTML</a:t>
            </a:r>
          </a:p>
        </p:txBody>
      </p:sp>
      <p:sp>
        <p:nvSpPr>
          <p:cNvPr id="10" name="TextBox 9"/>
          <p:cNvSpPr txBox="1"/>
          <p:nvPr/>
        </p:nvSpPr>
        <p:spPr>
          <a:xfrm>
            <a:off x="8546886" y="2285942"/>
            <a:ext cx="2603434" cy="3428914"/>
          </a:xfrm>
          <a:prstGeom prst="rect">
            <a:avLst/>
          </a:prstGeom>
          <a:noFill/>
        </p:spPr>
        <p:txBody>
          <a:bodyPr wrap="square" lIns="0" tIns="0" rIns="0" bIns="0" anchor="t">
            <a:spAutoFit/>
          </a:bodyPr>
          <a:lstStyle/>
          <a:p>
            <a:pPr algn="l">
              <a:lnSpc>
                <a:spcPct val="115000"/>
              </a:lnSpc>
              <a:spcAft>
                <a:spcPts val="1000"/>
              </a:spcAft>
            </a:pPr>
            <a:r>
              <a:rPr sz="1400" b="0">
                <a:solidFill>
                  <a:srgbClr val="1F2A2E"/>
                </a:solidFill>
                <a:latin typeface="Arial"/>
              </a:rPr>
              <a:t>A slice across the fault, through time.</a:t>
            </a:r>
          </a:p>
          <a:p>
            <a:pPr algn="l">
              <a:lnSpc>
                <a:spcPct val="115000"/>
              </a:lnSpc>
              <a:spcAft>
                <a:spcPts val="1000"/>
              </a:spcAft>
            </a:pPr>
            <a:r>
              <a:rPr sz="1400" b="1">
                <a:solidFill>
                  <a:srgbClr val="1F2A2E"/>
                </a:solidFill>
                <a:latin typeface="Arial"/>
              </a:rPr>
              <a:t>Blue line</a:t>
            </a:r>
            <a:r>
              <a:rPr sz="1400" b="0">
                <a:solidFill>
                  <a:srgbClr val="1F2A2E"/>
                </a:solidFill>
                <a:latin typeface="Arial"/>
              </a:rPr>
              <a:t>: the fault's vertical push.</a:t>
            </a:r>
          </a:p>
          <a:p>
            <a:pPr algn="l">
              <a:lnSpc>
                <a:spcPct val="115000"/>
              </a:lnSpc>
              <a:spcAft>
                <a:spcPts val="1000"/>
              </a:spcAft>
            </a:pPr>
            <a:r>
              <a:rPr sz="1400" b="1">
                <a:solidFill>
                  <a:srgbClr val="1F2A2E"/>
                </a:solidFill>
                <a:latin typeface="Arial"/>
              </a:rPr>
              <a:t>Brown line</a:t>
            </a:r>
            <a:r>
              <a:rPr sz="1400" b="0">
                <a:solidFill>
                  <a:srgbClr val="1F2A2E"/>
                </a:solidFill>
                <a:latin typeface="Arial"/>
              </a:rPr>
              <a:t>: the actual surface change, including erosion and landslides.</a:t>
            </a:r>
          </a:p>
          <a:p>
            <a:pPr algn="l">
              <a:lnSpc>
                <a:spcPct val="115000"/>
              </a:lnSpc>
            </a:pPr>
            <a:r>
              <a:rPr sz="1400" b="1">
                <a:solidFill>
                  <a:srgbClr val="1F2A2E"/>
                </a:solidFill>
                <a:latin typeface="Arial"/>
              </a:rPr>
              <a:t>Lower panel</a:t>
            </a:r>
            <a:r>
              <a:rPr sz="1400" b="0">
                <a:solidFill>
                  <a:srgbClr val="1F2A2E"/>
                </a:solidFill>
                <a:latin typeface="Arial"/>
              </a:rPr>
              <a:t>: the fault plane underground, footwall left, hanging wall right.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6F3EC"/>
        </a:solidFill>
        <a:effectLst/>
      </p:bgPr>
    </p:bg>
    <p:spTree>
      <p:nvGrpSpPr>
        <p:cNvPr id="1" name=""/>
        <p:cNvGrpSpPr/>
        <p:nvPr/>
      </p:nvGrpSpPr>
      <p:grpSpPr>
        <a:xfrm>
          <a:off x="0" y="0"/>
          <a:ext cx="0" cy="0"/>
          <a:chOff x="0" y="0"/>
          <a:chExt cx="0" cy="0"/>
        </a:xfrm>
      </p:grpSpPr>
      <p:sp>
        <p:nvSpPr>
          <p:cNvPr id="2" name="TextBox 1"/>
          <p:cNvSpPr txBox="1"/>
          <p:nvPr/>
        </p:nvSpPr>
        <p:spPr>
          <a:xfrm>
            <a:off x="812779" y="584185"/>
            <a:ext cx="10566135" cy="253993"/>
          </a:xfrm>
          <a:prstGeom prst="rect">
            <a:avLst/>
          </a:prstGeom>
          <a:noFill/>
        </p:spPr>
        <p:txBody>
          <a:bodyPr wrap="square" lIns="0" tIns="0" rIns="0" bIns="0" anchor="t">
            <a:spAutoFit/>
          </a:bodyPr>
          <a:lstStyle/>
          <a:p>
            <a:pPr algn="l">
              <a:lnSpc>
                <a:spcPct val="110000"/>
              </a:lnSpc>
            </a:pPr>
            <a:r>
              <a:rPr sz="1300" b="1">
                <a:solidFill>
                  <a:srgbClr val="C2542D"/>
                </a:solidFill>
                <a:latin typeface="Arial"/>
              </a:rPr>
              <a:t>SAMPLE RUN · RESULTS</a:t>
            </a:r>
          </a:p>
        </p:txBody>
      </p:sp>
      <p:sp>
        <p:nvSpPr>
          <p:cNvPr id="3" name="TextBox 2"/>
          <p:cNvSpPr txBox="1"/>
          <p:nvPr/>
        </p:nvSpPr>
        <p:spPr>
          <a:xfrm>
            <a:off x="812779" y="863578"/>
            <a:ext cx="10566135" cy="571485"/>
          </a:xfrm>
          <a:prstGeom prst="rect">
            <a:avLst/>
          </a:prstGeom>
          <a:noFill/>
        </p:spPr>
        <p:txBody>
          <a:bodyPr wrap="square" lIns="0" tIns="0" rIns="0" bIns="0" anchor="t">
            <a:spAutoFit/>
          </a:bodyPr>
          <a:lstStyle/>
          <a:p>
            <a:pPr algn="l">
              <a:lnSpc>
                <a:spcPct val="110000"/>
              </a:lnSpc>
            </a:pPr>
            <a:r>
              <a:rPr sz="3000" b="1">
                <a:solidFill>
                  <a:srgbClr val="1F2A2E"/>
                </a:solidFill>
                <a:latin typeface="Georgia"/>
              </a:rPr>
              <a:t>Terrain Evolution animation</a:t>
            </a:r>
          </a:p>
        </p:txBody>
      </p:sp>
      <p:sp>
        <p:nvSpPr>
          <p:cNvPr id="4" name="TextBox 3"/>
          <p:cNvSpPr txBox="1"/>
          <p:nvPr/>
        </p:nvSpPr>
        <p:spPr>
          <a:xfrm>
            <a:off x="812779" y="6349841"/>
            <a:ext cx="4444888" cy="215894"/>
          </a:xfrm>
          <a:prstGeom prst="rect">
            <a:avLst/>
          </a:prstGeom>
          <a:noFill/>
        </p:spPr>
        <p:txBody>
          <a:bodyPr wrap="square" lIns="0" tIns="0" rIns="0" bIns="0" anchor="t">
            <a:spAutoFit/>
          </a:bodyPr>
          <a:lstStyle/>
          <a:p>
            <a:pPr algn="l">
              <a:lnSpc>
                <a:spcPct val="110000"/>
              </a:lnSpc>
            </a:pPr>
            <a:r>
              <a:rPr sz="1200" b="0">
                <a:solidFill>
                  <a:srgbClr val="5B6B73"/>
                </a:solidFill>
                <a:latin typeface="Arial"/>
              </a:rPr>
              <a:t>Introduction to EFEL and integration into LandEvolve</a:t>
            </a:r>
          </a:p>
        </p:txBody>
      </p:sp>
      <p:sp>
        <p:nvSpPr>
          <p:cNvPr id="5" name="TextBox 4"/>
          <p:cNvSpPr txBox="1"/>
          <p:nvPr/>
        </p:nvSpPr>
        <p:spPr>
          <a:xfrm>
            <a:off x="10108947" y="6349841"/>
            <a:ext cx="1269968" cy="215894"/>
          </a:xfrm>
          <a:prstGeom prst="rect">
            <a:avLst/>
          </a:prstGeom>
          <a:noFill/>
        </p:spPr>
        <p:txBody>
          <a:bodyPr wrap="square" lIns="0" tIns="0" rIns="0" bIns="0" anchor="t">
            <a:spAutoFit/>
          </a:bodyPr>
          <a:lstStyle/>
          <a:p>
            <a:pPr algn="r">
              <a:lnSpc>
                <a:spcPct val="110000"/>
              </a:lnSpc>
            </a:pPr>
            <a:r>
              <a:rPr sz="1200" b="0">
                <a:solidFill>
                  <a:srgbClr val="5B6B73"/>
                </a:solidFill>
                <a:latin typeface="Arial"/>
              </a:rPr>
              <a:t>14</a:t>
            </a:r>
          </a:p>
        </p:txBody>
      </p:sp>
      <p:sp>
        <p:nvSpPr>
          <p:cNvPr id="6" name="Rounded Rectangle 5"/>
          <p:cNvSpPr/>
          <p:nvPr/>
        </p:nvSpPr>
        <p:spPr>
          <a:xfrm>
            <a:off x="812779" y="1777955"/>
            <a:ext cx="7175320" cy="4063898"/>
          </a:xfrm>
          <a:prstGeom prst="roundRect">
            <a:avLst>
              <a:gd name="adj" fmla="val 2000"/>
            </a:avLst>
          </a:prstGeom>
          <a:solidFill>
            <a:srgbClr val="FFFFFF"/>
          </a:solidFill>
          <a:ln w="22225">
            <a:solidFill>
              <a:srgbClr val="9AA7A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12779" y="3555911"/>
            <a:ext cx="7175320" cy="507987"/>
          </a:xfrm>
          <a:prstGeom prst="rect">
            <a:avLst/>
          </a:prstGeom>
          <a:noFill/>
        </p:spPr>
        <p:txBody>
          <a:bodyPr wrap="square" lIns="0" tIns="0" rIns="0" bIns="0" anchor="ctr">
            <a:spAutoFit/>
          </a:bodyPr>
          <a:lstStyle/>
          <a:p>
            <a:pPr algn="ctr">
              <a:lnSpc>
                <a:spcPct val="110000"/>
              </a:lnSpc>
              <a:spcAft>
                <a:spcPts val="600"/>
              </a:spcAft>
            </a:pPr>
            <a:r>
              <a:rPr sz="2000" b="0">
                <a:solidFill>
                  <a:srgbClr val="5B6B73"/>
                </a:solidFill>
                <a:latin typeface="Arial"/>
              </a:rPr>
              <a:t>Terrain Evolution animation</a:t>
            </a:r>
          </a:p>
          <a:p>
            <a:pPr algn="ctr">
              <a:lnSpc>
                <a:spcPct val="110000"/>
              </a:lnSpc>
            </a:pPr>
            <a:r>
              <a:rPr sz="2000" b="1">
                <a:solidFill>
                  <a:srgbClr val="5B6B73"/>
                </a:solidFill>
                <a:latin typeface="Arial"/>
              </a:rPr>
              <a:t>(animation to be added)</a:t>
            </a:r>
          </a:p>
        </p:txBody>
      </p:sp>
      <p:sp>
        <p:nvSpPr>
          <p:cNvPr id="8" name="Rounded Rectangle 7"/>
          <p:cNvSpPr/>
          <p:nvPr/>
        </p:nvSpPr>
        <p:spPr>
          <a:xfrm>
            <a:off x="8318292" y="1777955"/>
            <a:ext cx="3060623" cy="4063898"/>
          </a:xfrm>
          <a:prstGeom prst="roundRect">
            <a:avLst>
              <a:gd name="adj" fmla="val 5000"/>
            </a:avLst>
          </a:prstGeom>
          <a:solidFill>
            <a:srgbClr val="FFFDF8"/>
          </a:solidFill>
          <a:ln w="12700">
            <a:solidFill>
              <a:srgbClr val="E4DD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546886" y="1968450"/>
            <a:ext cx="2603434" cy="253993"/>
          </a:xfrm>
          <a:prstGeom prst="rect">
            <a:avLst/>
          </a:prstGeom>
          <a:noFill/>
        </p:spPr>
        <p:txBody>
          <a:bodyPr wrap="square" lIns="0" tIns="0" rIns="0" bIns="0" anchor="t">
            <a:spAutoFit/>
          </a:bodyPr>
          <a:lstStyle/>
          <a:p>
            <a:pPr algn="l">
              <a:lnSpc>
                <a:spcPct val="110000"/>
              </a:lnSpc>
            </a:pPr>
            <a:r>
              <a:rPr sz="1200" b="1">
                <a:solidFill>
                  <a:srgbClr val="C2542D"/>
                </a:solidFill>
                <a:latin typeface="Arial"/>
              </a:rPr>
              <a:t>TERRAIN_TIMELINE.HTML</a:t>
            </a:r>
          </a:p>
        </p:txBody>
      </p:sp>
      <p:sp>
        <p:nvSpPr>
          <p:cNvPr id="10" name="TextBox 9"/>
          <p:cNvSpPr txBox="1"/>
          <p:nvPr/>
        </p:nvSpPr>
        <p:spPr>
          <a:xfrm>
            <a:off x="8546886" y="2285942"/>
            <a:ext cx="2603434" cy="3428914"/>
          </a:xfrm>
          <a:prstGeom prst="rect">
            <a:avLst/>
          </a:prstGeom>
          <a:noFill/>
        </p:spPr>
        <p:txBody>
          <a:bodyPr wrap="square" lIns="0" tIns="0" rIns="0" bIns="0" anchor="t">
            <a:spAutoFit/>
          </a:bodyPr>
          <a:lstStyle/>
          <a:p>
            <a:pPr algn="l">
              <a:lnSpc>
                <a:spcPct val="115000"/>
              </a:lnSpc>
              <a:spcAft>
                <a:spcPts val="1000"/>
              </a:spcAft>
            </a:pPr>
            <a:r>
              <a:rPr sz="1400" b="0">
                <a:solidFill>
                  <a:srgbClr val="1F2A2E"/>
                </a:solidFill>
                <a:latin typeface="Arial"/>
              </a:rPr>
              <a:t>The terrain surface itself, year by year.</a:t>
            </a:r>
          </a:p>
          <a:p>
            <a:pPr algn="l">
              <a:lnSpc>
                <a:spcPct val="115000"/>
              </a:lnSpc>
              <a:spcAft>
                <a:spcPts val="1000"/>
              </a:spcAft>
            </a:pPr>
            <a:r>
              <a:rPr sz="1400" b="0">
                <a:solidFill>
                  <a:srgbClr val="1F2A2E"/>
                </a:solidFill>
                <a:latin typeface="Arial"/>
              </a:rPr>
              <a:t>Colour is elevation, draped over a hillshade.</a:t>
            </a:r>
          </a:p>
          <a:p>
            <a:pPr algn="l">
              <a:lnSpc>
                <a:spcPct val="115000"/>
              </a:lnSpc>
              <a:spcAft>
                <a:spcPts val="1000"/>
              </a:spcAft>
            </a:pPr>
            <a:r>
              <a:rPr sz="1400" b="0">
                <a:solidFill>
                  <a:srgbClr val="1F2A2E"/>
                </a:solidFill>
                <a:latin typeface="Arial"/>
              </a:rPr>
              <a:t>The black line is the fault trace.</a:t>
            </a:r>
          </a:p>
          <a:p>
            <a:pPr algn="l">
              <a:lnSpc>
                <a:spcPct val="115000"/>
              </a:lnSpc>
            </a:pPr>
            <a:r>
              <a:rPr sz="1400" b="0">
                <a:solidFill>
                  <a:srgbClr val="1F2A2E"/>
                </a:solidFill>
                <a:latin typeface="Arial"/>
              </a:rPr>
              <a:t>Watch the steep slopes fail and the land shift.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6F3EC"/>
        </a:solidFill>
        <a:effectLst/>
      </p:bgPr>
    </p:bg>
    <p:spTree>
      <p:nvGrpSpPr>
        <p:cNvPr id="1" name=""/>
        <p:cNvGrpSpPr/>
        <p:nvPr/>
      </p:nvGrpSpPr>
      <p:grpSpPr>
        <a:xfrm>
          <a:off x="0" y="0"/>
          <a:ext cx="0" cy="0"/>
          <a:chOff x="0" y="0"/>
          <a:chExt cx="0" cy="0"/>
        </a:xfrm>
      </p:grpSpPr>
      <p:sp>
        <p:nvSpPr>
          <p:cNvPr id="2" name="TextBox 1"/>
          <p:cNvSpPr txBox="1"/>
          <p:nvPr/>
        </p:nvSpPr>
        <p:spPr>
          <a:xfrm>
            <a:off x="812779" y="584185"/>
            <a:ext cx="10566135" cy="253993"/>
          </a:xfrm>
          <a:prstGeom prst="rect">
            <a:avLst/>
          </a:prstGeom>
          <a:noFill/>
        </p:spPr>
        <p:txBody>
          <a:bodyPr wrap="square" lIns="0" tIns="0" rIns="0" bIns="0" anchor="t">
            <a:spAutoFit/>
          </a:bodyPr>
          <a:lstStyle/>
          <a:p>
            <a:pPr algn="l">
              <a:lnSpc>
                <a:spcPct val="110000"/>
              </a:lnSpc>
            </a:pPr>
            <a:r>
              <a:rPr sz="1300" b="1">
                <a:solidFill>
                  <a:srgbClr val="C2542D"/>
                </a:solidFill>
                <a:latin typeface="Arial"/>
              </a:rPr>
              <a:t>SAMPLE RUN · RESULTS</a:t>
            </a:r>
          </a:p>
        </p:txBody>
      </p:sp>
      <p:sp>
        <p:nvSpPr>
          <p:cNvPr id="3" name="TextBox 2"/>
          <p:cNvSpPr txBox="1"/>
          <p:nvPr/>
        </p:nvSpPr>
        <p:spPr>
          <a:xfrm>
            <a:off x="812779" y="863578"/>
            <a:ext cx="10566135" cy="571485"/>
          </a:xfrm>
          <a:prstGeom prst="rect">
            <a:avLst/>
          </a:prstGeom>
          <a:noFill/>
        </p:spPr>
        <p:txBody>
          <a:bodyPr wrap="square" lIns="0" tIns="0" rIns="0" bIns="0" anchor="t">
            <a:spAutoFit/>
          </a:bodyPr>
          <a:lstStyle/>
          <a:p>
            <a:pPr algn="l">
              <a:lnSpc>
                <a:spcPct val="110000"/>
              </a:lnSpc>
            </a:pPr>
            <a:r>
              <a:rPr sz="3000" b="1">
                <a:solidFill>
                  <a:srgbClr val="1F2A2E"/>
                </a:solidFill>
                <a:latin typeface="Georgia"/>
              </a:rPr>
              <a:t>Erosion Timeline animation</a:t>
            </a:r>
          </a:p>
        </p:txBody>
      </p:sp>
      <p:sp>
        <p:nvSpPr>
          <p:cNvPr id="4" name="TextBox 3"/>
          <p:cNvSpPr txBox="1"/>
          <p:nvPr/>
        </p:nvSpPr>
        <p:spPr>
          <a:xfrm>
            <a:off x="812779" y="6349841"/>
            <a:ext cx="4444888" cy="215894"/>
          </a:xfrm>
          <a:prstGeom prst="rect">
            <a:avLst/>
          </a:prstGeom>
          <a:noFill/>
        </p:spPr>
        <p:txBody>
          <a:bodyPr wrap="square" lIns="0" tIns="0" rIns="0" bIns="0" anchor="t">
            <a:spAutoFit/>
          </a:bodyPr>
          <a:lstStyle/>
          <a:p>
            <a:pPr algn="l">
              <a:lnSpc>
                <a:spcPct val="110000"/>
              </a:lnSpc>
            </a:pPr>
            <a:r>
              <a:rPr sz="1200" b="0">
                <a:solidFill>
                  <a:srgbClr val="5B6B73"/>
                </a:solidFill>
                <a:latin typeface="Arial"/>
              </a:rPr>
              <a:t>Introduction to EFEL and integration into LandEvolve</a:t>
            </a:r>
          </a:p>
        </p:txBody>
      </p:sp>
      <p:sp>
        <p:nvSpPr>
          <p:cNvPr id="5" name="TextBox 4"/>
          <p:cNvSpPr txBox="1"/>
          <p:nvPr/>
        </p:nvSpPr>
        <p:spPr>
          <a:xfrm>
            <a:off x="10108947" y="6349841"/>
            <a:ext cx="1269968" cy="215894"/>
          </a:xfrm>
          <a:prstGeom prst="rect">
            <a:avLst/>
          </a:prstGeom>
          <a:noFill/>
        </p:spPr>
        <p:txBody>
          <a:bodyPr wrap="square" lIns="0" tIns="0" rIns="0" bIns="0" anchor="t">
            <a:spAutoFit/>
          </a:bodyPr>
          <a:lstStyle/>
          <a:p>
            <a:pPr algn="r">
              <a:lnSpc>
                <a:spcPct val="110000"/>
              </a:lnSpc>
            </a:pPr>
            <a:r>
              <a:rPr sz="1200" b="0">
                <a:solidFill>
                  <a:srgbClr val="5B6B73"/>
                </a:solidFill>
                <a:latin typeface="Arial"/>
              </a:rPr>
              <a:t>15</a:t>
            </a:r>
          </a:p>
        </p:txBody>
      </p:sp>
      <p:sp>
        <p:nvSpPr>
          <p:cNvPr id="6" name="Rounded Rectangle 5"/>
          <p:cNvSpPr/>
          <p:nvPr/>
        </p:nvSpPr>
        <p:spPr>
          <a:xfrm>
            <a:off x="812779" y="1777955"/>
            <a:ext cx="7175320" cy="4063898"/>
          </a:xfrm>
          <a:prstGeom prst="roundRect">
            <a:avLst>
              <a:gd name="adj" fmla="val 2000"/>
            </a:avLst>
          </a:prstGeom>
          <a:solidFill>
            <a:srgbClr val="FFFFFF"/>
          </a:solidFill>
          <a:ln w="22225">
            <a:solidFill>
              <a:srgbClr val="9AA7A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12779" y="3555911"/>
            <a:ext cx="7175320" cy="507987"/>
          </a:xfrm>
          <a:prstGeom prst="rect">
            <a:avLst/>
          </a:prstGeom>
          <a:noFill/>
        </p:spPr>
        <p:txBody>
          <a:bodyPr wrap="square" lIns="0" tIns="0" rIns="0" bIns="0" anchor="ctr">
            <a:spAutoFit/>
          </a:bodyPr>
          <a:lstStyle/>
          <a:p>
            <a:pPr algn="ctr">
              <a:lnSpc>
                <a:spcPct val="110000"/>
              </a:lnSpc>
              <a:spcAft>
                <a:spcPts val="600"/>
              </a:spcAft>
            </a:pPr>
            <a:r>
              <a:rPr sz="2000" b="0">
                <a:solidFill>
                  <a:srgbClr val="5B6B73"/>
                </a:solidFill>
                <a:latin typeface="Arial"/>
              </a:rPr>
              <a:t>Erosion Timeline animation</a:t>
            </a:r>
          </a:p>
          <a:p>
            <a:pPr algn="ctr">
              <a:lnSpc>
                <a:spcPct val="110000"/>
              </a:lnSpc>
            </a:pPr>
            <a:r>
              <a:rPr sz="2000" b="1">
                <a:solidFill>
                  <a:srgbClr val="5B6B73"/>
                </a:solidFill>
                <a:latin typeface="Arial"/>
              </a:rPr>
              <a:t>(animation to be added)</a:t>
            </a:r>
          </a:p>
        </p:txBody>
      </p:sp>
      <p:sp>
        <p:nvSpPr>
          <p:cNvPr id="8" name="Rounded Rectangle 7"/>
          <p:cNvSpPr/>
          <p:nvPr/>
        </p:nvSpPr>
        <p:spPr>
          <a:xfrm>
            <a:off x="8318292" y="1777955"/>
            <a:ext cx="3060623" cy="4063898"/>
          </a:xfrm>
          <a:prstGeom prst="roundRect">
            <a:avLst>
              <a:gd name="adj" fmla="val 5000"/>
            </a:avLst>
          </a:prstGeom>
          <a:solidFill>
            <a:srgbClr val="FFFDF8"/>
          </a:solidFill>
          <a:ln w="12700">
            <a:solidFill>
              <a:srgbClr val="E4DD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546886" y="1968450"/>
            <a:ext cx="2603434" cy="253993"/>
          </a:xfrm>
          <a:prstGeom prst="rect">
            <a:avLst/>
          </a:prstGeom>
          <a:noFill/>
        </p:spPr>
        <p:txBody>
          <a:bodyPr wrap="square" lIns="0" tIns="0" rIns="0" bIns="0" anchor="t">
            <a:spAutoFit/>
          </a:bodyPr>
          <a:lstStyle/>
          <a:p>
            <a:pPr algn="l">
              <a:lnSpc>
                <a:spcPct val="110000"/>
              </a:lnSpc>
            </a:pPr>
            <a:r>
              <a:rPr sz="1200" b="1">
                <a:solidFill>
                  <a:srgbClr val="C2542D"/>
                </a:solidFill>
                <a:latin typeface="Arial"/>
              </a:rPr>
              <a:t>SEDIMENT_TIMELINE.HTML</a:t>
            </a:r>
          </a:p>
        </p:txBody>
      </p:sp>
      <p:sp>
        <p:nvSpPr>
          <p:cNvPr id="10" name="TextBox 9"/>
          <p:cNvSpPr txBox="1"/>
          <p:nvPr/>
        </p:nvSpPr>
        <p:spPr>
          <a:xfrm>
            <a:off x="8546886" y="2285942"/>
            <a:ext cx="2603434" cy="3428914"/>
          </a:xfrm>
          <a:prstGeom prst="rect">
            <a:avLst/>
          </a:prstGeom>
          <a:noFill/>
        </p:spPr>
        <p:txBody>
          <a:bodyPr wrap="square" lIns="0" tIns="0" rIns="0" bIns="0" anchor="t">
            <a:spAutoFit/>
          </a:bodyPr>
          <a:lstStyle/>
          <a:p>
            <a:pPr algn="l">
              <a:lnSpc>
                <a:spcPct val="115000"/>
              </a:lnSpc>
              <a:spcAft>
                <a:spcPts val="1000"/>
              </a:spcAft>
            </a:pPr>
            <a:r>
              <a:rPr sz="1400" b="0">
                <a:solidFill>
                  <a:srgbClr val="1F2A2E"/>
                </a:solidFill>
                <a:latin typeface="Arial"/>
              </a:rPr>
              <a:t>Cumulative erosion and deposition so far.</a:t>
            </a:r>
          </a:p>
          <a:p>
            <a:pPr algn="l">
              <a:lnSpc>
                <a:spcPct val="115000"/>
              </a:lnSpc>
              <a:spcAft>
                <a:spcPts val="1000"/>
              </a:spcAft>
            </a:pPr>
            <a:r>
              <a:rPr sz="1400" b="1">
                <a:solidFill>
                  <a:srgbClr val="1F2A2E"/>
                </a:solidFill>
                <a:latin typeface="Arial"/>
              </a:rPr>
              <a:t>Red</a:t>
            </a:r>
            <a:r>
              <a:rPr sz="1400" b="0">
                <a:solidFill>
                  <a:srgbClr val="1F2A2E"/>
                </a:solidFill>
                <a:latin typeface="Arial"/>
              </a:rPr>
              <a:t>: material lost. </a:t>
            </a:r>
            <a:r>
              <a:rPr sz="1400" b="1">
                <a:solidFill>
                  <a:srgbClr val="1F2A2E"/>
                </a:solidFill>
                <a:latin typeface="Arial"/>
              </a:rPr>
              <a:t>Blue</a:t>
            </a:r>
            <a:r>
              <a:rPr sz="1400" b="0">
                <a:solidFill>
                  <a:srgbClr val="1F2A2E"/>
                </a:solidFill>
                <a:latin typeface="Arial"/>
              </a:rPr>
              <a:t>: material gained.</a:t>
            </a:r>
          </a:p>
          <a:p>
            <a:pPr algn="l">
              <a:lnSpc>
                <a:spcPct val="115000"/>
              </a:lnSpc>
            </a:pPr>
            <a:r>
              <a:rPr sz="1400" b="0">
                <a:solidFill>
                  <a:srgbClr val="1F2A2E"/>
                </a:solidFill>
                <a:latin typeface="Arial"/>
              </a:rPr>
              <a:t>Tectonic change is removed, so this shows erosion and landslides only.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6232B"/>
        </a:solidFill>
        <a:effectLst/>
      </p:bgPr>
    </p:bg>
    <p:spTree>
      <p:nvGrpSpPr>
        <p:cNvPr id="1" name=""/>
        <p:cNvGrpSpPr/>
        <p:nvPr/>
      </p:nvGrpSpPr>
      <p:grpSpPr>
        <a:xfrm>
          <a:off x="0" y="0"/>
          <a:ext cx="0" cy="0"/>
          <a:chOff x="0" y="0"/>
          <a:chExt cx="0" cy="0"/>
        </a:xfrm>
      </p:grpSpPr>
      <p:sp>
        <p:nvSpPr>
          <p:cNvPr id="2" name="TextBox 1"/>
          <p:cNvSpPr txBox="1"/>
          <p:nvPr/>
        </p:nvSpPr>
        <p:spPr>
          <a:xfrm>
            <a:off x="812779" y="584185"/>
            <a:ext cx="10566135" cy="253993"/>
          </a:xfrm>
          <a:prstGeom prst="rect">
            <a:avLst/>
          </a:prstGeom>
          <a:noFill/>
        </p:spPr>
        <p:txBody>
          <a:bodyPr wrap="square" lIns="0" tIns="0" rIns="0" bIns="0" anchor="t">
            <a:spAutoFit/>
          </a:bodyPr>
          <a:lstStyle/>
          <a:p>
            <a:pPr algn="l">
              <a:lnSpc>
                <a:spcPct val="110000"/>
              </a:lnSpc>
            </a:pPr>
            <a:r>
              <a:rPr sz="1300" b="1">
                <a:solidFill>
                  <a:srgbClr val="E58A66"/>
                </a:solidFill>
                <a:latin typeface="Arial"/>
              </a:rPr>
              <a:t>LINKS</a:t>
            </a:r>
          </a:p>
        </p:txBody>
      </p:sp>
      <p:sp>
        <p:nvSpPr>
          <p:cNvPr id="3" name="TextBox 2"/>
          <p:cNvSpPr txBox="1"/>
          <p:nvPr/>
        </p:nvSpPr>
        <p:spPr>
          <a:xfrm>
            <a:off x="812779" y="863578"/>
            <a:ext cx="10566135" cy="571485"/>
          </a:xfrm>
          <a:prstGeom prst="rect">
            <a:avLst/>
          </a:prstGeom>
          <a:noFill/>
        </p:spPr>
        <p:txBody>
          <a:bodyPr wrap="square" lIns="0" tIns="0" rIns="0" bIns="0" anchor="t">
            <a:spAutoFit/>
          </a:bodyPr>
          <a:lstStyle/>
          <a:p>
            <a:pPr algn="l">
              <a:lnSpc>
                <a:spcPct val="110000"/>
              </a:lnSpc>
            </a:pPr>
            <a:r>
              <a:rPr sz="3000" b="1">
                <a:solidFill>
                  <a:srgbClr val="F6F3EC"/>
                </a:solidFill>
                <a:latin typeface="Georgia"/>
              </a:rPr>
              <a:t>Links and references</a:t>
            </a:r>
          </a:p>
        </p:txBody>
      </p:sp>
      <p:sp>
        <p:nvSpPr>
          <p:cNvPr id="4" name="TextBox 3"/>
          <p:cNvSpPr txBox="1"/>
          <p:nvPr/>
        </p:nvSpPr>
        <p:spPr>
          <a:xfrm>
            <a:off x="812779" y="6349841"/>
            <a:ext cx="4444888" cy="215894"/>
          </a:xfrm>
          <a:prstGeom prst="rect">
            <a:avLst/>
          </a:prstGeom>
          <a:noFill/>
        </p:spPr>
        <p:txBody>
          <a:bodyPr wrap="square" lIns="0" tIns="0" rIns="0" bIns="0" anchor="t">
            <a:spAutoFit/>
          </a:bodyPr>
          <a:lstStyle/>
          <a:p>
            <a:pPr algn="l">
              <a:lnSpc>
                <a:spcPct val="110000"/>
              </a:lnSpc>
            </a:pPr>
            <a:r>
              <a:rPr sz="1200" b="0">
                <a:solidFill>
                  <a:srgbClr val="A9B7BD"/>
                </a:solidFill>
                <a:latin typeface="Arial"/>
              </a:rPr>
              <a:t>Introduction to EFEL and integration into LandEvolve</a:t>
            </a:r>
          </a:p>
        </p:txBody>
      </p:sp>
      <p:sp>
        <p:nvSpPr>
          <p:cNvPr id="5" name="TextBox 4"/>
          <p:cNvSpPr txBox="1"/>
          <p:nvPr/>
        </p:nvSpPr>
        <p:spPr>
          <a:xfrm>
            <a:off x="10108947" y="6349841"/>
            <a:ext cx="1269968" cy="215894"/>
          </a:xfrm>
          <a:prstGeom prst="rect">
            <a:avLst/>
          </a:prstGeom>
          <a:noFill/>
        </p:spPr>
        <p:txBody>
          <a:bodyPr wrap="square" lIns="0" tIns="0" rIns="0" bIns="0" anchor="t">
            <a:spAutoFit/>
          </a:bodyPr>
          <a:lstStyle/>
          <a:p>
            <a:pPr algn="r">
              <a:lnSpc>
                <a:spcPct val="110000"/>
              </a:lnSpc>
            </a:pPr>
            <a:r>
              <a:rPr sz="1200" b="0">
                <a:solidFill>
                  <a:srgbClr val="A9B7BD"/>
                </a:solidFill>
                <a:latin typeface="Arial"/>
              </a:rPr>
              <a:t>16</a:t>
            </a:r>
          </a:p>
        </p:txBody>
      </p:sp>
      <p:sp>
        <p:nvSpPr>
          <p:cNvPr id="6" name="TextBox 5"/>
          <p:cNvSpPr txBox="1"/>
          <p:nvPr/>
        </p:nvSpPr>
        <p:spPr>
          <a:xfrm>
            <a:off x="812779" y="1968450"/>
            <a:ext cx="10566135" cy="4063898"/>
          </a:xfrm>
          <a:prstGeom prst="rect">
            <a:avLst/>
          </a:prstGeom>
          <a:noFill/>
        </p:spPr>
        <p:txBody>
          <a:bodyPr wrap="square" lIns="0" tIns="0" rIns="0" bIns="0" anchor="t">
            <a:spAutoFit/>
          </a:bodyPr>
          <a:lstStyle/>
          <a:p>
            <a:pPr algn="l">
              <a:lnSpc>
                <a:spcPct val="115000"/>
              </a:lnSpc>
              <a:spcAft>
                <a:spcPts val="1600"/>
              </a:spcAft>
            </a:pPr>
            <a:r>
              <a:rPr sz="1700" b="1">
                <a:solidFill>
                  <a:srgbClr val="E58A66"/>
                </a:solidFill>
                <a:latin typeface="Arial"/>
              </a:rPr>
              <a:t>LandEvolve</a:t>
            </a:r>
            <a:r>
              <a:rPr sz="1700" b="0">
                <a:solidFill>
                  <a:srgbClr val="F6F3EC"/>
                </a:solidFill>
                <a:latin typeface="Arial"/>
              </a:rPr>
              <a:t>  github.com/vinuri-s/landEvolve</a:t>
            </a:r>
          </a:p>
          <a:p>
            <a:pPr algn="l">
              <a:lnSpc>
                <a:spcPct val="115000"/>
              </a:lnSpc>
              <a:spcAft>
                <a:spcPts val="1600"/>
              </a:spcAft>
            </a:pPr>
            <a:r>
              <a:rPr sz="1700" b="1">
                <a:solidFill>
                  <a:srgbClr val="E58A66"/>
                </a:solidFill>
                <a:latin typeface="Arial"/>
              </a:rPr>
              <a:t>EFEL</a:t>
            </a:r>
            <a:r>
              <a:rPr sz="1700" b="0">
                <a:solidFill>
                  <a:srgbClr val="F6F3EC"/>
                </a:solidFill>
                <a:latin typeface="Arial"/>
              </a:rPr>
              <a:t>  github.com/amforte/elastic_fault_earthquake_and_landslide</a:t>
            </a:r>
          </a:p>
          <a:p>
            <a:pPr algn="l">
              <a:lnSpc>
                <a:spcPct val="115000"/>
              </a:lnSpc>
              <a:spcAft>
                <a:spcPts val="1600"/>
              </a:spcAft>
            </a:pPr>
            <a:r>
              <a:rPr sz="1700" b="1">
                <a:solidFill>
                  <a:srgbClr val="E58A66"/>
                </a:solidFill>
                <a:latin typeface="Arial"/>
              </a:rPr>
              <a:t>Okada (1992)</a:t>
            </a:r>
            <a:r>
              <a:rPr sz="1700" b="0">
                <a:solidFill>
                  <a:srgbClr val="F6F3EC"/>
                </a:solidFill>
                <a:latin typeface="Arial"/>
              </a:rPr>
              <a:t>  Internal deformation due to shear and tensile faults in a half-space. BSSA 82(2).</a:t>
            </a:r>
          </a:p>
          <a:p>
            <a:pPr algn="l">
              <a:lnSpc>
                <a:spcPct val="115000"/>
              </a:lnSpc>
              <a:spcAft>
                <a:spcPts val="1600"/>
              </a:spcAft>
            </a:pPr>
            <a:r>
              <a:rPr sz="1700" b="1">
                <a:solidFill>
                  <a:srgbClr val="E58A66"/>
                </a:solidFill>
                <a:latin typeface="Arial"/>
              </a:rPr>
              <a:t>Leonard (2014)</a:t>
            </a:r>
            <a:r>
              <a:rPr sz="1700" b="0">
                <a:solidFill>
                  <a:srgbClr val="F6F3EC"/>
                </a:solidFill>
                <a:latin typeface="Arial"/>
              </a:rPr>
              <a:t>  Earthquake fault scaling relations. BSSA 104(6).</a:t>
            </a:r>
          </a:p>
          <a:p>
            <a:pPr algn="l">
              <a:lnSpc>
                <a:spcPct val="115000"/>
              </a:lnSpc>
              <a:spcAft>
                <a:spcPts val="1600"/>
              </a:spcAft>
            </a:pPr>
            <a:r>
              <a:rPr sz="1700" b="1">
                <a:solidFill>
                  <a:srgbClr val="E58A66"/>
                </a:solidFill>
                <a:latin typeface="Arial"/>
              </a:rPr>
              <a:t>Jibson (2007)</a:t>
            </a:r>
            <a:r>
              <a:rPr sz="1700" b="0">
                <a:solidFill>
                  <a:srgbClr val="F6F3EC"/>
                </a:solidFill>
                <a:latin typeface="Arial"/>
              </a:rPr>
              <a:t>  Regression models for coseismic landslide displacement. Engineering Geology 91.</a:t>
            </a:r>
          </a:p>
          <a:p>
            <a:pPr algn="l">
              <a:lnSpc>
                <a:spcPct val="115000"/>
              </a:lnSpc>
            </a:pPr>
            <a:r>
              <a:rPr sz="1700" b="1">
                <a:solidFill>
                  <a:srgbClr val="E58A66"/>
                </a:solidFill>
                <a:latin typeface="Arial"/>
              </a:rPr>
              <a:t>Landlab</a:t>
            </a:r>
            <a:r>
              <a:rPr sz="1700" b="0">
                <a:solidFill>
                  <a:srgbClr val="F6F3EC"/>
                </a:solidFill>
                <a:latin typeface="Arial"/>
              </a:rPr>
              <a:t>  Hobley et al. (2017); Barnhart et al. (2020); BedrockLandslider: Campforts et al. (2020).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138</TotalTime>
  <Words>2015</Words>
  <Application>Microsoft Macintosh PowerPoint</Application>
  <PresentationFormat>Widescreen</PresentationFormat>
  <Paragraphs>232</Paragraphs>
  <Slides>16</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Courier New</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Vinuri Piyathilake</cp:lastModifiedBy>
  <cp:revision>16</cp:revision>
  <dcterms:created xsi:type="dcterms:W3CDTF">2013-01-27T09:14:16Z</dcterms:created>
  <dcterms:modified xsi:type="dcterms:W3CDTF">2026-09-26T06:48:35Z</dcterms:modified>
  <cp:category/>
</cp:coreProperties>
</file>