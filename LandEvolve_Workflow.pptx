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69" r:id="rId4"/>
    <p:sldId id="257" r:id="rId5"/>
    <p:sldId id="258" r:id="rId6"/>
    <p:sldId id="259" r:id="rId7"/>
    <p:sldId id="260" r:id="rId8"/>
    <p:sldId id="261" r:id="rId9"/>
    <p:sldId id="270" r:id="rId20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  <Relationship Id="rId20" Type="http://schemas.openxmlformats.org/officeDocument/2006/relationships/slide" Target="slides/slide15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457200" y="5120640"/>
            <a:ext cx="13258800" cy="457200"/>
          </a:xfrm>
          <a:prstGeom prst="rect">
            <a:avLst/>
          </a:prstGeom>
          <a:solidFill>
            <a:srgbClr val="203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457200" y="5486400"/>
            <a:ext cx="13258800" cy="457200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-457200" y="5897880"/>
            <a:ext cx="13258800" cy="100584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9CC486"/>
                </a:solidFill>
                <a:latin typeface="Calibri"/>
              </a:rPr>
              <a:t>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070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5600" b="1" i="0">
                <a:solidFill>
                  <a:srgbClr val="FFFFFF"/>
                </a:solidFill>
                <a:latin typeface="Calibri"/>
              </a:rPr>
              <a:t>Using LandEvolve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900" b="0" i="0">
                <a:solidFill>
                  <a:srgbClr val="E7E3D7"/>
                </a:solidFill>
                <a:latin typeface="Calibri"/>
              </a:rPr>
              <a:t>A start-to-finish walkthrough: load a landscape, set up the run,
simulate, and explore the results.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9CC486"/>
                </a:solidFill>
                <a:latin typeface="Calibri"/>
              </a:rPr>
              <a:t>Pick a DEM · Set the time · Add the forces · Run · Explore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B85042"/>
                </a:solidFill>
                <a:latin typeface="Calibri"/>
              </a:rP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100" b="1" i="0">
                <a:solidFill>
                  <a:srgbClr val="2C4A3E"/>
                </a:solidFill>
                <a:latin typeface="Calibri"/>
              </a:rPr>
              <a:t>Download LandEvolve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6E6A60"/>
                </a:solidFill>
                <a:latin typeface="Calibri"/>
              </a:rPr>
              <a:t>LandEvolve is distributed as a ready-to-run build on GitHub — no Python install or setup required. Grab it in three steps: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474720" cy="310896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920239" y="2514600"/>
            <a:ext cx="914400" cy="914400"/>
          </a:xfrm>
          <a:prstGeom prst="ellipse">
            <a:avLst/>
          </a:prstGeom>
          <a:solidFill>
            <a:srgbClr val="3E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20239" y="2496312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32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2C4A3E"/>
                </a:solidFill>
                <a:latin typeface="Calibri"/>
              </a:rPr>
              <a:t>Open the Repo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425196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6E6A60"/>
                </a:solidFill>
                <a:latin typeface="Calibri"/>
              </a:rPr>
              <a:t>Go to github.com/vinuri-s/landEvolve, then click Releases in the sidebar.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6511" y="3383280"/>
            <a:ext cx="274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3000" b="1" i="0">
                <a:solidFill>
                  <a:srgbClr val="6B8E5A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194560"/>
            <a:ext cx="3474720" cy="310896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623560" y="2514600"/>
            <a:ext cx="914400" cy="91440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23560" y="2496312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3200" b="0" i="0">
                <a:solidFill>
                  <a:srgbClr val="FFFFFF"/>
                </a:solidFill>
                <a:latin typeface="Calibri"/>
              </a:rPr>
              <a:t>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6576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2C4A3E"/>
                </a:solidFill>
                <a:latin typeface="Calibri"/>
              </a:rPr>
              <a:t>Pick a Release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25196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6E6A60"/>
                </a:solidFill>
                <a:latin typeface="Calibri"/>
              </a:rPr>
              <a:t>Open the latest release at the top — downloads are listed under Assets.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9831" y="3383280"/>
            <a:ext cx="274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3000" b="1" i="0">
                <a:solidFill>
                  <a:srgbClr val="6B8E5A"/>
                </a:solidFill>
                <a:latin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2194560"/>
            <a:ext cx="3474720" cy="310896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326880" y="2514600"/>
            <a:ext cx="914400" cy="9144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0" y="2496312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3200" b="0" i="0">
                <a:solidFill>
                  <a:srgbClr val="FFFFFF"/>
                </a:solidFill>
                <a:latin typeface="Calibri"/>
              </a:rPr>
              <a:t>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36576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2C4A3E"/>
                </a:solidFill>
                <a:latin typeface="Calibri"/>
              </a:rPr>
              <a:t>Download Your 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425196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6E6A60"/>
                </a:solidFill>
                <a:latin typeface="Calibri"/>
              </a:rPr>
              <a:t>Get LandEvolve-macos.zip or LandEvolve-windows.zip, whichever matches your computer.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1">
                <a:solidFill>
                  <a:srgbClr val="6E6A60"/>
                </a:solidFill>
                <a:latin typeface="Calibri"/>
              </a:rPr>
              <a:t>Every release is built straight from the source code, so the download always matches a tagged version of the app.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B85042"/>
                </a:solidFill>
                <a:latin typeface="Calibri"/>
              </a:rP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100" b="1" i="0">
                <a:solidFill>
                  <a:srgbClr val="2C4A3E"/>
                </a:solidFill>
                <a:latin typeface="Calibri"/>
              </a:rPr>
              <a:t>Install &amp; Run It</a:t>
            </a:r>
          </a:p>
        </p:txBody>
      </p:sp>
      <p:sp>
        <p:nvSpPr>
          <p:cNvPr id="5" name="Oval 4"/>
          <p:cNvSpPr/>
          <p:nvPr/>
        </p:nvSpPr>
        <p:spPr>
          <a:xfrm>
            <a:off x="10881360" y="457200"/>
            <a:ext cx="640080" cy="64008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4572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6E6A60"/>
                </a:solidFill>
                <a:latin typeface="Calibri"/>
              </a:rPr>
              <a:t>Unzipped the download? Here's how to open LandEvolve — no installer needed.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5257800" cy="173736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2395728"/>
            <a:ext cx="457200" cy="457200"/>
          </a:xfrm>
          <a:prstGeom prst="ellipse">
            <a:avLst/>
          </a:prstGeom>
          <a:solidFill>
            <a:srgbClr val="3E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54480" y="237744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2C4A3E"/>
                </a:solidFill>
                <a:latin typeface="Calibri"/>
              </a:rPr>
              <a:t>macOS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6E6A60"/>
                </a:solidFill>
                <a:latin typeface="Calibri"/>
              </a:rPr>
              <a:t>Right-click LandEvolve.app → Open (blocked because the app isn't Apple-notarized — normal for independent apps, not a sign it's harmful). Still blocked? In Terminal, type “xattr -cr ”, drag the app in to fill its path, then press Return.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148840"/>
            <a:ext cx="5257800" cy="173736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46520" y="2395728"/>
            <a:ext cx="457200" cy="4572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86600" y="237744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2C4A3E"/>
                </a:solidFill>
                <a:latin typeface="Calibri"/>
              </a:rPr>
              <a:t>Windows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971800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6E6A60"/>
                </a:solidFill>
                <a:latin typeface="Calibri"/>
              </a:rPr>
              <a:t>Double-click LandEvolve.exe inside the folder. If SmartScreen warns you, click More info → Run anyway.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60520"/>
            <a:ext cx="10908792" cy="1417320"/>
          </a:xfrm>
          <a:prstGeom prst="roundRect">
            <a:avLst>
              <a:gd name="adj" fmla="val 10000"/>
            </a:avLst>
          </a:prstGeom>
          <a:solidFill>
            <a:srgbClr val="2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37083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9CC486"/>
                </a:solidFill>
                <a:latin typeface="Calibri"/>
              </a:rPr>
              <a:t>FIRST LAUNCH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36592"/>
            <a:ext cx="10424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E7E3D7"/>
                </a:solidFill>
                <a:latin typeface="Calibri"/>
              </a:rPr>
              <a:t>The app creates its own logs, database, and outputs folders right next to the executable — no admin rights needed, nothing written anywhere else.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B85042"/>
                </a:solidFill>
                <a:latin typeface="Calibri"/>
              </a:rPr>
              <a:t>THE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100" b="1" i="0">
                <a:solidFill>
                  <a:srgbClr val="2C4A3E"/>
                </a:solidFill>
                <a:latin typeface="Calibri"/>
              </a:rPr>
              <a:t>Three Screens, One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6E6A60"/>
                </a:solidFill>
                <a:latin typeface="Calibri"/>
              </a:rPr>
              <a:t>LandEvolve takes a real elevation map, runs the natural forces forward in time, and shows you the result. You move through three screens: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474720" cy="310896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920239" y="2514600"/>
            <a:ext cx="914400" cy="914400"/>
          </a:xfrm>
          <a:prstGeom prst="ellipse">
            <a:avLst/>
          </a:prstGeom>
          <a:solidFill>
            <a:srgbClr val="3E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20239" y="2496312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32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2C4A3E"/>
                </a:solidFill>
                <a:latin typeface="Calibri"/>
              </a:rP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425196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6E6A60"/>
                </a:solidFill>
                <a:latin typeface="Calibri"/>
              </a:rPr>
              <a:t>The landing dashboard — start a new simulation from here.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6511" y="3383280"/>
            <a:ext cx="274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3000" b="1" i="0">
                <a:solidFill>
                  <a:srgbClr val="6B8E5A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194560"/>
            <a:ext cx="3474720" cy="310896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623560" y="2514600"/>
            <a:ext cx="914400" cy="91440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23560" y="2496312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3200" b="0" i="0">
                <a:solidFill>
                  <a:srgbClr val="FFFFFF"/>
                </a:solidFill>
                <a:latin typeface="Calibri"/>
              </a:rPr>
              <a:t>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6576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2C4A3E"/>
                </a:solidFill>
                <a:latin typeface="Calibri"/>
              </a:rPr>
              <a:t>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25196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6E6A60"/>
                </a:solidFill>
                <a:latin typeface="Calibri"/>
              </a:rPr>
              <a:t>Choose your DEM, run length, and the processes to apply — then pick where results are saved.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9831" y="3383280"/>
            <a:ext cx="274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3000" b="1" i="0">
                <a:solidFill>
                  <a:srgbClr val="6B8E5A"/>
                </a:solidFill>
                <a:latin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2194560"/>
            <a:ext cx="3474720" cy="310896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326880" y="2514600"/>
            <a:ext cx="914400" cy="9144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0" y="2496312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32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36576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2C4A3E"/>
                </a:solidFill>
                <a:latin typeface="Calibri"/>
              </a:rPr>
              <a:t>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425196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6E6A60"/>
                </a:solidFill>
                <a:latin typeface="Calibri"/>
              </a:rPr>
              <a:t>Explore the evolved terrain in 2D, 3D, timelines, and analysis plots.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1">
                <a:solidFill>
                  <a:srgbClr val="6E6A60"/>
                </a:solidFill>
                <a:latin typeface="Calibri"/>
              </a:rPr>
              <a:t>The setup runs on a background thread — the app stays responsive while a simulation is computing.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B85042"/>
                </a:solidFill>
                <a:latin typeface="Calibri"/>
              </a:rPr>
              <a:t>STEP 1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100" b="1" i="0">
                <a:solidFill>
                  <a:srgbClr val="2C4A3E"/>
                </a:solidFill>
                <a:latin typeface="Calibri"/>
              </a:rPr>
              <a:t>Pick Your DEM</a:t>
            </a:r>
          </a:p>
        </p:txBody>
      </p:sp>
      <p:sp>
        <p:nvSpPr>
          <p:cNvPr id="5" name="Oval 4"/>
          <p:cNvSpPr/>
          <p:nvPr/>
        </p:nvSpPr>
        <p:spPr>
          <a:xfrm>
            <a:off x="10881360" y="457200"/>
            <a:ext cx="640080" cy="640080"/>
          </a:xfrm>
          <a:prstGeom prst="ellipse">
            <a:avLst/>
          </a:prstGeom>
          <a:solidFill>
            <a:srgbClr val="3E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4572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64008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050" b="1">
                <a:solidFill>
                  <a:srgbClr val="B85042"/>
                </a:solidFill>
                <a:latin typeface="Calibri"/>
              </a:rPr>
              <a:t>●  </a:t>
            </a:r>
            <a:r>
              <a:rPr sz="1450" b="1">
                <a:solidFill>
                  <a:srgbClr val="2C4A3E"/>
                </a:solidFill>
                <a:latin typeface="Calibri"/>
              </a:rPr>
              <a:t>Browse for your DEM. </a:t>
            </a:r>
            <a:r>
              <a:rPr sz="1450">
                <a:solidFill>
                  <a:srgbClr val="2B2B2B"/>
                </a:solidFill>
                <a:latin typeface="Calibri"/>
              </a:rPr>
              <a:t>Select a GeoTIFF (.tif) elevation map from your own filesystem — this is the DEM the simulation will run on.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050" b="1">
                <a:solidFill>
                  <a:srgbClr val="B85042"/>
                </a:solidFill>
                <a:latin typeface="Calibri"/>
              </a:rPr>
              <a:t>●  </a:t>
            </a:r>
            <a:r>
              <a:rPr sz="1450" b="1">
                <a:solidFill>
                  <a:srgbClr val="2C4A3E"/>
                </a:solidFill>
                <a:latin typeface="Calibri"/>
              </a:rPr>
              <a:t>Preview &amp; check it. </a:t>
            </a:r>
            <a:r>
              <a:rPr sz="1450">
                <a:solidFill>
                  <a:srgbClr val="2B2B2B"/>
                </a:solidFill>
                <a:latin typeface="Calibri"/>
              </a:rPr>
              <a:t>The satellite Location Preview centres on the DEM and can overlay its boundary; a details line reports size, resolution, CRS, and elevation range.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600200"/>
            <a:ext cx="4114800" cy="3840480"/>
          </a:xfrm>
          <a:prstGeom prst="roundRect">
            <a:avLst>
              <a:gd name="adj" fmla="val 10000"/>
            </a:avLst>
          </a:prstGeom>
          <a:solidFill>
            <a:srgbClr val="2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0" y="1810512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9CC486"/>
                </a:solidFill>
                <a:latin typeface="Calibri"/>
              </a:rPr>
              <a:t>GOOD TO KNOW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286000"/>
            <a:ext cx="35661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E7E3D7"/>
                </a:solidFill>
                <a:latin typeface="Calibri"/>
              </a:rPr>
              <a:t>The simulation runs at the DEM's full, native resolution — nothing is downsampled during the physics.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1350" b="0" i="0">
              <a:solidFill>
                <a:srgbClr val="E7E3D7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E7E3D7"/>
                </a:solidFill>
                <a:latin typeface="Calibri"/>
              </a:rPr>
              <a:t>A bigger / finer tile means a longer, heavier run — clip or coarsen it if a run is too slow.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1350" b="0" i="0">
              <a:solidFill>
                <a:srgbClr val="E7E3D7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E7E3D7"/>
                </a:solidFill>
                <a:latin typeface="Calibri"/>
              </a:rPr>
              <a:t>Maps in degrees are auto-converted to metres, so slopes and areas are physical.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B85042"/>
                </a:solidFill>
                <a:latin typeface="Calibri"/>
              </a:rPr>
              <a:t>STEP 2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100" b="1" i="0">
                <a:solidFill>
                  <a:srgbClr val="2C4A3E"/>
                </a:solidFill>
                <a:latin typeface="Calibri"/>
              </a:rPr>
              <a:t>Set How Long to Simulate</a:t>
            </a:r>
          </a:p>
        </p:txBody>
      </p:sp>
      <p:sp>
        <p:nvSpPr>
          <p:cNvPr id="5" name="Oval 4"/>
          <p:cNvSpPr/>
          <p:nvPr/>
        </p:nvSpPr>
        <p:spPr>
          <a:xfrm>
            <a:off x="10881360" y="457200"/>
            <a:ext cx="640080" cy="64008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4572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6E6A60"/>
                </a:solidFill>
                <a:latin typeface="Calibri"/>
              </a:rPr>
              <a:t>Two numbers control the run — how far into the future you go, and how big each step 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5257800" cy="173736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2395728"/>
            <a:ext cx="457200" cy="457200"/>
          </a:xfrm>
          <a:prstGeom prst="ellipse">
            <a:avLst/>
          </a:prstGeom>
          <a:solidFill>
            <a:srgbClr val="3E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54480" y="237744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2C4A3E"/>
                </a:solidFill>
                <a:latin typeface="Calibri"/>
              </a:rPr>
              <a:t>Simulation Period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6E6A60"/>
                </a:solidFill>
                <a:latin typeface="Calibri"/>
              </a:rPr>
              <a:t>The total time to simulate (e.g. thousands of years). How far the landscape evolves.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148840"/>
            <a:ext cx="5257800" cy="173736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46520" y="2395728"/>
            <a:ext cx="457200" cy="4572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86600" y="237744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2C4A3E"/>
                </a:solidFill>
                <a:latin typeface="Calibri"/>
              </a:rPr>
              <a:t>Time Step (dt)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971800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6E6A60"/>
                </a:solidFill>
                <a:latin typeface="Calibri"/>
              </a:rPr>
              <a:t>The size of each step the engine takes. The run does (period ÷ dt) steps in total.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60520"/>
            <a:ext cx="10908792" cy="1417320"/>
          </a:xfrm>
          <a:prstGeom prst="roundRect">
            <a:avLst>
              <a:gd name="adj" fmla="val 10000"/>
            </a:avLst>
          </a:prstGeom>
          <a:solidFill>
            <a:srgbClr val="2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37083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9CC486"/>
                </a:solidFill>
                <a:latin typeface="Calibri"/>
              </a:rPr>
              <a:t>REMEMBER — THESE ARE LONG-TERM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36592"/>
            <a:ext cx="10424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E7E3D7"/>
                </a:solidFill>
                <a:latin typeface="Calibri"/>
              </a:rPr>
              <a:t>Each step represents long-term, effective forcing (years to millennia), not single storms. Smaller steps are more accurate but slower; very large steps can become unstable. Pick a step small relative to your total period.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B85042"/>
                </a:solidFill>
                <a:latin typeface="Calibri"/>
              </a:rPr>
              <a:t>STEP 3 OF 6  ·  OPTIONAL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100" b="1" i="0">
                <a:solidFill>
                  <a:srgbClr val="2C4A3E"/>
                </a:solidFill>
                <a:latin typeface="Calibri"/>
              </a:rPr>
              <a:t>Track a Feature of Interest</a:t>
            </a:r>
          </a:p>
        </p:txBody>
      </p:sp>
      <p:sp>
        <p:nvSpPr>
          <p:cNvPr id="5" name="Oval 4"/>
          <p:cNvSpPr/>
          <p:nvPr/>
        </p:nvSpPr>
        <p:spPr>
          <a:xfrm>
            <a:off x="10881360" y="457200"/>
            <a:ext cx="640080" cy="640080"/>
          </a:xfrm>
          <a:prstGeom prst="ellipse">
            <a:avLst/>
          </a:prstGeom>
          <a:solidFill>
            <a:srgbClr val="8A6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4572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6E6A60"/>
                </a:solidFill>
                <a:latin typeface="Calibri"/>
              </a:rPr>
              <a:t>Care about one specific place — a fan, terrace, road, channel, or archaeological site? Have LandEvolve watch just that area and tell you when the evolving landscape (erosion or deposition) first reaches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64008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000" b="1">
                <a:solidFill>
                  <a:srgbClr val="B85042"/>
                </a:solidFill>
                <a:latin typeface="Calibri"/>
              </a:rPr>
              <a:t>●  </a:t>
            </a:r>
            <a:r>
              <a:rPr sz="1400" b="1">
                <a:solidFill>
                  <a:srgbClr val="2C4A3E"/>
                </a:solidFill>
                <a:latin typeface="Calibri"/>
              </a:rPr>
              <a:t>Tick “Track Interested Landscape Feature” </a:t>
            </a:r>
            <a:r>
              <a:rPr sz="1400">
                <a:solidFill>
                  <a:srgbClr val="2B2B2B"/>
                </a:solidFill>
                <a:latin typeface="Calibri"/>
              </a:rPr>
              <a:t>in Input Setup, then browse to a polygon shapefile (.shp) outlining the area.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000" b="1">
                <a:solidFill>
                  <a:srgbClr val="B85042"/>
                </a:solidFill>
                <a:latin typeface="Calibri"/>
              </a:rPr>
              <a:t>●  </a:t>
            </a:r>
            <a:r>
              <a:rPr sz="1400" b="1">
                <a:solidFill>
                  <a:srgbClr val="2C4A3E"/>
                </a:solidFill>
                <a:latin typeface="Calibri"/>
              </a:rPr>
              <a:t>Any CRS works </a:t>
            </a:r>
            <a:r>
              <a:rPr sz="1400">
                <a:solidFill>
                  <a:srgbClr val="2B2B2B"/>
                </a:solidFill>
                <a:latin typeface="Calibri"/>
              </a:rPr>
              <a:t>— it's auto-reprojected to match the DEM, and drawn on the preview so you can confirm placement.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000" b="1">
                <a:solidFill>
                  <a:srgbClr val="B85042"/>
                </a:solidFill>
                <a:latin typeface="Calibri"/>
              </a:rPr>
              <a:t>●  </a:t>
            </a:r>
            <a:r>
              <a:rPr sz="1400" b="1">
                <a:solidFill>
                  <a:srgbClr val="2C4A3E"/>
                </a:solidFill>
                <a:latin typeface="Calibri"/>
              </a:rPr>
              <a:t>Set the First-Effect Threshold </a:t>
            </a:r>
            <a:r>
              <a:rPr sz="1400">
                <a:solidFill>
                  <a:srgbClr val="2B2B2B"/>
                </a:solidFill>
                <a:latin typeface="Calibri"/>
              </a:rPr>
              <a:t>(default 0.01 m) — how much change counts as the feature being “first affected”.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514600"/>
            <a:ext cx="4114800" cy="292608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0" y="2724912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B85042"/>
                </a:solidFill>
                <a:latin typeface="Calibri"/>
              </a:rPr>
              <a:t>YOU'LL 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3154680"/>
            <a:ext cx="356616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850" b="1">
                <a:solidFill>
                  <a:srgbClr val="6B8E5A"/>
                </a:solidFill>
                <a:latin typeface="Calibri"/>
              </a:rPr>
              <a:t>●  </a:t>
            </a:r>
            <a:r>
              <a:rPr sz="1250">
                <a:solidFill>
                  <a:srgbClr val="2B2B2B"/>
                </a:solidFill>
                <a:latin typeface="Calibri"/>
              </a:rPr>
              <a:t>An interactive map cropped to your feature, with first-change &amp; biggest-change marked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850" b="1">
                <a:solidFill>
                  <a:srgbClr val="6B8E5A"/>
                </a:solidFill>
                <a:latin typeface="Calibri"/>
              </a:rPr>
              <a:t>●  </a:t>
            </a:r>
            <a:r>
              <a:rPr sz="1250">
                <a:solidFill>
                  <a:srgbClr val="2B2B2B"/>
                </a:solidFill>
                <a:latin typeface="Calibri"/>
              </a:rPr>
              <a:t>Opens on the moment it was first affected (e.g. “~230 years”)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850" b="1">
                <a:solidFill>
                  <a:srgbClr val="6B8E5A"/>
                </a:solidFill>
                <a:latin typeface="Calibri"/>
              </a:rPr>
              <a:t>●  </a:t>
            </a:r>
            <a:r>
              <a:rPr sz="1250">
                <a:solidFill>
                  <a:srgbClr val="2B2B2B"/>
                </a:solidFill>
                <a:latin typeface="Calibri"/>
              </a:rPr>
              <a:t>A CSV + PNG saved to your output folder too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B85042"/>
                </a:solidFill>
                <a:latin typeface="Calibri"/>
              </a:rPr>
              <a:t>STEP 4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100" b="1" i="0">
                <a:solidFill>
                  <a:srgbClr val="2C4A3E"/>
                </a:solidFill>
                <a:latin typeface="Calibri"/>
              </a:rPr>
              <a:t>Add the Forces (Processes)</a:t>
            </a:r>
          </a:p>
        </p:txBody>
      </p:sp>
      <p:sp>
        <p:nvSpPr>
          <p:cNvPr id="5" name="Oval 4"/>
          <p:cNvSpPr/>
          <p:nvPr/>
        </p:nvSpPr>
        <p:spPr>
          <a:xfrm>
            <a:off x="10881360" y="457200"/>
            <a:ext cx="640080" cy="64008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4572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6E6A60"/>
                </a:solidFill>
                <a:latin typeface="Calibri"/>
              </a:rPr>
              <a:t>Use + Add Process to pick which natural processes to switch on, and configure each one's settings. Mix and match them like ingredients. (Each process is explained in the Component Manual.)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2615184" cy="86868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2660904"/>
            <a:ext cx="22494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2C4A3E"/>
                </a:solidFill>
                <a:latin typeface="Calibri"/>
              </a:rPr>
              <a:t>🌧 Rainfall &amp; Runoff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017520"/>
            <a:ext cx="22494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6E6A60"/>
                </a:solidFill>
                <a:latin typeface="Calibri"/>
              </a:rPr>
              <a:t>rain / climate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9856" y="2514600"/>
            <a:ext cx="2615184" cy="86868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21024" y="2660904"/>
            <a:ext cx="22494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2C4A3E"/>
                </a:solidFill>
                <a:latin typeface="Calibri"/>
              </a:rPr>
              <a:t>🌿 Vegetation 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3017520"/>
            <a:ext cx="22494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6E6A60"/>
                </a:solidFill>
                <a:latin typeface="Calibri"/>
              </a:rPr>
              <a:t>ground cover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2514600"/>
            <a:ext cx="2615184" cy="86868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2660904"/>
            <a:ext cx="22494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2C4A3E"/>
                </a:solidFill>
                <a:latin typeface="Calibri"/>
              </a:rPr>
              <a:t>💧 Water Flow Routing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017520"/>
            <a:ext cx="22494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6E6A60"/>
                </a:solidFill>
                <a:latin typeface="Calibri"/>
              </a:rPr>
              <a:t>routes water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9408" y="2514600"/>
            <a:ext cx="2615184" cy="86868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80576" y="2660904"/>
            <a:ext cx="22494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2C4A3E"/>
                </a:solidFill>
                <a:latin typeface="Calibri"/>
              </a:rPr>
              <a:t>⛰ Hillslope Soil Creep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3017520"/>
            <a:ext cx="22494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6E6A60"/>
                </a:solidFill>
                <a:latin typeface="Calibri"/>
              </a:rPr>
              <a:t>soil creep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66160"/>
            <a:ext cx="2615184" cy="86868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3712463"/>
            <a:ext cx="22494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2C4A3E"/>
                </a:solidFill>
                <a:latin typeface="Calibri"/>
              </a:rPr>
              <a:t>🌊 Erosion &amp; Sediment Transport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4069080"/>
            <a:ext cx="22494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6E6A60"/>
                </a:solidFill>
                <a:latin typeface="Calibri"/>
              </a:rPr>
              <a:t>erosion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19856" y="3566160"/>
            <a:ext cx="2615184" cy="86868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21024" y="3712463"/>
            <a:ext cx="22494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2C4A3E"/>
                </a:solidFill>
                <a:latin typeface="Calibri"/>
              </a:rPr>
              <a:t>🪨 Rock Layers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21024" y="4069080"/>
            <a:ext cx="22494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6E6A60"/>
                </a:solidFill>
                <a:latin typeface="Calibri"/>
              </a:rPr>
              <a:t>geology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3566160"/>
            <a:ext cx="2615184" cy="86868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3712463"/>
            <a:ext cx="22494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2C4A3E"/>
                </a:solidFill>
                <a:latin typeface="Calibri"/>
              </a:rPr>
              <a:t>↑ Tectonic Uplift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069080"/>
            <a:ext cx="22494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6E6A60"/>
                </a:solidFill>
                <a:latin typeface="Calibri"/>
              </a:rPr>
              <a:t>uplift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434840"/>
            <a:ext cx="3319272" cy="960120"/>
          </a:xfrm>
          <a:prstGeom prst="roundRect">
            <a:avLst>
              <a:gd name="adj" fmla="val 1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58200" y="457200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⚠  Rainfall &amp; Runoff, Vegetation Cover &amp; the Erosion processes need Water Flow Routing to take effect — flagged “Required” in the app.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B85042"/>
                </a:solidFill>
                <a:latin typeface="Calibri"/>
              </a:rPr>
              <a:t>STEP 6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100" b="1" i="0">
                <a:solidFill>
                  <a:srgbClr val="2C4A3E"/>
                </a:solidFill>
                <a:latin typeface="Calibri"/>
              </a:rPr>
              <a:t>Run the Simulation</a:t>
            </a:r>
          </a:p>
        </p:txBody>
      </p:sp>
      <p:sp>
        <p:nvSpPr>
          <p:cNvPr id="5" name="Oval 4"/>
          <p:cNvSpPr/>
          <p:nvPr/>
        </p:nvSpPr>
        <p:spPr>
          <a:xfrm>
            <a:off x="10881360" y="457200"/>
            <a:ext cx="640080" cy="64008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4572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64922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050" b="1">
                <a:solidFill>
                  <a:srgbClr val="B85042"/>
                </a:solidFill>
                <a:latin typeface="Calibri"/>
              </a:rPr>
              <a:t>●  </a:t>
            </a:r>
            <a:r>
              <a:rPr sz="1450" b="1">
                <a:solidFill>
                  <a:srgbClr val="2C4A3E"/>
                </a:solidFill>
                <a:latin typeface="Calibri"/>
              </a:rPr>
              <a:t>Press Run Simulation. </a:t>
            </a:r>
            <a:r>
              <a:rPr sz="1450">
                <a:solidFill>
                  <a:srgbClr val="2B2B2B"/>
                </a:solidFill>
                <a:latin typeface="Calibri"/>
              </a:rPr>
              <a:t>The engine steps through time, applying every process each step on the shared landscape.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050" b="1">
                <a:solidFill>
                  <a:srgbClr val="B85042"/>
                </a:solidFill>
                <a:latin typeface="Calibri"/>
              </a:rPr>
              <a:t>●  </a:t>
            </a:r>
            <a:r>
              <a:rPr sz="1450" b="1">
                <a:solidFill>
                  <a:srgbClr val="2C4A3E"/>
                </a:solidFill>
                <a:latin typeface="Calibri"/>
              </a:rPr>
              <a:t>Watch live progress. </a:t>
            </a:r>
            <a:r>
              <a:rPr sz="1450">
                <a:solidFill>
                  <a:srgbClr val="2B2B2B"/>
                </a:solidFill>
                <a:latin typeface="Calibri"/>
              </a:rPr>
              <a:t>A progress indicator updates as it computes; the app stays usable throughout.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050" b="1">
                <a:solidFill>
                  <a:srgbClr val="B85042"/>
                </a:solidFill>
                <a:latin typeface="Calibri"/>
              </a:rPr>
              <a:t>●  </a:t>
            </a:r>
            <a:r>
              <a:rPr sz="1450" b="1">
                <a:solidFill>
                  <a:srgbClr val="2C4A3E"/>
                </a:solidFill>
                <a:latin typeface="Calibri"/>
              </a:rPr>
              <a:t>It runs in the background. </a:t>
            </a:r>
            <a:r>
              <a:rPr sz="1450">
                <a:solidFill>
                  <a:srgbClr val="2B2B2B"/>
                </a:solidFill>
                <a:latin typeface="Calibri"/>
              </a:rPr>
              <a:t>The heavy work is on a separate thread, so the window never freezes.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050" b="1">
                <a:solidFill>
                  <a:srgbClr val="B85042"/>
                </a:solidFill>
                <a:latin typeface="Calibri"/>
              </a:rPr>
              <a:t>●  </a:t>
            </a:r>
            <a:r>
              <a:rPr sz="1450" b="1">
                <a:solidFill>
                  <a:srgbClr val="2C4A3E"/>
                </a:solidFill>
                <a:latin typeface="Calibri"/>
              </a:rPr>
              <a:t>Then it opens the results </a:t>
            </a:r>
            <a:r>
              <a:rPr sz="1450">
                <a:solidFill>
                  <a:srgbClr val="2B2B2B"/>
                </a:solidFill>
                <a:latin typeface="Calibri"/>
              </a:rPr>
              <a:t>screen automatically when the run finishes.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691640"/>
            <a:ext cx="4114800" cy="3566160"/>
          </a:xfrm>
          <a:prstGeom prst="roundRect">
            <a:avLst>
              <a:gd name="adj" fmla="val 10000"/>
            </a:avLst>
          </a:prstGeom>
          <a:solidFill>
            <a:srgbClr val="2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0" y="192024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9CC486"/>
                </a:solidFill>
                <a:latin typeface="Calibri"/>
              </a:rPr>
              <a:t>UNDER THE HOOD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377440"/>
            <a:ext cx="356616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DDD9CD"/>
                </a:solidFill>
                <a:latin typeface="Calibri"/>
              </a:rPr>
              <a:t>Every step runs the forces in a fixed order: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9CC486"/>
                </a:solidFill>
                <a:latin typeface="Calibri"/>
              </a:rPr>
              <a:t>rain → plants → water routing → hillslope creep → erosion → rock update → uplift.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1350" b="1" i="0">
              <a:solidFill>
                <a:srgbClr val="9CC48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DDD9CD"/>
                </a:solidFill>
                <a:latin typeface="Calibri"/>
              </a:rPr>
              <a:t>Internal pits and lakes are handled automatically, so you don't need to pre-fill your DEM.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B85042"/>
                </a:solidFill>
                <a:latin typeface="Calibri"/>
              </a:rPr>
              <a:t>READING THE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100" b="1" i="0">
                <a:solidFill>
                  <a:srgbClr val="2C4A3E"/>
                </a:solidFill>
                <a:latin typeface="Calibri"/>
              </a:rPr>
              <a:t>Explore the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6E6A60"/>
                </a:solidFill>
                <a:latin typeface="Calibri"/>
              </a:rPr>
              <a:t>The results screen groups everything into tabs — switch between them to see the run from every angle: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3611880" cy="155448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400" b="0" i="0">
                <a:solidFill>
                  <a:srgbClr val="B85042"/>
                </a:solidFill>
                <a:latin typeface="Calibri"/>
              </a:rPr>
              <a:t>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276856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C4A3E"/>
                </a:solidFill>
                <a:latin typeface="Calibri"/>
              </a:rPr>
              <a:t>2D Maps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6E6A60"/>
                </a:solidFill>
                <a:latin typeface="Calibri"/>
              </a:rPr>
              <a:t>Before, after, and a difference map — where land eroded vs built 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057400"/>
            <a:ext cx="3611880" cy="155448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2240280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400" b="0" i="0">
                <a:solidFill>
                  <a:srgbClr val="B85042"/>
                </a:solidFill>
                <a:latin typeface="Calibri"/>
              </a:rPr>
              <a:t>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276856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C4A3E"/>
                </a:solidFill>
                <a:latin typeface="Calibri"/>
              </a:rPr>
              <a:t>3D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834640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6E6A60"/>
                </a:solidFill>
                <a:latin typeface="Calibri"/>
              </a:rPr>
              <a:t>Spin &amp; zoom the evolved terrain — interactive, runs offline.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057400"/>
            <a:ext cx="3611880" cy="155448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2240280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400" b="0" i="0">
                <a:solidFill>
                  <a:srgbClr val="B85042"/>
                </a:solidFill>
                <a:latin typeface="Calibri"/>
              </a:rPr>
              <a:t>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2276856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C4A3E"/>
                </a:solidFill>
                <a:latin typeface="Calibri"/>
              </a:rPr>
              <a:t>Timelines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834640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6E6A60"/>
                </a:solidFill>
                <a:latin typeface="Calibri"/>
              </a:rPr>
              <a:t>Two scrubbable animations: the terrain evolving, and cumulative erosion/deposition.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13048"/>
            <a:ext cx="3611880" cy="155448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995928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400" b="0" i="0">
                <a:solidFill>
                  <a:srgbClr val="B85042"/>
                </a:solidFill>
                <a:latin typeface="Calibri"/>
              </a:rPr>
              <a:t>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032504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C4A3E"/>
                </a:solidFill>
                <a:latin typeface="Calibri"/>
              </a:rPr>
              <a:t>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590288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6E6A60"/>
                </a:solidFill>
                <a:latin typeface="Calibri"/>
              </a:rPr>
              <a:t>Erosion/deposition map, onset &amp; peak of change, soil thickness, sediment budget, drainage network.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813048"/>
            <a:ext cx="3611880" cy="155448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3440" y="3995928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400" b="0" i="0">
                <a:solidFill>
                  <a:srgbClr val="B85042"/>
                </a:solidFill>
                <a:latin typeface="Calibri"/>
              </a:rPr>
              <a:t>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4032504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C4A3E"/>
                </a:solidFill>
                <a:latin typeface="Calibri"/>
              </a:rPr>
              <a:t>Feature Tracking 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590288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6E6A60"/>
                </a:solidFill>
                <a:latin typeface="Calibri"/>
              </a:rPr>
              <a:t>If enabled: an interactive map of your area, with the first-effect marked.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813048"/>
            <a:ext cx="3611880" cy="155448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58200" y="3995928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400" b="0" i="0">
                <a:solidFill>
                  <a:srgbClr val="B85042"/>
                </a:solidFill>
                <a:latin typeface="Calibri"/>
              </a:rPr>
              <a:t>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4032504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C4A3E"/>
                </a:solidFill>
                <a:latin typeface="Calibri"/>
              </a:rPr>
              <a:t>Show Statistics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590288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6E6A60"/>
                </a:solidFill>
                <a:latin typeface="Calibri"/>
              </a:rPr>
              <a:t>Performance &amp; diagnostic metrics for the run.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9CC486"/>
                </a:solidFill>
                <a:latin typeface="Calibri"/>
              </a:rPr>
              <a:t>THE KEY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100" b="1" i="0">
                <a:solidFill>
                  <a:srgbClr val="FFFFFF"/>
                </a:solidFill>
                <a:latin typeface="Calibri"/>
              </a:rPr>
              <a:t>Reading the Difference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DDD9CD"/>
                </a:solidFill>
                <a:latin typeface="Calibri"/>
              </a:rPr>
              <a:t>The difference map (final − initial) is the headline result — it shows exactly where, and how much, the land changed.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240280"/>
            <a:ext cx="640080" cy="64008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2860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624328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DDD9CD"/>
                </a:solidFill>
                <a:latin typeface="Calibri"/>
              </a:rPr>
              <a:t>the land eroded (material left)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108960"/>
            <a:ext cx="640080" cy="640080"/>
          </a:xfrm>
          <a:prstGeom prst="ellipse">
            <a:avLst/>
          </a:prstGeom>
          <a:solidFill>
            <a:srgbClr val="E7E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45920" y="31546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WHITE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493008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DDD9CD"/>
                </a:solidFill>
                <a:latin typeface="Calibri"/>
              </a:rPr>
              <a:t>stable ground — no change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977639"/>
            <a:ext cx="640080" cy="640080"/>
          </a:xfrm>
          <a:prstGeom prst="ellipse">
            <a:avLst/>
          </a:prstGeom>
          <a:solidFill>
            <a:srgbClr val="3E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361688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DDD9CD"/>
                </a:solidFill>
                <a:latin typeface="Calibri"/>
              </a:rPr>
              <a:t>deposition (material arrived)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2194560"/>
            <a:ext cx="4846320" cy="2834640"/>
          </a:xfrm>
          <a:prstGeom prst="roundRect">
            <a:avLst>
              <a:gd name="adj" fmla="val 10000"/>
            </a:avLst>
          </a:prstGeom>
          <a:solidFill>
            <a:srgbClr val="203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0" y="2395728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9CC486"/>
                </a:solidFill>
                <a:latin typeface="Calibri"/>
              </a:rPr>
              <a:t>HOW TO READ IT FAIRLY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816352"/>
            <a:ext cx="434340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E7E3D7"/>
                </a:solidFill>
                <a:latin typeface="Calibri"/>
              </a:rPr>
              <a:t>The scale is symmetric, so 0 m of change sits dead-centre as pure white — unchanged ground is never falsely coloured.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1350" b="0" i="0">
              <a:solidFill>
                <a:srgbClr val="E7E3D7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E7E3D7"/>
                </a:solidFill>
                <a:latin typeface="Calibri"/>
              </a:rPr>
              <a:t>On uplift (Tectonics) runs, a “Remove tectonic uplift” toggle (on by default) strips the rising land so you see the true erosion / deposition.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B85042"/>
                </a:solidFill>
                <a:latin typeface="Calibri"/>
              </a:rPr>
              <a:t>WHAT'S SAVED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100" b="1" i="0">
                <a:solidFill>
                  <a:srgbClr val="2C4A3E"/>
                </a:solidFill>
                <a:latin typeface="Calibri"/>
              </a:rPr>
              <a:t>Every Run is Written to Disk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6E6A60"/>
                </a:solidFill>
                <a:latin typeface="Calibri"/>
              </a:rPr>
              <a:t>Each run gets its own simulation_&lt;N&gt;/ folder inside your chosen output folder (resources/outputs/ by default):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486400" cy="11430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200" b="0" i="0">
                <a:solidFill>
                  <a:srgbClr val="B85042"/>
                </a:solidFill>
                <a:latin typeface="Calibri"/>
              </a:rPr>
              <a:t>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2860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2C4A3E"/>
                </a:solidFill>
                <a:latin typeface="Calibri"/>
              </a:rPr>
              <a:t>Map images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651760"/>
            <a:ext cx="4343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E6A60"/>
                </a:solidFill>
                <a:latin typeface="Calibri"/>
              </a:rPr>
              <a:t>init.png, final.png, diff.png — plus per-timestep snapshots in dem_snapshots/ &amp; difference_snapshots/.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103120"/>
            <a:ext cx="5486400" cy="11430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2359152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200" b="0" i="0">
                <a:solidFill>
                  <a:srgbClr val="B85042"/>
                </a:solidFill>
                <a:latin typeface="Calibri"/>
              </a:rPr>
              <a:t>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2860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2C4A3E"/>
                </a:solidFill>
                <a:latin typeface="Calibri"/>
              </a:rPr>
              <a:t>GeoTIFFs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651760"/>
            <a:ext cx="4343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E6A60"/>
                </a:solidFill>
                <a:latin typeface="Calibri"/>
              </a:rPr>
              <a:t>final.tif, diff.tif — georeferenced, ready to open in QGIS / ArcGIS.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29000"/>
            <a:ext cx="5486400" cy="11430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685032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200" b="0" i="0">
                <a:solidFill>
                  <a:srgbClr val="B85042"/>
                </a:solidFill>
                <a:latin typeface="Calibri"/>
              </a:rPr>
              <a:t>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61188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2C4A3E"/>
                </a:solidFill>
                <a:latin typeface="Calibri"/>
              </a:rPr>
              <a:t>Interactive HTML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977639"/>
            <a:ext cx="4343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E6A60"/>
                </a:solidFill>
                <a:latin typeface="Calibri"/>
              </a:rPr>
              <a:t>view_3d_comparison.html, terrain_timeline.html, sediment_timeline.html — the 3D &amp; timeline views.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429000"/>
            <a:ext cx="5486400" cy="11430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3685032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200" b="0" i="0">
                <a:solidFill>
                  <a:srgbClr val="B85042"/>
                </a:solidFill>
                <a:latin typeface="Calibri"/>
              </a:rPr>
              <a:t>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61188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2C4A3E"/>
                </a:solidFill>
                <a:latin typeface="Calibri"/>
              </a:rPr>
              <a:t>Analysis plots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977639"/>
            <a:ext cx="4343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E6A60"/>
                </a:solidFill>
                <a:latin typeface="Calibri"/>
              </a:rPr>
              <a:t>erosion/deposition map, onset &amp; peak of change, soil thickness, sediment budget, drainage network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754879"/>
            <a:ext cx="5486400" cy="11430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010912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200" b="0" i="0">
                <a:solidFill>
                  <a:srgbClr val="B85042"/>
                </a:solidFill>
                <a:latin typeface="Calibri"/>
              </a:rPr>
              <a:t>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937759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2C4A3E"/>
                </a:solidFill>
                <a:latin typeface="Calibri"/>
              </a:rPr>
              <a:t>Run details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5303519"/>
            <a:ext cx="4343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E6A60"/>
                </a:solidFill>
                <a:latin typeface="Calibri"/>
              </a:rPr>
              <a:t>simulation_details.txt — parameters, processes &amp; diagnostics.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754879"/>
            <a:ext cx="5486400" cy="11430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7960" y="5010912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200" b="0" i="0">
                <a:solidFill>
                  <a:srgbClr val="B85042"/>
                </a:solidFill>
                <a:latin typeface="Calibri"/>
              </a:rPr>
              <a:t>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4937759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2C4A3E"/>
                </a:solidFill>
                <a:latin typeface="Calibri"/>
              </a:rPr>
              <a:t>Feature files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5303519"/>
            <a:ext cx="4343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E6A60"/>
                </a:solidFill>
                <a:latin typeface="Calibri"/>
              </a:rPr>
              <a:t>feature_tracking.csv &amp; .png — only if feature tracking was 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9CC486"/>
                </a:solidFill>
                <a:latin typeface="Calibri"/>
              </a:rPr>
              <a:t>BEFORE YOU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100" b="1" i="0">
                <a:solidFill>
                  <a:srgbClr val="FFFFFF"/>
                </a:solidFill>
                <a:latin typeface="Calibri"/>
              </a:rPr>
              <a:t>Get the Input Right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DDD9CD"/>
                </a:solidFill>
                <a:latin typeface="Calibri"/>
              </a:rPr>
              <a:t>A few input rules keep results meaningful. Inputs that break them produce nonsense (usually a runaway “deposition” spike).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257800" cy="16002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B85042"/>
                </a:solidFill>
                <a:latin typeface="Calibri"/>
              </a:rPr>
              <a:t>One DEM = one catchment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88336"/>
            <a:ext cx="4709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The tile should hold a single watershed draining to one outlet. Clip multi-basin tiles into separate DEMs first.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257800" cy="16002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28600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B85042"/>
                </a:solidFill>
                <a:latin typeface="Calibri"/>
              </a:rPr>
              <a:t>Define NoData properly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688336"/>
            <a:ext cx="4709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Cells outside the catchment must be marked NoData (not 0). Otherwise flow routes into the void and the result blows up.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86200"/>
            <a:ext cx="5257800" cy="16002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B85042"/>
                </a:solidFill>
                <a:latin typeface="Calibri"/>
              </a:rPr>
              <a:t>Pits are handled for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71416"/>
            <a:ext cx="4709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You don't need to pre-fill sinks — the engine reroutes them each step. A lightly-smoothed DEM just runs faster.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886200"/>
            <a:ext cx="5257800" cy="16002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406908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B85042"/>
                </a:solidFill>
                <a:latin typeface="Calibri"/>
              </a:rPr>
              <a:t>Full resolution = heavy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471416"/>
            <a:ext cx="4709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The physics never downsamples. Big, fine tiles drive runtime &amp; RAM — clip or coarsen if a run is too heavy.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06440"/>
            <a:ext cx="109087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1">
                <a:solidFill>
                  <a:srgbClr val="DDD9CD"/>
                </a:solidFill>
                <a:latin typeface="Calibri"/>
              </a:rPr>
              <a:t>If a tile slips through with a tied (wide / flat) outlet, the app won't crash — it auto-picks the pour point (the edge cell with the largest drainage area) and logs it. Clipping to a single-outlet catchment is still the most accurate.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457200" y="5760720"/>
            <a:ext cx="13258800" cy="365760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457200" y="6080760"/>
            <a:ext cx="13258800" cy="82296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9CC486"/>
                </a:solidFill>
                <a:latin typeface="Calibri"/>
              </a:rPr>
              <a:t>THE WHOLE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Six steps, from map to insight.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788920"/>
            <a:ext cx="420624" cy="420624"/>
          </a:xfrm>
          <a:prstGeom prst="ellipse">
            <a:avLst/>
          </a:prstGeom>
          <a:solidFill>
            <a:srgbClr val="3E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825496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E7E3D7"/>
                </a:solidFill>
                <a:latin typeface="Calibri"/>
              </a:rPr>
              <a:t>Pick your DEM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258920"/>
            <a:ext cx="420624" cy="420624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2589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295496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E7E3D7"/>
                </a:solidFill>
                <a:latin typeface="Calibri"/>
              </a:rPr>
              <a:t>Set the simulation period &amp; time step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728920"/>
            <a:ext cx="420624" cy="420624"/>
          </a:xfrm>
          <a:prstGeom prst="ellipse">
            <a:avLst/>
          </a:prstGeom>
          <a:solidFill>
            <a:srgbClr val="8A6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7289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765496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E7E3D7"/>
                </a:solidFill>
                <a:latin typeface="Calibri"/>
              </a:rPr>
              <a:t>(Optional) track a feature of interest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198920"/>
            <a:ext cx="420624" cy="420624"/>
          </a:xfrm>
          <a:prstGeom prst="ellipse">
            <a:avLst/>
          </a:prstGeom>
          <a:solidFill>
            <a:srgbClr val="8A6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1989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235496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E7E3D7"/>
                </a:solidFill>
                <a:latin typeface="Calibri"/>
              </a:rPr>
              <a:t>Add &amp; configure the processes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4668920"/>
            <a:ext cx="420624" cy="42062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6689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705496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E7E3D7"/>
                </a:solidFill>
                <a:latin typeface="Calibri"/>
              </a:rPr>
              <a:t>Choose your output folder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5138920"/>
            <a:ext cx="420624" cy="420624"/>
          </a:xfrm>
          <a:prstGeom prst="ellipse">
            <a:avLst/>
          </a:prstGeom>
          <a:solidFill>
            <a:srgbClr val="8A6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1389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175496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E7E3D7"/>
                </a:solidFill>
                <a:latin typeface="Calibri"/>
              </a:rPr>
              <a:t>Run, then explore 2D / 3D / timeline /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B85042"/>
                </a:solidFill>
                <a:latin typeface="Calibri"/>
              </a:rPr>
              <a:t>STEP 5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100" b="1" i="0">
                <a:solidFill>
                  <a:srgbClr val="2C4A3E"/>
                </a:solidFill>
                <a:latin typeface="Calibri"/>
              </a:rPr>
              <a:t>Choose Your Output Folder</a:t>
            </a:r>
          </a:p>
        </p:txBody>
      </p:sp>
      <p:sp>
        <p:nvSpPr>
          <p:cNvPr id="5" name="Oval 4"/>
          <p:cNvSpPr/>
          <p:nvPr/>
        </p:nvSpPr>
        <p:spPr>
          <a:xfrm>
            <a:off x="10881360" y="457200"/>
            <a:ext cx="640080" cy="640080"/>
          </a:xfrm>
          <a:prstGeom prst="ellipse">
            <a:avLst/>
          </a:prstGeom>
          <a:solidFill>
            <a:srgbClr val="3E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4572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64008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050" b="1">
                <a:solidFill>
                  <a:srgbClr val="B85042"/>
                </a:solidFill>
                <a:latin typeface="Calibri"/>
              </a:rPr>
              <a:t>●  </a:t>
            </a:r>
            <a:r>
              <a:rPr sz="1450" b="1">
                <a:solidFill>
                  <a:srgbClr val="2C4A3E"/>
                </a:solidFill>
                <a:latin typeface="Calibri"/>
              </a:rPr>
              <a:t>It's its own step now. </a:t>
            </a:r>
            <a:r>
              <a:rPr sz="1450">
                <a:solidFill>
                  <a:srgbClr val="2B2B2B"/>
                </a:solidFill>
                <a:latin typeface="Calibri"/>
              </a:rPr>
              <a:t>Output Folder is a separate section at the end of setup, after you've picked your processes — not bundled with the DEM.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050" b="1">
                <a:solidFill>
                  <a:srgbClr val="B85042"/>
                </a:solidFill>
                <a:latin typeface="Calibri"/>
              </a:rPr>
              <a:t>●  </a:t>
            </a:r>
            <a:r>
              <a:rPr sz="1450" b="1">
                <a:solidFill>
                  <a:srgbClr val="2C4A3E"/>
                </a:solidFill>
                <a:latin typeface="Calibri"/>
              </a:rPr>
              <a:t>Pre-filled for you. </a:t>
            </a:r>
            <a:r>
              <a:rPr sz="1450">
                <a:solidFill>
                  <a:srgbClr val="2B2B2B"/>
                </a:solidFill>
                <a:latin typeface="Calibri"/>
              </a:rPr>
              <a:t>Defaults to the app's own outputs location, or whichever folder you used last time.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050" b="1">
                <a:solidFill>
                  <a:srgbClr val="B85042"/>
                </a:solidFill>
                <a:latin typeface="Calibri"/>
              </a:rPr>
              <a:t>●  </a:t>
            </a:r>
            <a:r>
              <a:rPr sz="1450" b="1">
                <a:solidFill>
                  <a:srgbClr val="2C4A3E"/>
                </a:solidFill>
                <a:latin typeface="Calibri"/>
              </a:rPr>
              <a:t>Browse to redirect it. </a:t>
            </a:r>
            <a:r>
              <a:rPr sz="1450">
                <a:solidFill>
                  <a:srgbClr val="2B2B2B"/>
                </a:solidFill>
                <a:latin typeface="Calibri"/>
              </a:rPr>
              <a:t>Pick anywhere on your filesystem; each run writes to a numbered simulation_&lt;N&gt;/ subfolder inside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600200"/>
            <a:ext cx="4114800" cy="3840480"/>
          </a:xfrm>
          <a:prstGeom prst="roundRect">
            <a:avLst>
              <a:gd name="adj" fmla="val 10000"/>
            </a:avLst>
          </a:prstGeom>
          <a:solidFill>
            <a:srgbClr val="2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0" y="1810512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9CC486"/>
                </a:solidFill>
                <a:latin typeface="Calibri"/>
              </a:rPr>
              <a:t>GOOD TO KNOW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286000"/>
            <a:ext cx="35661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E7E3D7"/>
                </a:solidFill>
                <a:latin typeface="Calibri"/>
              </a:rPr>
              <a:t>Numbering is per-folder. simulation_1, simulation_2, … count independently for each output folder you pick.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1350" b="0" i="0">
              <a:solidFill>
                <a:srgbClr val="E7E3D7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E7E3D7"/>
                </a:solidFill>
                <a:latin typeface="Calibri"/>
              </a:rPr>
              <a:t>Nothing runs yet. Changing this folder doesn't start anything — it just decides where the next run will land.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1350" b="0" i="0">
              <a:solidFill>
                <a:srgbClr val="E7E3D7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E7E3D7"/>
                </a:solidFill>
                <a:latin typeface="Calibri"/>
              </a:rPr>
              <a:t>Revisit it anytime before pressing Run Simulation on the next step.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1668</Words>
  <Application>Microsoft Macintosh PowerPoint</Application>
  <PresentationFormat>Widescreen</PresentationFormat>
  <Paragraphs>187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Vinuri Piyathilake</cp:lastModifiedBy>
  <cp:revision>2</cp:revision>
  <dcterms:created xsi:type="dcterms:W3CDTF">2013-01-27T09:14:16Z</dcterms:created>
  <dcterms:modified xsi:type="dcterms:W3CDTF">2026-09-16T01:57:58Z</dcterms:modified>
  <cp:category/>
</cp:coreProperties>
</file>