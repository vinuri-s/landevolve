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69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457200" y="5120640"/>
            <a:ext cx="13258800" cy="457200"/>
          </a:xfrm>
          <a:prstGeom prst="rect">
            <a:avLst/>
          </a:prstGeom>
          <a:solidFill>
            <a:srgbClr val="203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457200" y="5486400"/>
            <a:ext cx="13258800" cy="45720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-457200" y="5897880"/>
            <a:ext cx="13258800" cy="100584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9CC486"/>
                </a:solidFill>
                <a:latin typeface="Calibri"/>
              </a:rPr>
              <a:t>USER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5600" b="1" i="0">
                <a:solidFill>
                  <a:srgbClr val="FFFFFF"/>
                </a:solidFill>
                <a:latin typeface="Calibri"/>
              </a:rPr>
              <a:t>Using LandEvolve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0" i="0">
                <a:solidFill>
                  <a:srgbClr val="E7E3D7"/>
                </a:solidFill>
                <a:latin typeface="Calibri"/>
              </a:rPr>
              <a:t>A start-to-finish walkthrough: load a landscape, set up the run,
simulate, and explore the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9CC486"/>
                </a:solidFill>
                <a:latin typeface="Calibri"/>
              </a:rPr>
              <a:t>Pick a DEM · Set the time · Add the forces · Run · Explore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Download LandEvolve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LandEvolve is distributed as a ready-to-run build on GitHub — no Python install or setup required. Grab it in three steps: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920239" y="2514600"/>
            <a:ext cx="914400" cy="91440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20239" y="249631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Open the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4251960"/>
            <a:ext cx="2834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Go to github.com/vinuri-s/landEvolve, then click Releases in the sidebar.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33832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>
                <a:solidFill>
                  <a:srgbClr val="6B8E5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623560" y="2514600"/>
            <a:ext cx="914400" cy="9144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23560" y="249631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Pick a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Open the latest release at the top — downloads are listed under Assets.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33832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>
                <a:solidFill>
                  <a:srgbClr val="6B8E5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326880" y="2514600"/>
            <a:ext cx="914400" cy="9144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249631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Download Your 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4251960"/>
            <a:ext cx="2834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Get LandEvolve-macos.zip or LandEvolve-windows.zip, whichever matches your computer.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1">
                <a:solidFill>
                  <a:srgbClr val="6E6A60"/>
                </a:solidFill>
                <a:latin typeface="Calibri"/>
              </a:rPr>
              <a:t>Every release is built straight from the source code, so the download always matches a tagged version of the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Install &amp; Run It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Unzipped the download? Here's how to open LandEvolve — no installer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14400" y="2395728"/>
            <a:ext cx="457200" cy="45720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C4A3E"/>
                </a:solidFill>
                <a:latin typeface="Calibri"/>
              </a:rP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6E6A60"/>
                </a:solidFill>
                <a:latin typeface="Calibri"/>
              </a:rPr>
              <a:t>Right-click LandEvolve.app → Open (blocked because the app isn't Apple-notarized — normal for independent apps, not a sign it's harmful). Still blocked? In Terminal, type “xattr -cr ”, drag the app in to fill its path, then press Return.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257800" cy="17373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C4A3E"/>
                </a:solidFill>
                <a:latin typeface="Calibri"/>
              </a:rPr>
              <a:t>Windows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7180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6E6A60"/>
                </a:solidFill>
                <a:latin typeface="Calibri"/>
              </a:rPr>
              <a:t>Double-click LandEvolve.exe inside the folder. If SmartScreen warns you, click More info → Run anyway.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10908792" cy="141732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FIRST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The app creates its own logs, database, and outputs folders right next to the executable — no admin rights needed, nothing written anywhere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Three Screens, One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LandEvolve takes a real elevation map, runs the natural forces forward in time, and shows you the result. You move through three screens: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920239" y="2514600"/>
            <a:ext cx="914400" cy="91440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20239" y="249631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4251960"/>
            <a:ext cx="2834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The landing dashboard — start a new simulation from 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1" y="33832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>
                <a:solidFill>
                  <a:srgbClr val="6B8E5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623560" y="2514600"/>
            <a:ext cx="914400" cy="9144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23560" y="249631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Choose your DEM &amp; output folder, run length, and the forces (components) to apply.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33832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>
                <a:solidFill>
                  <a:srgbClr val="6B8E5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94560"/>
            <a:ext cx="3474720" cy="31089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326880" y="2514600"/>
            <a:ext cx="914400" cy="9144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249631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657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2C4A3E"/>
                </a:solidFill>
                <a:latin typeface="Calibri"/>
              </a:rPr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4251960"/>
            <a:ext cx="2834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6E6A60"/>
                </a:solidFill>
                <a:latin typeface="Calibri"/>
              </a:rPr>
              <a:t>Explore the evolved terrain in 2D, 3D, timelines, and analysis plots.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1">
                <a:solidFill>
                  <a:srgbClr val="6E6A60"/>
                </a:solidFill>
                <a:latin typeface="Calibri"/>
              </a:rPr>
              <a:t>The setup runs on a background thread — the app stays responsive while a simulation is computing.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Pick Your DEM &amp; Output Folder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4008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Browse for your DEM. </a:t>
            </a:r>
            <a:r>
              <a:rPr sz="1450">
                <a:solidFill>
                  <a:srgbClr val="2B2B2B"/>
                </a:solidFill>
                <a:latin typeface="Calibri"/>
              </a:rPr>
              <a:t>Select a GeoTIFF (.tif) elevation map from your own filesystem — this is the DEM the simulation will run 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Choose an output folder. </a:t>
            </a:r>
            <a:r>
              <a:rPr sz="1450">
                <a:solidFill>
                  <a:srgbClr val="2B2B2B"/>
                </a:solidFill>
                <a:latin typeface="Calibri"/>
              </a:rPr>
              <a:t>Pre-filled with the app's default location (or your last choice) — Browse to save this run's results somewhere else.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Preview &amp; check it. </a:t>
            </a:r>
            <a:r>
              <a:rPr sz="1450">
                <a:solidFill>
                  <a:srgbClr val="2B2B2B"/>
                </a:solidFill>
                <a:latin typeface="Calibri"/>
              </a:rPr>
              <a:t>The satellite Location Preview centres on the DEM and can overlay its boundary; a details line reports size, resolution, CRS, and elevation range.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600200"/>
            <a:ext cx="4114800" cy="384048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1810512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GOOD TO KNOW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286000"/>
            <a:ext cx="35661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The simulation runs at the DEM's full, native resolution — nothing is downsampled during the physics.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endParaRPr sz="1350" b="0" i="0">
              <a:solidFill>
                <a:srgbClr val="E7E3D7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A bigger / finer tile means a longer, heavier run — clip or coarsen it if a run is too slow.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endParaRPr sz="1350" b="0" i="0">
              <a:solidFill>
                <a:srgbClr val="E7E3D7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Maps in degrees are auto-converted to metres, so slopes and areas are physical.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Set How Long to Simulate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Two numbers control the run — how far into the future you go, and how big each step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14400" y="2395728"/>
            <a:ext cx="457200" cy="45720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C4A3E"/>
                </a:solidFill>
                <a:latin typeface="Calibri"/>
              </a:rPr>
              <a:t>Simulation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6E6A60"/>
                </a:solidFill>
                <a:latin typeface="Calibri"/>
              </a:rPr>
              <a:t>The total time to simulate (e.g. thousands of years). How far the landscape evolves.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257800" cy="173736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C4A3E"/>
                </a:solidFill>
                <a:latin typeface="Calibri"/>
              </a:rPr>
              <a:t>Time Step (dt)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7180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6E6A60"/>
                </a:solidFill>
                <a:latin typeface="Calibri"/>
              </a:rPr>
              <a:t>The size of each step the engine takes. The run does (period ÷ dt) steps in total.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10908792" cy="141732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REMEMBER — THESE ARE LONG-TERM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Each step represents long-term, effective forcing (years to millennia), not single storms. Smaller steps are more accurate but slower; very large steps can become unstable. Pick a step small relative to your total period.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3 OF 5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Track a Feature of Interest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8A6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6E6A60"/>
                </a:solidFill>
                <a:latin typeface="Calibri"/>
              </a:rPr>
              <a:t>Care about one specific place — a fan, terrace, road, channel, or archaeological site? Have LandEvolve watch just that area and tell you when the evolving landscape (erosion or deposition) first reaches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64008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85042"/>
                </a:solidFill>
                <a:latin typeface="Calibri"/>
              </a:rPr>
              <a:t>●  </a:t>
            </a:r>
            <a:r>
              <a:rPr sz="1400" b="1">
                <a:solidFill>
                  <a:srgbClr val="2C4A3E"/>
                </a:solidFill>
                <a:latin typeface="Calibri"/>
              </a:rPr>
              <a:t>Tick “Track Interested Landscape Feature” </a:t>
            </a:r>
            <a:r>
              <a:rPr sz="1400">
                <a:solidFill>
                  <a:srgbClr val="2B2B2B"/>
                </a:solidFill>
                <a:latin typeface="Calibri"/>
              </a:rPr>
              <a:t>in Input Setup, then browse to a polygon shapefile (.shp) outlining the area.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85042"/>
                </a:solidFill>
                <a:latin typeface="Calibri"/>
              </a:rPr>
              <a:t>●  </a:t>
            </a:r>
            <a:r>
              <a:rPr sz="1400" b="1">
                <a:solidFill>
                  <a:srgbClr val="2C4A3E"/>
                </a:solidFill>
                <a:latin typeface="Calibri"/>
              </a:rPr>
              <a:t>Any CRS works </a:t>
            </a:r>
            <a:r>
              <a:rPr sz="1400">
                <a:solidFill>
                  <a:srgbClr val="2B2B2B"/>
                </a:solidFill>
                <a:latin typeface="Calibri"/>
              </a:rPr>
              <a:t>— it's auto-reprojected to match the DEM, and drawn on the preview so you can confirm placement.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000" b="1">
                <a:solidFill>
                  <a:srgbClr val="B85042"/>
                </a:solidFill>
                <a:latin typeface="Calibri"/>
              </a:rPr>
              <a:t>●  </a:t>
            </a:r>
            <a:r>
              <a:rPr sz="1400" b="1">
                <a:solidFill>
                  <a:srgbClr val="2C4A3E"/>
                </a:solidFill>
                <a:latin typeface="Calibri"/>
              </a:rPr>
              <a:t>Set the First-Effect Threshold </a:t>
            </a:r>
            <a:r>
              <a:rPr sz="1400">
                <a:solidFill>
                  <a:srgbClr val="2B2B2B"/>
                </a:solidFill>
                <a:latin typeface="Calibri"/>
              </a:rPr>
              <a:t>(default 0.01 m) — how much change counts as the feature being “first affected”.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514600"/>
            <a:ext cx="4114800" cy="29260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2724912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YOU'LL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154680"/>
            <a:ext cx="35661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850" b="1">
                <a:solidFill>
                  <a:srgbClr val="6B8E5A"/>
                </a:solidFill>
                <a:latin typeface="Calibri"/>
              </a:rPr>
              <a:t>●  </a:t>
            </a:r>
            <a:r>
              <a:rPr sz="1250">
                <a:solidFill>
                  <a:srgbClr val="2B2B2B"/>
                </a:solidFill>
                <a:latin typeface="Calibri"/>
              </a:rPr>
              <a:t>An interactive map cropped to your feature, with first-change &amp; biggest-change marked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850" b="1">
                <a:solidFill>
                  <a:srgbClr val="6B8E5A"/>
                </a:solidFill>
                <a:latin typeface="Calibri"/>
              </a:rPr>
              <a:t>●  </a:t>
            </a:r>
            <a:r>
              <a:rPr sz="1250">
                <a:solidFill>
                  <a:srgbClr val="2B2B2B"/>
                </a:solidFill>
                <a:latin typeface="Calibri"/>
              </a:rPr>
              <a:t>Opens on the moment it was first affected (e.g. “~230 years”)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850" b="1">
                <a:solidFill>
                  <a:srgbClr val="6B8E5A"/>
                </a:solidFill>
                <a:latin typeface="Calibri"/>
              </a:rPr>
              <a:t>●  </a:t>
            </a:r>
            <a:r>
              <a:rPr sz="1250">
                <a:solidFill>
                  <a:srgbClr val="2B2B2B"/>
                </a:solidFill>
                <a:latin typeface="Calibri"/>
              </a:rPr>
              <a:t>A CSV + PNG saved to your output folder too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Add the Forces (Components)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6E6A60"/>
                </a:solidFill>
                <a:latin typeface="Calibri"/>
              </a:rPr>
              <a:t>Use Add Component to pick which natural processes to switch on, and configure each one's settings. Mix and match them like ingredients. (Each component is explained in the Component Manual.)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660904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🌧 Precipitation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0175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rain / climate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9856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2660904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🌿 Vegetation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30175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ground cover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2660904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💧 Flow Accumulator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175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routes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1460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80576" y="2660904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⛰ Hillslope Diffuser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30175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soil creep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712463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🌊 SPACE Eroder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06908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river erosion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19856" y="356616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21024" y="3712463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🪨 Lithology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406908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rock layers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566160"/>
            <a:ext cx="2615184" cy="8686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712463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C4A3E"/>
                </a:solidFill>
                <a:latin typeface="Calibri"/>
              </a:rPr>
              <a:t>↑ Tectonics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06908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uplift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4434840"/>
            <a:ext cx="3319272" cy="96012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720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⚠  Precipitation, Vegetation &amp; the eroders need a Flow Accumulator to take effect.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STEP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Run the Simulation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457200"/>
            <a:ext cx="640080" cy="64008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457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492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Press Run Simulation. </a:t>
            </a:r>
            <a:r>
              <a:rPr sz="1450">
                <a:solidFill>
                  <a:srgbClr val="2B2B2B"/>
                </a:solidFill>
                <a:latin typeface="Calibri"/>
              </a:rPr>
              <a:t>The engine steps through time, applying every component each step on the shared landscape.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Watch live progress. </a:t>
            </a:r>
            <a:r>
              <a:rPr sz="1450">
                <a:solidFill>
                  <a:srgbClr val="2B2B2B"/>
                </a:solidFill>
                <a:latin typeface="Calibri"/>
              </a:rPr>
              <a:t>A progress indicator updates as it computes; the app stays usable throughout.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It runs in the background. </a:t>
            </a:r>
            <a:r>
              <a:rPr sz="1450">
                <a:solidFill>
                  <a:srgbClr val="2B2B2B"/>
                </a:solidFill>
                <a:latin typeface="Calibri"/>
              </a:rPr>
              <a:t>The heavy work is on a separate thread, so the window never freezes.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50" b="1">
                <a:solidFill>
                  <a:srgbClr val="B85042"/>
                </a:solidFill>
                <a:latin typeface="Calibri"/>
              </a:rPr>
              <a:t>●  </a:t>
            </a:r>
            <a:r>
              <a:rPr sz="1450" b="1">
                <a:solidFill>
                  <a:srgbClr val="2C4A3E"/>
                </a:solidFill>
                <a:latin typeface="Calibri"/>
              </a:rPr>
              <a:t>Then it opens the results </a:t>
            </a:r>
            <a:r>
              <a:rPr sz="1450">
                <a:solidFill>
                  <a:srgbClr val="2B2B2B"/>
                </a:solidFill>
                <a:latin typeface="Calibri"/>
              </a:rPr>
              <a:t>screen automatically when the run finishes.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691640"/>
            <a:ext cx="4114800" cy="3566160"/>
          </a:xfrm>
          <a:prstGeom prst="roundRect">
            <a:avLst>
              <a:gd name="adj" fmla="val 10000"/>
            </a:avLst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192024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UNDER THE HOOD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377440"/>
            <a:ext cx="35661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DD9CD"/>
                </a:solidFill>
                <a:latin typeface="Calibri"/>
              </a:rPr>
              <a:t>Every step runs the forces in a fixed order: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9CC486"/>
                </a:solidFill>
                <a:latin typeface="Calibri"/>
              </a:rPr>
              <a:t>rain → plants → water routing → hillslope creep → river erosion → rock update → uplift.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endParaRPr sz="1350" b="1" i="0">
              <a:solidFill>
                <a:srgbClr val="9CC486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DD9CD"/>
                </a:solidFill>
                <a:latin typeface="Calibri"/>
              </a:rPr>
              <a:t>Internal pits and lakes are handled automatically, so you don't need to pre-fill your DEM.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READING THE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Explore the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The results screen groups everything into tabs — switch between them to see the run from every angle: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76856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2D Maps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Before, after, and a difference map — where land eroded vs built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057400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224028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276856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3D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3464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Spin &amp; zoom the evolved terrain — interactive, runs offline.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57400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58200" y="224028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276856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Timelines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Two scrubbable animations: the terrain evolving, and cumulative erosion/deposition.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13048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995928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032504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Erosion/deposition map, onset &amp; peak of change, soil thickness, sediment budget, drainage network.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813048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3995928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4032504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Feature Tracking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590288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If enabled: an interactive map of your area, with the first-effect marked.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13048"/>
            <a:ext cx="3611880" cy="155448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3995928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0" i="0">
                <a:solidFill>
                  <a:srgbClr val="B85042"/>
                </a:solidFill>
                <a:latin typeface="Calibri"/>
              </a:rPr>
              <a:t>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032504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C4A3E"/>
                </a:solidFill>
                <a:latin typeface="Calibri"/>
              </a:rPr>
              <a:t>Show Statistics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590288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E6A60"/>
                </a:solidFill>
                <a:latin typeface="Calibri"/>
              </a:rPr>
              <a:t>Performance &amp; diagnostic metrics for the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CC486"/>
                </a:solidFill>
                <a:latin typeface="Calibri"/>
              </a:rPr>
              <a:t>THE KEY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Reading the Difference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DDD9CD"/>
                </a:solidFill>
                <a:latin typeface="Calibri"/>
              </a:rPr>
              <a:t>The difference map (final − initial) is the headline result — it shows exactly where, and how much, the land changed.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2860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2432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DDD9CD"/>
                </a:solidFill>
                <a:latin typeface="Calibri"/>
              </a:rPr>
              <a:t>the land eroded (material left)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108960"/>
            <a:ext cx="640080" cy="640080"/>
          </a:xfrm>
          <a:prstGeom prst="ellipse">
            <a:avLst/>
          </a:prstGeom>
          <a:solidFill>
            <a:srgbClr val="E7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3154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49300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DDD9CD"/>
                </a:solidFill>
                <a:latin typeface="Calibri"/>
              </a:rPr>
              <a:t>stable ground — no change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977639"/>
            <a:ext cx="640080" cy="640080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0" y="4023359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6168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DDD9CD"/>
                </a:solidFill>
                <a:latin typeface="Calibri"/>
              </a:rPr>
              <a:t>deposition (material arrived)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194560"/>
            <a:ext cx="4846320" cy="2834640"/>
          </a:xfrm>
          <a:prstGeom prst="roundRect">
            <a:avLst>
              <a:gd name="adj" fmla="val 10000"/>
            </a:avLst>
          </a:prstGeom>
          <a:solidFill>
            <a:srgbClr val="203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2395728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9CC486"/>
                </a:solidFill>
                <a:latin typeface="Calibri"/>
              </a:rPr>
              <a:t>HOW TO READ IT FAIRLY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16352"/>
            <a:ext cx="4343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The scale is symmetric, so 0 m of change sits dead-centre as pure white — unchanged ground is never falsely coloured.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endParaRPr sz="1350" b="0" i="0">
              <a:solidFill>
                <a:srgbClr val="E7E3D7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E7E3D7"/>
                </a:solidFill>
                <a:latin typeface="Calibri"/>
              </a:rPr>
              <a:t>On uplift (Tectonics) runs, a “Remove tectonic uplift” toggle (on by default) strips the rising land so you see the true erosion / deposition.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B85042"/>
                </a:solidFill>
                <a:latin typeface="Calibri"/>
              </a:rPr>
              <a:t>WHAT'S SAVED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2C4A3E"/>
                </a:solidFill>
                <a:latin typeface="Calibri"/>
              </a:rPr>
              <a:t>Every Run is Written to Disk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E6A60"/>
                </a:solidFill>
                <a:latin typeface="Calibri"/>
              </a:rPr>
              <a:t>Each run gets its own simulation_&lt;N&gt;/ folder inside your chosen output folder (resources/outputs/ by default):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35915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8600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Map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51760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init.png, final.png, diff.png — plus per-timestep snapshots in dem_snapshots/ &amp; difference_snapshots/.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8600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GeoTIFFs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51760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final.tif, diff.tif — georeferenced, ready to open in QGIS / ArcGIS.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68503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6118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Interactive 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77639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view_3d_comparison.html, terrain_timeline.html, sediment_timeline.html — the 3D &amp; timeline views.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429000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68503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6118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Analysis plots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977639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erosion/deposition map, onset &amp; peak of change, soil thickness, sediment budget, drainage network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54879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01091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37759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Run details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303519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simulation_details.txt — parameters, components &amp; diagnostics.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754879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501091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200" b="0" i="0">
                <a:solidFill>
                  <a:srgbClr val="B85042"/>
                </a:solidFill>
                <a:latin typeface="Calibr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937759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C4A3E"/>
                </a:solidFill>
                <a:latin typeface="Calibri"/>
              </a:rPr>
              <a:t>Feature 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303519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E6A60"/>
                </a:solidFill>
                <a:latin typeface="Calibri"/>
              </a:rPr>
              <a:t>feature_tracking.csv &amp; .png — only if feature tracking was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CC486"/>
                </a:solidFill>
                <a:latin typeface="Calibri"/>
              </a:rPr>
              <a:t>BEFORE YOU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Get the Input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DDD9CD"/>
                </a:solidFill>
                <a:latin typeface="Calibri"/>
              </a:rPr>
              <a:t>A few input rules keep results meaningful. Inputs that break them produce nonsense (usually a runaway “deposition” spike).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One DEM = one catchment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4709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The tile should hold a single watershed draining to one outlet. Clip multi-basin tiles into separate DEMs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0312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Define NoData properly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88336"/>
            <a:ext cx="4709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Cells outside the catchment must be marked NoData (not 0). Otherwise flow routes into the void and the result blows 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Pits are handled for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4709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You don't need to pre-fill sinks — the engine reroutes them each step. A lightly-smoothed DEM just runs faster.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257800" cy="16002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B85042"/>
                </a:solidFill>
                <a:latin typeface="Calibri"/>
              </a:rPr>
              <a:t>Full resolution = heavy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471416"/>
            <a:ext cx="4709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The physics never downsamples. Big, fine tiles drive runtime &amp; RAM — clip or coarsen if a run is too heavy.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90879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1">
                <a:solidFill>
                  <a:srgbClr val="DDD9CD"/>
                </a:solidFill>
                <a:latin typeface="Calibri"/>
              </a:rPr>
              <a:t>If a tile slips through with a tied (wide / flat) outlet, the app won't crash — it auto-picks the pour point (the edge cell with the largest drainage area) and logs it. Clipping to a single-outlet catchment is still the most accurate.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457200" y="5760720"/>
            <a:ext cx="13258800" cy="36576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457200" y="6080760"/>
            <a:ext cx="13258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9CC486"/>
                </a:solidFill>
                <a:latin typeface="Calibri"/>
              </a:rPr>
              <a:t>THE WHOLE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Five steps, from map to insight.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788920"/>
            <a:ext cx="420624" cy="420624"/>
          </a:xfrm>
          <a:prstGeom prst="ellipse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25496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Pick your DEM &amp; output folder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55848"/>
            <a:ext cx="420624" cy="420624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92424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Set the simulation period &amp; time step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922776"/>
            <a:ext cx="420624" cy="420624"/>
          </a:xfrm>
          <a:prstGeom prst="ellipse">
            <a:avLst/>
          </a:prstGeom>
          <a:solidFill>
            <a:srgbClr val="8A6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92277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59352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(Optional) track a feature of interest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489704"/>
            <a:ext cx="420624" cy="420624"/>
          </a:xfrm>
          <a:prstGeom prst="ellipse">
            <a:avLst/>
          </a:prstGeom>
          <a:solidFill>
            <a:srgbClr val="8A6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48970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526280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Add &amp; configure the components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093207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E7E3D7"/>
                </a:solidFill>
                <a:latin typeface="Calibri"/>
              </a:rPr>
              <a:t>Run, then explore 2D / 3D / timeline /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1668</Words>
  <Application>Microsoft Macintosh PowerPoint</Application>
  <PresentationFormat>Widescreen</PresentationFormat>
  <Paragraphs>187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Vinuri Piyathilake</cp:lastModifiedBy>
  <cp:revision>2</cp:revision>
  <dcterms:created xsi:type="dcterms:W3CDTF">2013-01-27T09:14:16Z</dcterms:created>
  <dcterms:modified xsi:type="dcterms:W3CDTF">2026-09-16T01:57:58Z</dcterms:modified>
  <cp:category/>
</cp:coreProperties>
</file>