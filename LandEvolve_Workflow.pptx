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457200" y="5120640"/>
            <a:ext cx="13258800" cy="457200"/>
          </a:xfrm>
          <a:prstGeom prst="rect">
            <a:avLst/>
          </a:prstGeom>
          <a:solidFill>
            <a:srgbClr val="203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-457200" y="5486400"/>
            <a:ext cx="13258800" cy="45720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457200" y="5897880"/>
            <a:ext cx="13258800" cy="100584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9CC486"/>
                </a:solidFill>
                <a:latin typeface="Calibri"/>
              </a:rPr>
              <a:t>USER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5600" b="1" i="0">
                <a:solidFill>
                  <a:srgbClr val="FFFFFF"/>
                </a:solidFill>
                <a:latin typeface="Calibri"/>
              </a:rPr>
              <a:t>Using LandEvolve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900" b="0" i="0">
                <a:solidFill>
                  <a:srgbClr val="E7E3D7"/>
                </a:solidFill>
                <a:latin typeface="Calibri"/>
              </a:rPr>
              <a:t>A start-to-finish walkthrough: load a landscape, set up the run,
simulate, and explore the results.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805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9CC486"/>
                </a:solidFill>
                <a:latin typeface="Calibri"/>
              </a:rPr>
              <a:t>Pick a place · Set the time · Add the forces · Run · Explore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B85042"/>
                </a:solidFill>
                <a:latin typeface="Calibri"/>
              </a:rPr>
              <a:t>THE BIG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2C4A3E"/>
                </a:solidFill>
                <a:latin typeface="Calibri"/>
              </a:rPr>
              <a:t>Three Screens, One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6E6A60"/>
                </a:solidFill>
                <a:latin typeface="Calibri"/>
              </a:rPr>
              <a:t>LandEvolve takes a real elevation map, runs the natural forces forward in time, and shows you the result. You move through three screens: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474720" cy="310896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0239" y="2514600"/>
            <a:ext cx="914400" cy="914400"/>
          </a:xfrm>
          <a:prstGeom prst="ellipse">
            <a:avLst/>
          </a:prstGeom>
          <a:solidFill>
            <a:srgbClr val="3E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20239" y="249631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2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576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000" b="1" i="0">
                <a:solidFill>
                  <a:srgbClr val="2C4A3E"/>
                </a:solidFill>
                <a:latin typeface="Calibri"/>
              </a:rPr>
              <a:t>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4251960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6E6A60"/>
                </a:solidFill>
                <a:latin typeface="Calibri"/>
              </a:rPr>
              <a:t>The landing dashboard — start a new simulation from here.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6511" y="3383280"/>
            <a:ext cx="27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000" b="1" i="0">
                <a:solidFill>
                  <a:srgbClr val="6B8E5A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194560"/>
            <a:ext cx="3474720" cy="310896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23560" y="2514600"/>
            <a:ext cx="914400" cy="91440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23560" y="249631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200" b="0" i="0">
                <a:solidFill>
                  <a:srgbClr val="FFFFFF"/>
                </a:solidFill>
                <a:latin typeface="Calibri"/>
              </a:rPr>
              <a:t>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6576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000" b="1" i="0">
                <a:solidFill>
                  <a:srgbClr val="2C4A3E"/>
                </a:solidFill>
                <a:latin typeface="Calibri"/>
              </a:rPr>
              <a:t>Setup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6E6A60"/>
                </a:solidFill>
                <a:latin typeface="Calibri"/>
              </a:rPr>
              <a:t>Choose the location, run length, and the forces (components) to apply.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3383280"/>
            <a:ext cx="27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000" b="1" i="0">
                <a:solidFill>
                  <a:srgbClr val="6B8E5A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2194560"/>
            <a:ext cx="3474720" cy="310896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6880" y="2514600"/>
            <a:ext cx="914400" cy="914400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49631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200" b="0" i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36576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000" b="1" i="0">
                <a:solidFill>
                  <a:srgbClr val="2C4A3E"/>
                </a:solidFill>
                <a:latin typeface="Calibri"/>
              </a:rPr>
              <a:t>Results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4251960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6E6A60"/>
                </a:solidFill>
                <a:latin typeface="Calibri"/>
              </a:rPr>
              <a:t>Explore the evolved terrain in 2D, 3D, timelines, and analysis plots.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1">
                <a:solidFill>
                  <a:srgbClr val="6E6A60"/>
                </a:solidFill>
                <a:latin typeface="Calibri"/>
              </a:rPr>
              <a:t>The setup runs on a background thread — the app stays responsive while a simulation is computing.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B85042"/>
                </a:solidFill>
                <a:latin typeface="Calibri"/>
              </a:rPr>
              <a:t>STEP 1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2C4A3E"/>
                </a:solidFill>
                <a:latin typeface="Calibri"/>
              </a:rPr>
              <a:t>Pick a Location &amp; Resolution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457200"/>
            <a:ext cx="640080" cy="640080"/>
          </a:xfrm>
          <a:prstGeom prst="ellipse">
            <a:avLst/>
          </a:prstGeom>
          <a:solidFill>
            <a:srgbClr val="3E6B8C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0" y="4572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050" b="1">
                <a:solidFill>
                  <a:srgbClr val="B85042"/>
                </a:solidFill>
                <a:latin typeface="Calibri"/>
              </a:rPr>
              <a:t>●  </a:t>
            </a:r>
            <a:r>
              <a:rPr sz="1450" b="1">
                <a:solidFill>
                  <a:srgbClr val="2C4A3E"/>
                </a:solidFill>
                <a:latin typeface="Calibri"/>
              </a:rPr>
              <a:t>Choose a location </a:t>
            </a:r>
            <a:r>
              <a:rPr sz="1450">
                <a:solidFill>
                  <a:srgbClr val="2B2B2B"/>
                </a:solidFill>
                <a:latin typeface="Calibri"/>
              </a:rPr>
              <a:t>from the list, then pick a resolution — this selects the elevation map (DEM) the simulation will run 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050" b="1">
                <a:solidFill>
                  <a:srgbClr val="B85042"/>
                </a:solidFill>
                <a:latin typeface="Calibri"/>
              </a:rPr>
              <a:t>●  </a:t>
            </a:r>
            <a:r>
              <a:rPr sz="1450" b="1">
                <a:solidFill>
                  <a:srgbClr val="2C4A3E"/>
                </a:solidFill>
                <a:latin typeface="Calibri"/>
              </a:rPr>
              <a:t>Preview it. </a:t>
            </a:r>
            <a:r>
              <a:rPr sz="1450">
                <a:solidFill>
                  <a:srgbClr val="2B2B2B"/>
                </a:solidFill>
                <a:latin typeface="Calibri"/>
              </a:rPr>
              <a:t>The satellite Location Preview shows where the area is and can overlay the DEM boundary on the map.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050" b="1">
                <a:solidFill>
                  <a:srgbClr val="B85042"/>
                </a:solidFill>
                <a:latin typeface="Calibri"/>
              </a:rPr>
              <a:t>●  </a:t>
            </a:r>
            <a:r>
              <a:rPr sz="1450" b="1">
                <a:solidFill>
                  <a:srgbClr val="2C4A3E"/>
                </a:solidFill>
                <a:latin typeface="Calibri"/>
              </a:rPr>
              <a:t>Check the metadata. </a:t>
            </a:r>
            <a:r>
              <a:rPr sz="1450">
                <a:solidFill>
                  <a:srgbClr val="2B2B2B"/>
                </a:solidFill>
                <a:latin typeface="Calibri"/>
              </a:rPr>
              <a:t>The preview reports the DEM's size, resolution, coordinate system (CRS), and elevation range — so you know what you're loading.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600200"/>
            <a:ext cx="4114800" cy="3840480"/>
          </a:xfrm>
          <a:prstGeom prst="roundRect">
            <a:avLst>
              <a:gd name="adj" fmla="val 10000"/>
            </a:avLst>
          </a:prstGeom>
          <a:solidFill>
            <a:srgbClr val="2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81051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9CC486"/>
                </a:solidFill>
                <a:latin typeface="Calibri"/>
              </a:rPr>
              <a:t>GOOD TO KNOW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286000"/>
            <a:ext cx="356616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E7E3D7"/>
                </a:solidFill>
                <a:latin typeface="Calibri"/>
              </a:rPr>
              <a:t>The simulation runs at the DEM's full, native resolution — nothing is downsampled during the physics.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E7E3D7"/>
                </a:solidFill>
                <a:latin typeface="Calibri"/>
              </a:rPr>
              <a:t>A bigger / finer tile means a longer, heavier run — clip or coarsen it if a run is too slow.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E7E3D7"/>
                </a:solidFill>
                <a:latin typeface="Calibri"/>
              </a:rPr>
              <a:t>Maps in degrees are auto-converted to metres, so slopes and areas are physical.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B85042"/>
                </a:solidFill>
                <a:latin typeface="Calibri"/>
              </a:rPr>
              <a:t>STEP 2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2C4A3E"/>
                </a:solidFill>
                <a:latin typeface="Calibri"/>
              </a:rPr>
              <a:t>Set How Long to Simulate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457200"/>
            <a:ext cx="640080" cy="64008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0" y="4572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6E6A60"/>
                </a:solidFill>
                <a:latin typeface="Calibri"/>
              </a:rPr>
              <a:t>Two numbers control the run — how far into the future you go, and how big each step 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48840"/>
            <a:ext cx="5257800" cy="173736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2395728"/>
            <a:ext cx="457200" cy="457200"/>
          </a:xfrm>
          <a:prstGeom prst="ellipse">
            <a:avLst/>
          </a:prstGeom>
          <a:solidFill>
            <a:srgbClr val="3E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37744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2C4A3E"/>
                </a:solidFill>
                <a:latin typeface="Calibri"/>
              </a:rPr>
              <a:t>Simulation Period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6E6A60"/>
                </a:solidFill>
                <a:latin typeface="Calibri"/>
              </a:rPr>
              <a:t>The total time to simulate (e.g. thousands of years). How far the landscape evolves.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48840"/>
            <a:ext cx="5257800" cy="173736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2395728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237744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2C4A3E"/>
                </a:solidFill>
                <a:latin typeface="Calibri"/>
              </a:rPr>
              <a:t>Time Step (dt)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97180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6E6A60"/>
                </a:solidFill>
                <a:latin typeface="Calibri"/>
              </a:rPr>
              <a:t>The size of each step the engine takes. The run does (period ÷ dt) steps in total.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60520"/>
            <a:ext cx="10908792" cy="1417320"/>
          </a:xfrm>
          <a:prstGeom prst="roundRect">
            <a:avLst>
              <a:gd name="adj" fmla="val 10000"/>
            </a:avLst>
          </a:prstGeom>
          <a:solidFill>
            <a:srgbClr val="2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370832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9CC486"/>
                </a:solidFill>
                <a:latin typeface="Calibri"/>
              </a:rPr>
              <a:t>REMEMBER — THESE ARE LONG-TERM STEPS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36592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E7E3D7"/>
                </a:solidFill>
                <a:latin typeface="Calibri"/>
              </a:rPr>
              <a:t>Each step represents long-term, effective forcing (years to millennia), not single storms. Smaller steps are more accurate but slower; very large steps can become unstable. Pick a step small relative to your total period.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B85042"/>
                </a:solidFill>
                <a:latin typeface="Calibri"/>
              </a:rPr>
              <a:t>STEP 3 OF 5  ·  OPTIONAL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2C4A3E"/>
                </a:solidFill>
                <a:latin typeface="Calibri"/>
              </a:rPr>
              <a:t>Track a Feature of Interest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457200"/>
            <a:ext cx="640080" cy="640080"/>
          </a:xfrm>
          <a:prstGeom prst="ellipse">
            <a:avLst/>
          </a:prstGeom>
          <a:solidFill>
            <a:srgbClr val="8A6D4F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0" y="4572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6E6A60"/>
                </a:solidFill>
                <a:latin typeface="Calibri"/>
              </a:rPr>
              <a:t>Care about one specific place — a fan, terrace, road, channel, or archaeological site? Have LandEvolve watch just that area and tell you when the evolving landscape (erosion or deposition) first reaches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000" b="1">
                <a:solidFill>
                  <a:srgbClr val="B85042"/>
                </a:solidFill>
                <a:latin typeface="Calibri"/>
              </a:rPr>
              <a:t>●  </a:t>
            </a:r>
            <a:r>
              <a:rPr sz="1400" b="1">
                <a:solidFill>
                  <a:srgbClr val="2C4A3E"/>
                </a:solidFill>
                <a:latin typeface="Calibri"/>
              </a:rPr>
              <a:t>Tick “Track Interested Landscape Feature” </a:t>
            </a:r>
            <a:r>
              <a:rPr sz="1400">
                <a:solidFill>
                  <a:srgbClr val="2B2B2B"/>
                </a:solidFill>
                <a:latin typeface="Calibri"/>
              </a:rPr>
              <a:t>in Location Setup, then browse to a polygon shapefile (.shp) outlining the area.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000" b="1">
                <a:solidFill>
                  <a:srgbClr val="B85042"/>
                </a:solidFill>
                <a:latin typeface="Calibri"/>
              </a:rPr>
              <a:t>●  </a:t>
            </a:r>
            <a:r>
              <a:rPr sz="1400" b="1">
                <a:solidFill>
                  <a:srgbClr val="2C4A3E"/>
                </a:solidFill>
                <a:latin typeface="Calibri"/>
              </a:rPr>
              <a:t>Any CRS works </a:t>
            </a:r>
            <a:r>
              <a:rPr sz="1400">
                <a:solidFill>
                  <a:srgbClr val="2B2B2B"/>
                </a:solidFill>
                <a:latin typeface="Calibri"/>
              </a:rPr>
              <a:t>— it's auto-reprojected to match the DEM, and drawn on the preview so you can confirm placement.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000" b="1">
                <a:solidFill>
                  <a:srgbClr val="B85042"/>
                </a:solidFill>
                <a:latin typeface="Calibri"/>
              </a:rPr>
              <a:t>●  </a:t>
            </a:r>
            <a:r>
              <a:rPr sz="1400" b="1">
                <a:solidFill>
                  <a:srgbClr val="2C4A3E"/>
                </a:solidFill>
                <a:latin typeface="Calibri"/>
              </a:rPr>
              <a:t>Set the First-Effect Threshold </a:t>
            </a:r>
            <a:r>
              <a:rPr sz="1400">
                <a:solidFill>
                  <a:srgbClr val="2B2B2B"/>
                </a:solidFill>
                <a:latin typeface="Calibri"/>
              </a:rPr>
              <a:t>(default 0.01 m) — how much change counts as the feature being “first affected”.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2514600"/>
            <a:ext cx="4114800" cy="29260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2724912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B85042"/>
                </a:solidFill>
                <a:latin typeface="Calibri"/>
              </a:rPr>
              <a:t>YOU'LL 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154680"/>
            <a:ext cx="3566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850" b="1">
                <a:solidFill>
                  <a:srgbClr val="6B8E5A"/>
                </a:solidFill>
                <a:latin typeface="Calibri"/>
              </a:rPr>
              <a:t>●  </a:t>
            </a:r>
            <a:r>
              <a:rPr sz="1250">
                <a:solidFill>
                  <a:srgbClr val="2B2B2B"/>
                </a:solidFill>
                <a:latin typeface="Calibri"/>
              </a:rPr>
              <a:t>A headline: when it was first affected (e.g. “~230 years”)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850" b="1">
                <a:solidFill>
                  <a:srgbClr val="6B8E5A"/>
                </a:solidFill>
                <a:latin typeface="Calibri"/>
              </a:rPr>
              <a:t>●  </a:t>
            </a:r>
            <a:r>
              <a:rPr sz="1250">
                <a:solidFill>
                  <a:srgbClr val="2B2B2B"/>
                </a:solidFill>
                <a:latin typeface="Calibri"/>
              </a:rPr>
              <a:t>Elevation &amp; volume-change plots over time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850" b="1">
                <a:solidFill>
                  <a:srgbClr val="6B8E5A"/>
                </a:solidFill>
                <a:latin typeface="Calibri"/>
              </a:rPr>
              <a:t>●  </a:t>
            </a:r>
            <a:r>
              <a:rPr sz="1250">
                <a:solidFill>
                  <a:srgbClr val="2B2B2B"/>
                </a:solidFill>
                <a:latin typeface="Calibri"/>
              </a:rPr>
              <a:t>A CSV + PNG saved for further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B85042"/>
                </a:solidFill>
                <a:latin typeface="Calibri"/>
              </a:rPr>
              <a:t>STEP 4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2C4A3E"/>
                </a:solidFill>
                <a:latin typeface="Calibri"/>
              </a:rPr>
              <a:t>Add the Forces (Components)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457200"/>
            <a:ext cx="640080" cy="64008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0" y="4572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6E6A60"/>
                </a:solidFill>
                <a:latin typeface="Calibri"/>
              </a:rPr>
              <a:t>Use Add Component to pick which natural processes to switch on, and configure each one's settings. Mix and match them like ingredients. (Each component is explained in the Component Manual.)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2615184" cy="8686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660904"/>
            <a:ext cx="2249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C4A3E"/>
                </a:solidFill>
                <a:latin typeface="Calibri"/>
              </a:rPr>
              <a:t>🌧 Precipitation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017520"/>
            <a:ext cx="22494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rain / climate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9856" y="2514600"/>
            <a:ext cx="2615184" cy="8686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2660904"/>
            <a:ext cx="2249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C4A3E"/>
                </a:solidFill>
                <a:latin typeface="Calibri"/>
              </a:rPr>
              <a:t>🌿 Vegetation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1024" y="3017520"/>
            <a:ext cx="22494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ground cover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2514600"/>
            <a:ext cx="2615184" cy="8686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660904"/>
            <a:ext cx="2249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C4A3E"/>
                </a:solidFill>
                <a:latin typeface="Calibri"/>
              </a:rPr>
              <a:t>💧 Flow Accumulator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017520"/>
            <a:ext cx="22494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routes water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9408" y="2514600"/>
            <a:ext cx="2615184" cy="8686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0576" y="2660904"/>
            <a:ext cx="2249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C4A3E"/>
                </a:solidFill>
                <a:latin typeface="Calibri"/>
              </a:rPr>
              <a:t>⛰ Hillslope Diffuser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3017520"/>
            <a:ext cx="22494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soil creep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2615184" cy="8686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712463"/>
            <a:ext cx="2249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C4A3E"/>
                </a:solidFill>
                <a:latin typeface="Calibri"/>
              </a:rPr>
              <a:t>🌊 SPACE Eroder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" y="4069080"/>
            <a:ext cx="22494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river erosion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19856" y="3566160"/>
            <a:ext cx="2615184" cy="8686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21024" y="3712463"/>
            <a:ext cx="2249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C4A3E"/>
                </a:solidFill>
                <a:latin typeface="Calibri"/>
              </a:rPr>
              <a:t>🪨 Lithology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21024" y="4069080"/>
            <a:ext cx="22494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rock layers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2" y="3566160"/>
            <a:ext cx="2615184" cy="8686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3712463"/>
            <a:ext cx="2249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C4A3E"/>
                </a:solidFill>
                <a:latin typeface="Calibri"/>
              </a:rPr>
              <a:t>↑ Tectonics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069080"/>
            <a:ext cx="22494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uplift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0" y="4434840"/>
            <a:ext cx="3319272" cy="960120"/>
          </a:xfrm>
          <a:prstGeom prst="roundRect">
            <a:avLst>
              <a:gd name="adj" fmla="val 10000"/>
            </a:avLst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457200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⚠  Precipitation, Vegetation &amp; the eroders need a Flow Accumulator to take effect.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B85042"/>
                </a:solidFill>
                <a:latin typeface="Calibri"/>
              </a:rPr>
              <a:t>STEP 5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2C4A3E"/>
                </a:solidFill>
                <a:latin typeface="Calibri"/>
              </a:rPr>
              <a:t>Run the Simulation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457200"/>
            <a:ext cx="640080" cy="640080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0" y="4572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64922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050" b="1">
                <a:solidFill>
                  <a:srgbClr val="B85042"/>
                </a:solidFill>
                <a:latin typeface="Calibri"/>
              </a:rPr>
              <a:t>●  </a:t>
            </a:r>
            <a:r>
              <a:rPr sz="1450" b="1">
                <a:solidFill>
                  <a:srgbClr val="2C4A3E"/>
                </a:solidFill>
                <a:latin typeface="Calibri"/>
              </a:rPr>
              <a:t>Press Run Simulation. </a:t>
            </a:r>
            <a:r>
              <a:rPr sz="1450">
                <a:solidFill>
                  <a:srgbClr val="2B2B2B"/>
                </a:solidFill>
                <a:latin typeface="Calibri"/>
              </a:rPr>
              <a:t>The engine steps through time, applying every component each step on the shared landscape.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050" b="1">
                <a:solidFill>
                  <a:srgbClr val="B85042"/>
                </a:solidFill>
                <a:latin typeface="Calibri"/>
              </a:rPr>
              <a:t>●  </a:t>
            </a:r>
            <a:r>
              <a:rPr sz="1450" b="1">
                <a:solidFill>
                  <a:srgbClr val="2C4A3E"/>
                </a:solidFill>
                <a:latin typeface="Calibri"/>
              </a:rPr>
              <a:t>Watch live progress. </a:t>
            </a:r>
            <a:r>
              <a:rPr sz="1450">
                <a:solidFill>
                  <a:srgbClr val="2B2B2B"/>
                </a:solidFill>
                <a:latin typeface="Calibri"/>
              </a:rPr>
              <a:t>A progress indicator updates as it computes; the app stays usable throughout.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050" b="1">
                <a:solidFill>
                  <a:srgbClr val="B85042"/>
                </a:solidFill>
                <a:latin typeface="Calibri"/>
              </a:rPr>
              <a:t>●  </a:t>
            </a:r>
            <a:r>
              <a:rPr sz="1450" b="1">
                <a:solidFill>
                  <a:srgbClr val="2C4A3E"/>
                </a:solidFill>
                <a:latin typeface="Calibri"/>
              </a:rPr>
              <a:t>It runs in the background. </a:t>
            </a:r>
            <a:r>
              <a:rPr sz="1450">
                <a:solidFill>
                  <a:srgbClr val="2B2B2B"/>
                </a:solidFill>
                <a:latin typeface="Calibri"/>
              </a:rPr>
              <a:t>The heavy work is on a separate thread, so the window never freezes.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050" b="1">
                <a:solidFill>
                  <a:srgbClr val="B85042"/>
                </a:solidFill>
                <a:latin typeface="Calibri"/>
              </a:rPr>
              <a:t>●  </a:t>
            </a:r>
            <a:r>
              <a:rPr sz="1450" b="1">
                <a:solidFill>
                  <a:srgbClr val="2C4A3E"/>
                </a:solidFill>
                <a:latin typeface="Calibri"/>
              </a:rPr>
              <a:t>Then it opens the results </a:t>
            </a:r>
            <a:r>
              <a:rPr sz="1450">
                <a:solidFill>
                  <a:srgbClr val="2B2B2B"/>
                </a:solidFill>
                <a:latin typeface="Calibri"/>
              </a:rPr>
              <a:t>screen automatically when the run finishes.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691640"/>
            <a:ext cx="4114800" cy="3566160"/>
          </a:xfrm>
          <a:prstGeom prst="roundRect">
            <a:avLst>
              <a:gd name="adj" fmla="val 10000"/>
            </a:avLst>
          </a:prstGeom>
          <a:solidFill>
            <a:srgbClr val="2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9202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9CC486"/>
                </a:solidFill>
                <a:latin typeface="Calibri"/>
              </a:rPr>
              <a:t>UNDER THE HOOD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377440"/>
            <a:ext cx="3566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DDD9CD"/>
                </a:solidFill>
                <a:latin typeface="Calibri"/>
              </a:rPr>
              <a:t>Every step runs the forces in a fixed order: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9CC486"/>
                </a:solidFill>
                <a:latin typeface="Calibri"/>
              </a:rPr>
              <a:t>rain → plants → water routing → hillslope creep → river erosion → rock update → uplift.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DDD9CD"/>
                </a:solidFill>
                <a:latin typeface="Calibri"/>
              </a:rPr>
              <a:t>Internal pits and lakes are handled automatically, so you don't need to pre-fill your DEM.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B85042"/>
                </a:solidFill>
                <a:latin typeface="Calibri"/>
              </a:rPr>
              <a:t>READING THE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2C4A3E"/>
                </a:solidFill>
                <a:latin typeface="Calibri"/>
              </a:rPr>
              <a:t>Explore the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6E6A60"/>
                </a:solidFill>
                <a:latin typeface="Calibri"/>
              </a:rPr>
              <a:t>The results screen groups everything into tabs — switch between them to see the run from every angle: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3611880" cy="15544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731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0" i="0">
                <a:solidFill>
                  <a:srgbClr val="B85042"/>
                </a:solidFill>
                <a:latin typeface="Calibri"/>
              </a:rPr>
              <a:t>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276856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C4A3E"/>
                </a:solidFill>
                <a:latin typeface="Calibri"/>
              </a:rPr>
              <a:t>2D Maps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3154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Before, after, and a difference map — where land eroded vs built 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057400"/>
            <a:ext cx="3611880" cy="15544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240280"/>
            <a:ext cx="731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0" i="0">
                <a:solidFill>
                  <a:srgbClr val="B85042"/>
                </a:solidFill>
                <a:latin typeface="Calibri"/>
              </a:rPr>
              <a:t>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2276856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C4A3E"/>
                </a:solidFill>
                <a:latin typeface="Calibri"/>
              </a:rPr>
              <a:t>3D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834640"/>
            <a:ext cx="3154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Spin &amp; zoom the evolved terrain — interactive, runs offline.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57400"/>
            <a:ext cx="3611880" cy="15544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240280"/>
            <a:ext cx="731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0" i="0">
                <a:solidFill>
                  <a:srgbClr val="B85042"/>
                </a:solidFill>
                <a:latin typeface="Calibri"/>
              </a:rPr>
              <a:t>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2276856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C4A3E"/>
                </a:solidFill>
                <a:latin typeface="Calibri"/>
              </a:rPr>
              <a:t>Sediment Timeline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3154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A scrubbable animation of sediment moving through time.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813048"/>
            <a:ext cx="3611880" cy="15544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995928"/>
            <a:ext cx="731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0" i="0">
                <a:solidFill>
                  <a:srgbClr val="B85042"/>
                </a:solidFill>
                <a:latin typeface="Calibri"/>
              </a:rPr>
              <a:t>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03250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C4A3E"/>
                </a:solidFill>
                <a:latin typeface="Calibri"/>
              </a:rPr>
              <a:t>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590288"/>
            <a:ext cx="3154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Scientific plots: drainage network, river profile, soil thickness, sediment budget &amp; more.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3813048"/>
            <a:ext cx="3611880" cy="15544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3995928"/>
            <a:ext cx="731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0" i="0">
                <a:solidFill>
                  <a:srgbClr val="B85042"/>
                </a:solidFill>
                <a:latin typeface="Calibri"/>
              </a:rPr>
              <a:t>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403250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C4A3E"/>
                </a:solidFill>
                <a:latin typeface="Calibri"/>
              </a:rPr>
              <a:t>Feature Tracking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4590288"/>
            <a:ext cx="3154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If enabled: your area's history and the first-effect time.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3813048"/>
            <a:ext cx="3611880" cy="15544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3995928"/>
            <a:ext cx="731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0" i="0">
                <a:solidFill>
                  <a:srgbClr val="B85042"/>
                </a:solidFill>
                <a:latin typeface="Calibri"/>
              </a:rPr>
              <a:t>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403250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C4A3E"/>
                </a:solidFill>
                <a:latin typeface="Calibri"/>
              </a:rPr>
              <a:t>Show Statistics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4590288"/>
            <a:ext cx="3154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Performance &amp; diagnostic metrics for the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9CC486"/>
                </a:solidFill>
                <a:latin typeface="Calibri"/>
              </a:rPr>
              <a:t>THE KEY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FFFFFF"/>
                </a:solidFill>
                <a:latin typeface="Calibri"/>
              </a:rPr>
              <a:t>Reading the Difference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DDD9CD"/>
                </a:solidFill>
                <a:latin typeface="Calibri"/>
              </a:rPr>
              <a:t>The difference map (final − initial) is the headline result — it shows exactly where, and how much, the land changed.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240280"/>
            <a:ext cx="640080" cy="640080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2860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2432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DDD9CD"/>
                </a:solidFill>
                <a:latin typeface="Calibri"/>
              </a:rPr>
              <a:t>the land eroded (material left)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108960"/>
            <a:ext cx="640080" cy="640080"/>
          </a:xfrm>
          <a:prstGeom prst="ellipse">
            <a:avLst/>
          </a:prstGeom>
          <a:solidFill>
            <a:srgbClr val="E7E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31546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WHITE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49300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DDD9CD"/>
                </a:solidFill>
                <a:latin typeface="Calibri"/>
              </a:rPr>
              <a:t>stable ground — no change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977639"/>
            <a:ext cx="640080" cy="640080"/>
          </a:xfrm>
          <a:prstGeom prst="ellipse">
            <a:avLst/>
          </a:prstGeom>
          <a:solidFill>
            <a:srgbClr val="3E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4023359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36168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DDD9CD"/>
                </a:solidFill>
                <a:latin typeface="Calibri"/>
              </a:rPr>
              <a:t>deposition (material arrived)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2194560"/>
            <a:ext cx="4846320" cy="2834640"/>
          </a:xfrm>
          <a:prstGeom prst="roundRect">
            <a:avLst>
              <a:gd name="adj" fmla="val 10000"/>
            </a:avLst>
          </a:prstGeom>
          <a:solidFill>
            <a:srgbClr val="203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39572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9CC486"/>
                </a:solidFill>
                <a:latin typeface="Calibri"/>
              </a:rPr>
              <a:t>HOW TO READ IT FAIRLY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816352"/>
            <a:ext cx="4343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E7E3D7"/>
                </a:solidFill>
                <a:latin typeface="Calibri"/>
              </a:rPr>
              <a:t>The scale is symmetric, so 0 m of change sits dead-centre as pure white — unchanged ground is never falsely coloured.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5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E7E3D7"/>
                </a:solidFill>
                <a:latin typeface="Calibri"/>
              </a:rPr>
              <a:t>On uplift (Tectonics) runs, a “Remove tectonic uplift” toggle (on by default) strips the rising land so you see the true erosion / deposition.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B85042"/>
                </a:solidFill>
                <a:latin typeface="Calibri"/>
              </a:rPr>
              <a:t>WHAT'S SAVED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2C4A3E"/>
                </a:solidFill>
                <a:latin typeface="Calibri"/>
              </a:rPr>
              <a:t>Every Run is Written to Disk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6E6A60"/>
                </a:solidFill>
                <a:latin typeface="Calibri"/>
              </a:rPr>
              <a:t>Each run gets its own folder — resources/outputs/simulation_&lt;N&gt;/ — so you can revisit or analyse it later: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1143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5915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200" b="0" i="0">
                <a:solidFill>
                  <a:srgbClr val="B85042"/>
                </a:solidFill>
                <a:latin typeface="Calibri"/>
              </a:rPr>
              <a:t>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28600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C4A3E"/>
                </a:solidFill>
                <a:latin typeface="Calibri"/>
              </a:rPr>
              <a:t>Map images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651760"/>
            <a:ext cx="4343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E6A60"/>
                </a:solidFill>
                <a:latin typeface="Calibri"/>
              </a:rPr>
              <a:t>init.png, final.png, diff.png — the 2D elevation &amp; difference maps.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103120"/>
            <a:ext cx="5486400" cy="1143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35915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200" b="0" i="0">
                <a:solidFill>
                  <a:srgbClr val="B85042"/>
                </a:solidFill>
                <a:latin typeface="Calibri"/>
              </a:rPr>
              <a:t>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28600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C4A3E"/>
                </a:solidFill>
                <a:latin typeface="Calibri"/>
              </a:rPr>
              <a:t>GeoTIFFs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651760"/>
            <a:ext cx="4343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E6A60"/>
                </a:solidFill>
                <a:latin typeface="Calibri"/>
              </a:rPr>
              <a:t>final.tif, diff.tif — georeferenced, ready to open in QGIS / ArcGIS.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29000"/>
            <a:ext cx="5486400" cy="1143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8503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200" b="0" i="0">
                <a:solidFill>
                  <a:srgbClr val="B85042"/>
                </a:solidFill>
                <a:latin typeface="Calibri"/>
              </a:rPr>
              <a:t>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61188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C4A3E"/>
                </a:solidFill>
                <a:latin typeface="Calibri"/>
              </a:rPr>
              <a:t>Interactive HTML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977639"/>
            <a:ext cx="4343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E6A60"/>
                </a:solidFill>
                <a:latin typeface="Calibri"/>
              </a:rPr>
              <a:t>view_3d_comparison.html, sediment_timeline.html — the 3D &amp; timeline views.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429000"/>
            <a:ext cx="5486400" cy="1143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68503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200" b="0" i="0">
                <a:solidFill>
                  <a:srgbClr val="B85042"/>
                </a:solidFill>
                <a:latin typeface="Calibri"/>
              </a:rPr>
              <a:t>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361188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C4A3E"/>
                </a:solidFill>
                <a:latin typeface="Calibri"/>
              </a:rPr>
              <a:t>Analysis plots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3977639"/>
            <a:ext cx="4343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E6A60"/>
                </a:solidFill>
                <a:latin typeface="Calibri"/>
              </a:rPr>
              <a:t>drainage network, long profile, soil thickness, slope–area, hypsometry…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754879"/>
            <a:ext cx="5486400" cy="1143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01091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200" b="0" i="0">
                <a:solidFill>
                  <a:srgbClr val="B85042"/>
                </a:solidFill>
                <a:latin typeface="Calibri"/>
              </a:rPr>
              <a:t>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937759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C4A3E"/>
                </a:solidFill>
                <a:latin typeface="Calibri"/>
              </a:rPr>
              <a:t>Run details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303519"/>
            <a:ext cx="4343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E6A60"/>
                </a:solidFill>
                <a:latin typeface="Calibri"/>
              </a:rPr>
              <a:t>simulation_details.txt — parameters, components &amp; diagnostics.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4754879"/>
            <a:ext cx="5486400" cy="1143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  <a:effectLst>
            <a:outerShdw blurRad="90000" dist="38100" dir="5400000" rotWithShape="0">
              <a:srgbClr val="1A1A1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501091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200" b="0" i="0">
                <a:solidFill>
                  <a:srgbClr val="B85042"/>
                </a:solidFill>
                <a:latin typeface="Calibri"/>
              </a:rPr>
              <a:t>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4937759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C4A3E"/>
                </a:solidFill>
                <a:latin typeface="Calibri"/>
              </a:rPr>
              <a:t>Feature files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5303519"/>
            <a:ext cx="4343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E6A60"/>
                </a:solidFill>
                <a:latin typeface="Calibri"/>
              </a:rPr>
              <a:t>feature_tracking.csv &amp; .png — only if feature tracking was 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9CC486"/>
                </a:solidFill>
                <a:latin typeface="Calibri"/>
              </a:rPr>
              <a:t>BEFORE YOU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FFFFFF"/>
                </a:solidFill>
                <a:latin typeface="Calibri"/>
              </a:rPr>
              <a:t>Get the Input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DDD9CD"/>
                </a:solidFill>
                <a:latin typeface="Calibri"/>
              </a:rPr>
              <a:t>A few input rules keep results meaningful. Inputs that break them produce nonsense (usually a runaway “deposition” spike).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257800" cy="16002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 i="0">
                <a:solidFill>
                  <a:srgbClr val="B85042"/>
                </a:solidFill>
                <a:latin typeface="Calibri"/>
              </a:rPr>
              <a:t>One DEM = one catchment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88336"/>
            <a:ext cx="4709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B2B2B"/>
                </a:solidFill>
                <a:latin typeface="Calibri"/>
              </a:rPr>
              <a:t>The tile should hold a single watershed draining to one outlet. Clip multi-basin tiles into separate DEMs first.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03120"/>
            <a:ext cx="5257800" cy="16002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2860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 i="0">
                <a:solidFill>
                  <a:srgbClr val="B85042"/>
                </a:solidFill>
                <a:latin typeface="Calibri"/>
              </a:rPr>
              <a:t>Define NoData properly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688336"/>
            <a:ext cx="4709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B2B2B"/>
                </a:solidFill>
                <a:latin typeface="Calibri"/>
              </a:rPr>
              <a:t>Cells outside the catchment must be marked NoData (not 0). Otherwise flow routes into the void and the result blows up.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86200"/>
            <a:ext cx="5257800" cy="16002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6908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 i="0">
                <a:solidFill>
                  <a:srgbClr val="B85042"/>
                </a:solidFill>
                <a:latin typeface="Calibri"/>
              </a:rPr>
              <a:t>Pits are handled for you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71416"/>
            <a:ext cx="4709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B2B2B"/>
                </a:solidFill>
                <a:latin typeface="Calibri"/>
              </a:rPr>
              <a:t>You don't need to pre-fill sinks — the engine reroutes them each step. A lightly-smoothed DEM just runs faster.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86200"/>
            <a:ext cx="5257800" cy="16002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6908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 i="0">
                <a:solidFill>
                  <a:srgbClr val="B85042"/>
                </a:solidFill>
                <a:latin typeface="Calibri"/>
              </a:rPr>
              <a:t>Full resolution = heavy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471416"/>
            <a:ext cx="4709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B2B2B"/>
                </a:solidFill>
                <a:latin typeface="Calibri"/>
              </a:rPr>
              <a:t>The physics never downsamples. Big, fine tiles drive runtime &amp; RAM — clip or coarsen if a run is too heavy.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109087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1">
                <a:solidFill>
                  <a:srgbClr val="DDD9CD"/>
                </a:solidFill>
                <a:latin typeface="Calibri"/>
              </a:rPr>
              <a:t>If a tile slips through with a tied (wide / flat) outlet, the app won't crash — it auto-picks the pour point (the edge cell with the largest drainage area) and logs it. Clipping to a single-outlet catchment is still the most accurate.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457200" y="5760720"/>
            <a:ext cx="13258800" cy="36576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-457200" y="6080760"/>
            <a:ext cx="13258800" cy="82296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9CC486"/>
                </a:solidFill>
                <a:latin typeface="Calibri"/>
              </a:rPr>
              <a:t>THE WHOLE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Five steps, from map to insight.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788920"/>
            <a:ext cx="420624" cy="420624"/>
          </a:xfrm>
          <a:prstGeom prst="ellipse">
            <a:avLst/>
          </a:prstGeom>
          <a:solidFill>
            <a:srgbClr val="3E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825496"/>
            <a:ext cx="9875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E7E3D7"/>
                </a:solidFill>
                <a:latin typeface="Calibri"/>
              </a:rPr>
              <a:t>Pick a location &amp; resolution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355848"/>
            <a:ext cx="420624" cy="420624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5584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392424"/>
            <a:ext cx="9875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E7E3D7"/>
                </a:solidFill>
                <a:latin typeface="Calibri"/>
              </a:rPr>
              <a:t>Set the simulation period &amp; time step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922776"/>
            <a:ext cx="420624" cy="420624"/>
          </a:xfrm>
          <a:prstGeom prst="ellipse">
            <a:avLst/>
          </a:prstGeom>
          <a:solidFill>
            <a:srgbClr val="8A6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22776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959352"/>
            <a:ext cx="9875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E7E3D7"/>
                </a:solidFill>
                <a:latin typeface="Calibri"/>
              </a:rPr>
              <a:t>(Optional) track a feature of interest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4489704"/>
            <a:ext cx="420624" cy="420624"/>
          </a:xfrm>
          <a:prstGeom prst="ellipse">
            <a:avLst/>
          </a:prstGeom>
          <a:solidFill>
            <a:srgbClr val="8A6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48970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526280"/>
            <a:ext cx="9875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E7E3D7"/>
                </a:solidFill>
                <a:latin typeface="Calibri"/>
              </a:rPr>
              <a:t>Add &amp; configure the components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5056631"/>
            <a:ext cx="420624" cy="42062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5663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093207"/>
            <a:ext cx="9875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E7E3D7"/>
                </a:solidFill>
                <a:latin typeface="Calibri"/>
              </a:rPr>
              <a:t>Run, then explore 2D / 3D / timeline /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